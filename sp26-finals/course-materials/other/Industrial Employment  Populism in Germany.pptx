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Glacial Indifference" panose="020B0604020202020204" charset="0"/>
      <p:regular r:id="rId12"/>
    </p:embeddedFont>
    <p:embeddedFont>
      <p:font typeface="Glacial Indifference Bold" panose="020B0604020202020204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2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8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6982806">
            <a:off x="720300" y="6421716"/>
            <a:ext cx="8842272" cy="11861584"/>
          </a:xfrm>
          <a:custGeom>
            <a:avLst/>
            <a:gdLst/>
            <a:ahLst/>
            <a:cxnLst/>
            <a:rect l="l" t="t" r="r" b="b"/>
            <a:pathLst>
              <a:path w="8842272" h="11861584">
                <a:moveTo>
                  <a:pt x="0" y="0"/>
                </a:moveTo>
                <a:lnTo>
                  <a:pt x="8842272" y="0"/>
                </a:lnTo>
                <a:lnTo>
                  <a:pt x="8842272" y="11861584"/>
                </a:lnTo>
                <a:lnTo>
                  <a:pt x="0" y="118615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5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-6501204">
            <a:off x="11046831" y="-5088864"/>
            <a:ext cx="8807178" cy="11814508"/>
          </a:xfrm>
          <a:custGeom>
            <a:avLst/>
            <a:gdLst/>
            <a:ahLst/>
            <a:cxnLst/>
            <a:rect l="l" t="t" r="r" b="b"/>
            <a:pathLst>
              <a:path w="8807178" h="11814508">
                <a:moveTo>
                  <a:pt x="0" y="0"/>
                </a:moveTo>
                <a:lnTo>
                  <a:pt x="8807178" y="0"/>
                </a:lnTo>
                <a:lnTo>
                  <a:pt x="8807178" y="11814507"/>
                </a:lnTo>
                <a:lnTo>
                  <a:pt x="0" y="118145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5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10571821">
            <a:off x="10628437" y="8363453"/>
            <a:ext cx="5947318" cy="7978109"/>
          </a:xfrm>
          <a:custGeom>
            <a:avLst/>
            <a:gdLst/>
            <a:ahLst/>
            <a:cxnLst/>
            <a:rect l="l" t="t" r="r" b="b"/>
            <a:pathLst>
              <a:path w="5947318" h="7978109">
                <a:moveTo>
                  <a:pt x="0" y="0"/>
                </a:moveTo>
                <a:lnTo>
                  <a:pt x="5947318" y="0"/>
                </a:lnTo>
                <a:lnTo>
                  <a:pt x="5947318" y="7978110"/>
                </a:lnTo>
                <a:lnTo>
                  <a:pt x="0" y="79781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rot="-5114765">
            <a:off x="11561828" y="5146485"/>
            <a:ext cx="8542938" cy="7393525"/>
          </a:xfrm>
          <a:custGeom>
            <a:avLst/>
            <a:gdLst/>
            <a:ahLst/>
            <a:cxnLst/>
            <a:rect l="l" t="t" r="r" b="b"/>
            <a:pathLst>
              <a:path w="8542938" h="7393525">
                <a:moveTo>
                  <a:pt x="0" y="0"/>
                </a:moveTo>
                <a:lnTo>
                  <a:pt x="8542938" y="0"/>
                </a:lnTo>
                <a:lnTo>
                  <a:pt x="8542938" y="7393525"/>
                </a:lnTo>
                <a:lnTo>
                  <a:pt x="0" y="739352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 rot="-5058328">
            <a:off x="13255544" y="-4131370"/>
            <a:ext cx="7156478" cy="6935278"/>
          </a:xfrm>
          <a:custGeom>
            <a:avLst/>
            <a:gdLst/>
            <a:ahLst/>
            <a:cxnLst/>
            <a:rect l="l" t="t" r="r" b="b"/>
            <a:pathLst>
              <a:path w="7156478" h="6935278">
                <a:moveTo>
                  <a:pt x="0" y="0"/>
                </a:moveTo>
                <a:lnTo>
                  <a:pt x="7156479" y="0"/>
                </a:lnTo>
                <a:lnTo>
                  <a:pt x="7156479" y="6935279"/>
                </a:lnTo>
                <a:lnTo>
                  <a:pt x="0" y="69352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 rot="3318101">
            <a:off x="-3880130" y="6803731"/>
            <a:ext cx="10117864" cy="10062676"/>
          </a:xfrm>
          <a:custGeom>
            <a:avLst/>
            <a:gdLst/>
            <a:ahLst/>
            <a:cxnLst/>
            <a:rect l="l" t="t" r="r" b="b"/>
            <a:pathLst>
              <a:path w="10117864" h="10062676">
                <a:moveTo>
                  <a:pt x="0" y="0"/>
                </a:moveTo>
                <a:lnTo>
                  <a:pt x="10117864" y="0"/>
                </a:lnTo>
                <a:lnTo>
                  <a:pt x="10117864" y="10062675"/>
                </a:lnTo>
                <a:lnTo>
                  <a:pt x="0" y="100626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 rot="6800871">
            <a:off x="-1846725" y="-2878373"/>
            <a:ext cx="8542938" cy="7393525"/>
          </a:xfrm>
          <a:custGeom>
            <a:avLst/>
            <a:gdLst/>
            <a:ahLst/>
            <a:cxnLst/>
            <a:rect l="l" t="t" r="r" b="b"/>
            <a:pathLst>
              <a:path w="8542938" h="7393525">
                <a:moveTo>
                  <a:pt x="0" y="0"/>
                </a:moveTo>
                <a:lnTo>
                  <a:pt x="8542938" y="0"/>
                </a:lnTo>
                <a:lnTo>
                  <a:pt x="8542938" y="7393525"/>
                </a:lnTo>
                <a:lnTo>
                  <a:pt x="0" y="739352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5141436" y="6781839"/>
            <a:ext cx="8005127" cy="598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808"/>
              </a:lnSpc>
              <a:spcBef>
                <a:spcPct val="0"/>
              </a:spcBef>
            </a:pPr>
            <a:r>
              <a:rPr lang="en-US" sz="3434" spc="7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By: Genesis Gil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736473" y="3976316"/>
            <a:ext cx="12815055" cy="22105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884"/>
              </a:lnSpc>
              <a:spcBef>
                <a:spcPct val="0"/>
              </a:spcBef>
            </a:pPr>
            <a:r>
              <a:rPr lang="en-US" sz="6345" spc="596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INDUSTRIAL EMPLOYMENT AND POPULISM IN GERMANY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8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6501204">
            <a:off x="-4899086" y="-8147683"/>
            <a:ext cx="9798172" cy="13143890"/>
          </a:xfrm>
          <a:custGeom>
            <a:avLst/>
            <a:gdLst/>
            <a:ahLst/>
            <a:cxnLst/>
            <a:rect l="l" t="t" r="r" b="b"/>
            <a:pathLst>
              <a:path w="9798172" h="13143890">
                <a:moveTo>
                  <a:pt x="0" y="0"/>
                </a:moveTo>
                <a:lnTo>
                  <a:pt x="9798172" y="0"/>
                </a:lnTo>
                <a:lnTo>
                  <a:pt x="9798172" y="13143889"/>
                </a:lnTo>
                <a:lnTo>
                  <a:pt x="0" y="131438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-8798399">
            <a:off x="11434890" y="2417332"/>
            <a:ext cx="9798172" cy="13143890"/>
          </a:xfrm>
          <a:custGeom>
            <a:avLst/>
            <a:gdLst/>
            <a:ahLst/>
            <a:cxnLst/>
            <a:rect l="l" t="t" r="r" b="b"/>
            <a:pathLst>
              <a:path w="9798172" h="13143890">
                <a:moveTo>
                  <a:pt x="0" y="0"/>
                </a:moveTo>
                <a:lnTo>
                  <a:pt x="9798172" y="0"/>
                </a:lnTo>
                <a:lnTo>
                  <a:pt x="9798172" y="13143890"/>
                </a:lnTo>
                <a:lnTo>
                  <a:pt x="0" y="131438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-10301337">
            <a:off x="9883234" y="-2150579"/>
            <a:ext cx="12901483" cy="11165647"/>
          </a:xfrm>
          <a:custGeom>
            <a:avLst/>
            <a:gdLst/>
            <a:ahLst/>
            <a:cxnLst/>
            <a:rect l="l" t="t" r="r" b="b"/>
            <a:pathLst>
              <a:path w="12901483" h="11165647">
                <a:moveTo>
                  <a:pt x="0" y="0"/>
                </a:moveTo>
                <a:lnTo>
                  <a:pt x="12901483" y="0"/>
                </a:lnTo>
                <a:lnTo>
                  <a:pt x="12901483" y="11165647"/>
                </a:lnTo>
                <a:lnTo>
                  <a:pt x="0" y="111656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rot="458160">
            <a:off x="-3775194" y="6616870"/>
            <a:ext cx="8481393" cy="7340260"/>
          </a:xfrm>
          <a:custGeom>
            <a:avLst/>
            <a:gdLst/>
            <a:ahLst/>
            <a:cxnLst/>
            <a:rect l="l" t="t" r="r" b="b"/>
            <a:pathLst>
              <a:path w="8481393" h="7340260">
                <a:moveTo>
                  <a:pt x="0" y="0"/>
                </a:moveTo>
                <a:lnTo>
                  <a:pt x="8481393" y="0"/>
                </a:lnTo>
                <a:lnTo>
                  <a:pt x="8481393" y="7340260"/>
                </a:lnTo>
                <a:lnTo>
                  <a:pt x="0" y="73402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2344704" y="1943183"/>
            <a:ext cx="6411555" cy="1319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726"/>
              </a:lnSpc>
            </a:pPr>
            <a:r>
              <a:rPr lang="en-US" sz="7662" b="1" spc="720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POINTS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344704" y="1115260"/>
            <a:ext cx="4756100" cy="980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57"/>
              </a:lnSpc>
            </a:pPr>
            <a:r>
              <a:rPr lang="en-US" sz="5683" spc="534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KEY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344704" y="3590866"/>
            <a:ext cx="5799806" cy="4256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41495" lvl="1" indent="-370748" algn="l">
              <a:lnSpc>
                <a:spcPts val="4808"/>
              </a:lnSpc>
              <a:buFont typeface="Arial"/>
              <a:buChar char="•"/>
            </a:pPr>
            <a:r>
              <a:rPr lang="en-US" sz="3434" spc="7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Introduction</a:t>
            </a:r>
          </a:p>
          <a:p>
            <a:pPr marL="741495" lvl="1" indent="-370748" algn="l">
              <a:lnSpc>
                <a:spcPts val="4808"/>
              </a:lnSpc>
              <a:buFont typeface="Arial"/>
              <a:buChar char="•"/>
            </a:pPr>
            <a:r>
              <a:rPr lang="en-US" sz="3434" u="none" strike="noStrike" spc="7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Research Problem</a:t>
            </a:r>
          </a:p>
          <a:p>
            <a:pPr marL="741495" lvl="1" indent="-370748" algn="l">
              <a:lnSpc>
                <a:spcPts val="4808"/>
              </a:lnSpc>
              <a:buFont typeface="Arial"/>
              <a:buChar char="•"/>
            </a:pPr>
            <a:r>
              <a:rPr lang="en-US" sz="3434" u="none" strike="noStrike" spc="7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Theory</a:t>
            </a:r>
          </a:p>
          <a:p>
            <a:pPr marL="741495" lvl="1" indent="-370748" algn="l">
              <a:lnSpc>
                <a:spcPts val="4808"/>
              </a:lnSpc>
              <a:buFont typeface="Arial"/>
              <a:buChar char="•"/>
            </a:pPr>
            <a:r>
              <a:rPr lang="en-US" sz="3434" u="none" strike="noStrike" spc="7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Hypothesis</a:t>
            </a:r>
          </a:p>
          <a:p>
            <a:pPr marL="741495" lvl="1" indent="-370748" algn="l">
              <a:lnSpc>
                <a:spcPts val="4808"/>
              </a:lnSpc>
              <a:buFont typeface="Arial"/>
              <a:buChar char="•"/>
            </a:pPr>
            <a:r>
              <a:rPr lang="en-US" sz="3434" u="none" strike="noStrike" spc="7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Data &amp; Method</a:t>
            </a:r>
          </a:p>
          <a:p>
            <a:pPr marL="741495" lvl="1" indent="-370748" algn="l">
              <a:lnSpc>
                <a:spcPts val="4808"/>
              </a:lnSpc>
              <a:buFont typeface="Arial"/>
              <a:buChar char="•"/>
            </a:pPr>
            <a:r>
              <a:rPr lang="en-US" sz="3434" u="none" strike="noStrike" spc="7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Results</a:t>
            </a:r>
          </a:p>
          <a:p>
            <a:pPr marL="741495" lvl="1" indent="-370748" algn="l">
              <a:lnSpc>
                <a:spcPts val="4808"/>
              </a:lnSpc>
              <a:buFont typeface="Arial"/>
              <a:buChar char="•"/>
            </a:pPr>
            <a:r>
              <a:rPr lang="en-US" sz="3434" spc="7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Conclusion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330048" y="3590866"/>
            <a:ext cx="813952" cy="4256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08"/>
              </a:lnSpc>
            </a:pPr>
            <a:r>
              <a:rPr lang="en-US" sz="3434" b="1" spc="75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01</a:t>
            </a:r>
          </a:p>
          <a:p>
            <a:pPr algn="ctr">
              <a:lnSpc>
                <a:spcPts val="4808"/>
              </a:lnSpc>
            </a:pPr>
            <a:r>
              <a:rPr lang="en-US" sz="3434" b="1" spc="75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02</a:t>
            </a:r>
          </a:p>
          <a:p>
            <a:pPr algn="ctr">
              <a:lnSpc>
                <a:spcPts val="4808"/>
              </a:lnSpc>
            </a:pPr>
            <a:r>
              <a:rPr lang="en-US" sz="3434" b="1" spc="75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03</a:t>
            </a:r>
          </a:p>
          <a:p>
            <a:pPr algn="ctr">
              <a:lnSpc>
                <a:spcPts val="4808"/>
              </a:lnSpc>
            </a:pPr>
            <a:r>
              <a:rPr lang="en-US" sz="3434" b="1" spc="75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04</a:t>
            </a:r>
          </a:p>
          <a:p>
            <a:pPr algn="ctr">
              <a:lnSpc>
                <a:spcPts val="4808"/>
              </a:lnSpc>
            </a:pPr>
            <a:r>
              <a:rPr lang="en-US" sz="3434" b="1" spc="75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05</a:t>
            </a:r>
          </a:p>
          <a:p>
            <a:pPr algn="ctr">
              <a:lnSpc>
                <a:spcPts val="4808"/>
              </a:lnSpc>
            </a:pPr>
            <a:r>
              <a:rPr lang="en-US" sz="3434" b="1" spc="75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06</a:t>
            </a:r>
          </a:p>
          <a:p>
            <a:pPr marL="0" lvl="0" indent="0" algn="ctr">
              <a:lnSpc>
                <a:spcPts val="4808"/>
              </a:lnSpc>
              <a:spcBef>
                <a:spcPct val="0"/>
              </a:spcBef>
            </a:pPr>
            <a:r>
              <a:rPr lang="en-US" sz="3434" b="1" spc="75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8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445925">
            <a:off x="3142738" y="-769394"/>
            <a:ext cx="9798172" cy="13143890"/>
          </a:xfrm>
          <a:custGeom>
            <a:avLst/>
            <a:gdLst/>
            <a:ahLst/>
            <a:cxnLst/>
            <a:rect l="l" t="t" r="r" b="b"/>
            <a:pathLst>
              <a:path w="9798172" h="13143890">
                <a:moveTo>
                  <a:pt x="0" y="0"/>
                </a:moveTo>
                <a:lnTo>
                  <a:pt x="9798173" y="0"/>
                </a:lnTo>
                <a:lnTo>
                  <a:pt x="9798173" y="13143890"/>
                </a:lnTo>
                <a:lnTo>
                  <a:pt x="0" y="131438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-8798399">
            <a:off x="8466276" y="-9590538"/>
            <a:ext cx="9798172" cy="13143890"/>
          </a:xfrm>
          <a:custGeom>
            <a:avLst/>
            <a:gdLst/>
            <a:ahLst/>
            <a:cxnLst/>
            <a:rect l="l" t="t" r="r" b="b"/>
            <a:pathLst>
              <a:path w="9798172" h="13143890">
                <a:moveTo>
                  <a:pt x="0" y="0"/>
                </a:moveTo>
                <a:lnTo>
                  <a:pt x="9798173" y="0"/>
                </a:lnTo>
                <a:lnTo>
                  <a:pt x="9798173" y="13143890"/>
                </a:lnTo>
                <a:lnTo>
                  <a:pt x="0" y="131438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3283157">
            <a:off x="-1501206" y="7329841"/>
            <a:ext cx="5624862" cy="7545546"/>
          </a:xfrm>
          <a:custGeom>
            <a:avLst/>
            <a:gdLst/>
            <a:ahLst/>
            <a:cxnLst/>
            <a:rect l="l" t="t" r="r" b="b"/>
            <a:pathLst>
              <a:path w="5624862" h="7545546">
                <a:moveTo>
                  <a:pt x="0" y="0"/>
                </a:moveTo>
                <a:lnTo>
                  <a:pt x="5624862" y="0"/>
                </a:lnTo>
                <a:lnTo>
                  <a:pt x="5624862" y="7545546"/>
                </a:lnTo>
                <a:lnTo>
                  <a:pt x="0" y="75455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894697" y="1615133"/>
            <a:ext cx="6460548" cy="9663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61"/>
              </a:lnSpc>
            </a:pPr>
            <a:r>
              <a:rPr lang="en-US" sz="5686" spc="534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1.</a:t>
            </a:r>
          </a:p>
        </p:txBody>
      </p:sp>
      <p:sp>
        <p:nvSpPr>
          <p:cNvPr id="6" name="Freeform 6"/>
          <p:cNvSpPr/>
          <p:nvPr/>
        </p:nvSpPr>
        <p:spPr>
          <a:xfrm rot="2770156">
            <a:off x="-2577184" y="-2165857"/>
            <a:ext cx="5154368" cy="4995052"/>
          </a:xfrm>
          <a:custGeom>
            <a:avLst/>
            <a:gdLst/>
            <a:ahLst/>
            <a:cxnLst/>
            <a:rect l="l" t="t" r="r" b="b"/>
            <a:pathLst>
              <a:path w="5154368" h="4995052">
                <a:moveTo>
                  <a:pt x="0" y="0"/>
                </a:moveTo>
                <a:lnTo>
                  <a:pt x="5154368" y="0"/>
                </a:lnTo>
                <a:lnTo>
                  <a:pt x="5154368" y="4995051"/>
                </a:lnTo>
                <a:lnTo>
                  <a:pt x="0" y="49950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 rot="2770156">
            <a:off x="15710816" y="8522875"/>
            <a:ext cx="5154368" cy="4995052"/>
          </a:xfrm>
          <a:custGeom>
            <a:avLst/>
            <a:gdLst/>
            <a:ahLst/>
            <a:cxnLst/>
            <a:rect l="l" t="t" r="r" b="b"/>
            <a:pathLst>
              <a:path w="5154368" h="4995052">
                <a:moveTo>
                  <a:pt x="0" y="0"/>
                </a:moveTo>
                <a:lnTo>
                  <a:pt x="5154368" y="0"/>
                </a:lnTo>
                <a:lnTo>
                  <a:pt x="5154368" y="4995052"/>
                </a:lnTo>
                <a:lnTo>
                  <a:pt x="0" y="49950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1904222" y="4082358"/>
            <a:ext cx="15355078" cy="5434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21" lvl="1" indent="-302261" algn="l">
              <a:lnSpc>
                <a:spcPts val="3920"/>
              </a:lnSpc>
              <a:buFont typeface="Arial"/>
              <a:buChar char="•"/>
            </a:pPr>
            <a:r>
              <a:rPr lang="en-US" sz="2800" spc="61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Populism is increasing across Western democracies</a:t>
            </a:r>
          </a:p>
          <a:p>
            <a:pPr marL="604521" lvl="1" indent="-302261" algn="l">
              <a:lnSpc>
                <a:spcPts val="3920"/>
              </a:lnSpc>
              <a:buFont typeface="Arial"/>
              <a:buChar char="•"/>
            </a:pPr>
            <a:r>
              <a:rPr lang="en-US" sz="2800" spc="61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Industrial jobs have declined since the 1970s</a:t>
            </a:r>
          </a:p>
          <a:p>
            <a:pPr marL="1209042" lvl="2" indent="-403014" algn="l">
              <a:lnSpc>
                <a:spcPts val="3920"/>
              </a:lnSpc>
              <a:buFont typeface="Arial"/>
              <a:buChar char="⚬"/>
            </a:pPr>
            <a:r>
              <a:rPr lang="en-US" sz="2800" spc="61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Leads to right-wing populism</a:t>
            </a:r>
          </a:p>
          <a:p>
            <a:pPr marL="604521" lvl="1" indent="-302261" algn="l">
              <a:lnSpc>
                <a:spcPts val="3920"/>
              </a:lnSpc>
              <a:buFont typeface="Arial"/>
              <a:buChar char="•"/>
            </a:pPr>
            <a:r>
              <a:rPr lang="en-US" sz="2800" spc="61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Deindustrialisation is often linked to political dissatisfaction</a:t>
            </a:r>
          </a:p>
          <a:p>
            <a:pPr marL="604521" lvl="1" indent="-302261" algn="l">
              <a:lnSpc>
                <a:spcPts val="3920"/>
              </a:lnSpc>
              <a:buFont typeface="Arial"/>
              <a:buChar char="•"/>
            </a:pPr>
            <a:r>
              <a:rPr lang="en-US" sz="2800" spc="61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Many regions affected by industrial decline are seen as “left-behind place”</a:t>
            </a:r>
          </a:p>
          <a:p>
            <a:pPr marL="1209042" lvl="2" indent="-403014" algn="l">
              <a:lnSpc>
                <a:spcPts val="3920"/>
              </a:lnSpc>
              <a:buFont typeface="Arial"/>
              <a:buChar char="⚬"/>
            </a:pPr>
            <a:r>
              <a:rPr lang="en-US" sz="2800" spc="61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Higher unemployment</a:t>
            </a:r>
          </a:p>
          <a:p>
            <a:pPr marL="1209042" lvl="2" indent="-403014" algn="l">
              <a:lnSpc>
                <a:spcPts val="3920"/>
              </a:lnSpc>
              <a:buFont typeface="Arial"/>
              <a:buChar char="⚬"/>
            </a:pPr>
            <a:r>
              <a:rPr lang="en-US" sz="2800" spc="61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Lower incomes</a:t>
            </a:r>
          </a:p>
          <a:p>
            <a:pPr marL="1209042" lvl="2" indent="-403014" algn="l">
              <a:lnSpc>
                <a:spcPts val="3920"/>
              </a:lnSpc>
              <a:buFont typeface="Arial"/>
              <a:buChar char="⚬"/>
            </a:pPr>
            <a:r>
              <a:rPr lang="en-US" sz="2800" spc="61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Loss of public services</a:t>
            </a:r>
          </a:p>
          <a:p>
            <a:pPr marL="604521" lvl="1" indent="-302261" algn="l">
              <a:lnSpc>
                <a:spcPts val="3920"/>
              </a:lnSpc>
              <a:buFont typeface="Arial"/>
              <a:buChar char="•"/>
            </a:pPr>
            <a:r>
              <a:rPr lang="en-US" sz="2800" spc="61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Economic change affects not only income but also social status and identity</a:t>
            </a:r>
          </a:p>
          <a:p>
            <a:pPr marL="604521" lvl="1" indent="-302261" algn="l">
              <a:lnSpc>
                <a:spcPts val="3920"/>
              </a:lnSpc>
              <a:buFont typeface="Arial"/>
              <a:buChar char="•"/>
            </a:pPr>
            <a:r>
              <a:rPr lang="en-US" sz="2800" spc="61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Fear of future decline may be as important as actual decline</a:t>
            </a:r>
          </a:p>
          <a:p>
            <a:pPr marL="604521" lvl="1" indent="-302261" algn="l">
              <a:lnSpc>
                <a:spcPts val="3920"/>
              </a:lnSpc>
              <a:buFont typeface="Arial"/>
              <a:buChar char="•"/>
            </a:pPr>
            <a:r>
              <a:rPr lang="en-US" sz="2800" spc="61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Germany is a useful case due to strong regional differences in industrial development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904222" y="2444870"/>
            <a:ext cx="8324690" cy="1259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258"/>
              </a:lnSpc>
            </a:pPr>
            <a:r>
              <a:rPr lang="en-US" sz="7327" b="1" spc="688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INTRODUCTION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8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996701" y="3971697"/>
            <a:ext cx="8307816" cy="1454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56"/>
              </a:lnSpc>
            </a:pPr>
            <a:r>
              <a:rPr lang="en-US" sz="2754" spc="60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Limited evidence: Industrial decline often assumed as a key driver of populism. Few studies to actually test this directly. Evidence is inconsistent.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996701" y="5695278"/>
            <a:ext cx="8307816" cy="1454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56"/>
              </a:lnSpc>
            </a:pPr>
            <a:r>
              <a:rPr lang="en-US" sz="2754" spc="60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Unclear mechanisms: We don’t know how or why one thing leads to another. (Economic hardship, fear, status anxiety, etc.)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996701" y="7415520"/>
            <a:ext cx="8307816" cy="1454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56"/>
              </a:lnSpc>
            </a:pPr>
            <a:r>
              <a:rPr lang="en-US" sz="2754" spc="60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One-sided focus: focuses mainly on right-wing populism and ignores responses from left-wing populist.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904222" y="2444870"/>
            <a:ext cx="8324690" cy="1259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258"/>
              </a:lnSpc>
            </a:pPr>
            <a:r>
              <a:rPr lang="en-US" sz="7327" b="1" spc="688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PROBLEM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904222" y="1615133"/>
            <a:ext cx="6460548" cy="9663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227701" lvl="1" indent="-613850" algn="l">
              <a:lnSpc>
                <a:spcPts val="7961"/>
              </a:lnSpc>
              <a:buAutoNum type="arabicPeriod"/>
            </a:pPr>
            <a:r>
              <a:rPr lang="en-US" sz="5686" spc="534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RESEARCH</a:t>
            </a:r>
          </a:p>
        </p:txBody>
      </p:sp>
      <p:sp>
        <p:nvSpPr>
          <p:cNvPr id="7" name="Freeform 7"/>
          <p:cNvSpPr/>
          <p:nvPr/>
        </p:nvSpPr>
        <p:spPr>
          <a:xfrm rot="-6399961">
            <a:off x="11329998" y="-1574727"/>
            <a:ext cx="13805122" cy="17698875"/>
          </a:xfrm>
          <a:custGeom>
            <a:avLst/>
            <a:gdLst/>
            <a:ahLst/>
            <a:cxnLst/>
            <a:rect l="l" t="t" r="r" b="b"/>
            <a:pathLst>
              <a:path w="13805122" h="17698875">
                <a:moveTo>
                  <a:pt x="0" y="0"/>
                </a:moveTo>
                <a:lnTo>
                  <a:pt x="13805122" y="0"/>
                </a:lnTo>
                <a:lnTo>
                  <a:pt x="13805122" y="17698875"/>
                </a:lnTo>
                <a:lnTo>
                  <a:pt x="0" y="176988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 flipV="1">
            <a:off x="2835837" y="4028847"/>
            <a:ext cx="0" cy="1470758"/>
          </a:xfrm>
          <a:prstGeom prst="line">
            <a:avLst/>
          </a:prstGeom>
          <a:ln w="152400" cap="flat">
            <a:solidFill>
              <a:srgbClr val="E3D8D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" name="AutoShape 9"/>
          <p:cNvSpPr/>
          <p:nvPr/>
        </p:nvSpPr>
        <p:spPr>
          <a:xfrm flipH="1" flipV="1">
            <a:off x="2835837" y="5752428"/>
            <a:ext cx="0" cy="1470758"/>
          </a:xfrm>
          <a:prstGeom prst="line">
            <a:avLst/>
          </a:prstGeom>
          <a:ln w="152400" cap="flat">
            <a:solidFill>
              <a:srgbClr val="E3D8D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0" name="AutoShape 10"/>
          <p:cNvSpPr/>
          <p:nvPr/>
        </p:nvSpPr>
        <p:spPr>
          <a:xfrm flipH="1" flipV="1">
            <a:off x="2835837" y="7472670"/>
            <a:ext cx="0" cy="1470758"/>
          </a:xfrm>
          <a:prstGeom prst="line">
            <a:avLst/>
          </a:prstGeom>
          <a:ln w="152400" cap="flat">
            <a:solidFill>
              <a:srgbClr val="E3D8D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15572246" y="8746182"/>
            <a:ext cx="1966466" cy="1884231"/>
          </a:xfrm>
          <a:custGeom>
            <a:avLst/>
            <a:gdLst/>
            <a:ahLst/>
            <a:cxnLst/>
            <a:rect l="l" t="t" r="r" b="b"/>
            <a:pathLst>
              <a:path w="1966466" h="1884231">
                <a:moveTo>
                  <a:pt x="0" y="0"/>
                </a:moveTo>
                <a:lnTo>
                  <a:pt x="1966465" y="0"/>
                </a:lnTo>
                <a:lnTo>
                  <a:pt x="1966465" y="1884231"/>
                </a:lnTo>
                <a:lnTo>
                  <a:pt x="0" y="18842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17259300" y="8746182"/>
            <a:ext cx="1966466" cy="1884231"/>
          </a:xfrm>
          <a:custGeom>
            <a:avLst/>
            <a:gdLst/>
            <a:ahLst/>
            <a:cxnLst/>
            <a:rect l="l" t="t" r="r" b="b"/>
            <a:pathLst>
              <a:path w="1966466" h="1884231">
                <a:moveTo>
                  <a:pt x="0" y="0"/>
                </a:moveTo>
                <a:lnTo>
                  <a:pt x="1966466" y="0"/>
                </a:lnTo>
                <a:lnTo>
                  <a:pt x="1966466" y="1884231"/>
                </a:lnTo>
                <a:lnTo>
                  <a:pt x="0" y="18842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1904222" y="3693985"/>
            <a:ext cx="770662" cy="18571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158"/>
              </a:lnSpc>
            </a:pPr>
            <a:r>
              <a:rPr lang="en-US" sz="10827" b="1" spc="1017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904222" y="5417566"/>
            <a:ext cx="770662" cy="18571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158"/>
              </a:lnSpc>
            </a:pPr>
            <a:r>
              <a:rPr lang="en-US" sz="10827" b="1" spc="1017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904222" y="7137809"/>
            <a:ext cx="770662" cy="18571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158"/>
              </a:lnSpc>
            </a:pPr>
            <a:r>
              <a:rPr lang="en-US" sz="10827" b="1" spc="1017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3</a:t>
            </a:r>
          </a:p>
        </p:txBody>
      </p:sp>
      <p:sp>
        <p:nvSpPr>
          <p:cNvPr id="16" name="Freeform 16"/>
          <p:cNvSpPr/>
          <p:nvPr/>
        </p:nvSpPr>
        <p:spPr>
          <a:xfrm rot="659918">
            <a:off x="-442221" y="-3550155"/>
            <a:ext cx="6556116" cy="6126988"/>
          </a:xfrm>
          <a:custGeom>
            <a:avLst/>
            <a:gdLst/>
            <a:ahLst/>
            <a:cxnLst/>
            <a:rect l="l" t="t" r="r" b="b"/>
            <a:pathLst>
              <a:path w="6556116" h="6126988">
                <a:moveTo>
                  <a:pt x="0" y="0"/>
                </a:moveTo>
                <a:lnTo>
                  <a:pt x="6556116" y="0"/>
                </a:lnTo>
                <a:lnTo>
                  <a:pt x="6556116" y="6126989"/>
                </a:lnTo>
                <a:lnTo>
                  <a:pt x="0" y="61269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37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915961" y="4364203"/>
            <a:ext cx="5141050" cy="4238108"/>
            <a:chOff x="0" y="0"/>
            <a:chExt cx="812800" cy="67004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670045"/>
            </a:xfrm>
            <a:custGeom>
              <a:avLst/>
              <a:gdLst/>
              <a:ahLst/>
              <a:cxnLst/>
              <a:rect l="l" t="t" r="r" b="b"/>
              <a:pathLst>
                <a:path w="812800" h="670045">
                  <a:moveTo>
                    <a:pt x="39153" y="0"/>
                  </a:moveTo>
                  <a:lnTo>
                    <a:pt x="773647" y="0"/>
                  </a:lnTo>
                  <a:cubicBezTo>
                    <a:pt x="784031" y="0"/>
                    <a:pt x="793990" y="4125"/>
                    <a:pt x="801332" y="11468"/>
                  </a:cubicBezTo>
                  <a:cubicBezTo>
                    <a:pt x="808675" y="18810"/>
                    <a:pt x="812800" y="28769"/>
                    <a:pt x="812800" y="39153"/>
                  </a:cubicBezTo>
                  <a:lnTo>
                    <a:pt x="812800" y="630891"/>
                  </a:lnTo>
                  <a:cubicBezTo>
                    <a:pt x="812800" y="641276"/>
                    <a:pt x="808675" y="651234"/>
                    <a:pt x="801332" y="658577"/>
                  </a:cubicBezTo>
                  <a:cubicBezTo>
                    <a:pt x="793990" y="665920"/>
                    <a:pt x="784031" y="670045"/>
                    <a:pt x="773647" y="670045"/>
                  </a:cubicBezTo>
                  <a:lnTo>
                    <a:pt x="39153" y="670045"/>
                  </a:lnTo>
                  <a:cubicBezTo>
                    <a:pt x="28769" y="670045"/>
                    <a:pt x="18810" y="665920"/>
                    <a:pt x="11468" y="658577"/>
                  </a:cubicBezTo>
                  <a:cubicBezTo>
                    <a:pt x="4125" y="651234"/>
                    <a:pt x="0" y="641276"/>
                    <a:pt x="0" y="630891"/>
                  </a:cubicBezTo>
                  <a:lnTo>
                    <a:pt x="0" y="39153"/>
                  </a:lnTo>
                  <a:cubicBezTo>
                    <a:pt x="0" y="28769"/>
                    <a:pt x="4125" y="18810"/>
                    <a:pt x="11468" y="11468"/>
                  </a:cubicBezTo>
                  <a:cubicBezTo>
                    <a:pt x="18810" y="4125"/>
                    <a:pt x="28769" y="0"/>
                    <a:pt x="39153" y="0"/>
                  </a:cubicBezTo>
                  <a:close/>
                </a:path>
              </a:pathLst>
            </a:custGeom>
            <a:solidFill>
              <a:srgbClr val="EDE8E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9525"/>
              <a:ext cx="812800" cy="6605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21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852125" y="4364203"/>
            <a:ext cx="5141050" cy="4238108"/>
            <a:chOff x="0" y="0"/>
            <a:chExt cx="812800" cy="67004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670045"/>
            </a:xfrm>
            <a:custGeom>
              <a:avLst/>
              <a:gdLst/>
              <a:ahLst/>
              <a:cxnLst/>
              <a:rect l="l" t="t" r="r" b="b"/>
              <a:pathLst>
                <a:path w="812800" h="670045">
                  <a:moveTo>
                    <a:pt x="39153" y="0"/>
                  </a:moveTo>
                  <a:lnTo>
                    <a:pt x="773647" y="0"/>
                  </a:lnTo>
                  <a:cubicBezTo>
                    <a:pt x="784031" y="0"/>
                    <a:pt x="793990" y="4125"/>
                    <a:pt x="801332" y="11468"/>
                  </a:cubicBezTo>
                  <a:cubicBezTo>
                    <a:pt x="808675" y="18810"/>
                    <a:pt x="812800" y="28769"/>
                    <a:pt x="812800" y="39153"/>
                  </a:cubicBezTo>
                  <a:lnTo>
                    <a:pt x="812800" y="630891"/>
                  </a:lnTo>
                  <a:cubicBezTo>
                    <a:pt x="812800" y="641276"/>
                    <a:pt x="808675" y="651234"/>
                    <a:pt x="801332" y="658577"/>
                  </a:cubicBezTo>
                  <a:cubicBezTo>
                    <a:pt x="793990" y="665920"/>
                    <a:pt x="784031" y="670045"/>
                    <a:pt x="773647" y="670045"/>
                  </a:cubicBezTo>
                  <a:lnTo>
                    <a:pt x="39153" y="670045"/>
                  </a:lnTo>
                  <a:cubicBezTo>
                    <a:pt x="28769" y="670045"/>
                    <a:pt x="18810" y="665920"/>
                    <a:pt x="11468" y="658577"/>
                  </a:cubicBezTo>
                  <a:cubicBezTo>
                    <a:pt x="4125" y="651234"/>
                    <a:pt x="0" y="641276"/>
                    <a:pt x="0" y="630891"/>
                  </a:cubicBezTo>
                  <a:lnTo>
                    <a:pt x="0" y="39153"/>
                  </a:lnTo>
                  <a:cubicBezTo>
                    <a:pt x="0" y="28769"/>
                    <a:pt x="4125" y="18810"/>
                    <a:pt x="11468" y="11468"/>
                  </a:cubicBezTo>
                  <a:cubicBezTo>
                    <a:pt x="18810" y="4125"/>
                    <a:pt x="28769" y="0"/>
                    <a:pt x="39153" y="0"/>
                  </a:cubicBezTo>
                  <a:close/>
                </a:path>
              </a:pathLst>
            </a:custGeom>
            <a:solidFill>
              <a:srgbClr val="EDE8E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9525"/>
              <a:ext cx="812800" cy="6605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21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6043731" y="1455812"/>
            <a:ext cx="8324690" cy="12521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581946" lvl="1" indent="-790973" algn="just">
              <a:lnSpc>
                <a:spcPts val="10258"/>
              </a:lnSpc>
              <a:buAutoNum type="arabicPeriod"/>
            </a:pPr>
            <a:r>
              <a:rPr lang="en-US" sz="7327" b="1" spc="688">
                <a:solidFill>
                  <a:srgbClr val="EDE8E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THEORY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294124" y="4852143"/>
            <a:ext cx="4384724" cy="673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03"/>
              </a:lnSpc>
            </a:pPr>
            <a:r>
              <a:rPr lang="en-US" sz="3859" b="1" spc="38">
                <a:solidFill>
                  <a:srgbClr val="25375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Actual Decline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413943" y="4852143"/>
            <a:ext cx="4384724" cy="673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03"/>
              </a:lnSpc>
            </a:pPr>
            <a:r>
              <a:rPr lang="en-US" sz="3859" b="1" spc="38">
                <a:solidFill>
                  <a:srgbClr val="25375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Looming Decline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482262" y="3180151"/>
            <a:ext cx="2008447" cy="1983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139"/>
              </a:lnSpc>
            </a:pPr>
            <a:r>
              <a:rPr lang="en-US" sz="11528" b="1" spc="1083">
                <a:solidFill>
                  <a:srgbClr val="D89C6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01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418426" y="3180151"/>
            <a:ext cx="2008447" cy="1983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139"/>
              </a:lnSpc>
            </a:pPr>
            <a:r>
              <a:rPr lang="en-US" sz="11528" b="1" spc="1083">
                <a:solidFill>
                  <a:srgbClr val="D89C6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02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204780" y="5796183"/>
            <a:ext cx="4563411" cy="2734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2612" lvl="1" indent="-281306" algn="l">
              <a:lnSpc>
                <a:spcPts val="3648"/>
              </a:lnSpc>
              <a:buFont typeface="Arial"/>
              <a:buChar char="•"/>
            </a:pPr>
            <a:r>
              <a:rPr lang="en-US" sz="2605" spc="57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Loss of industrial jobs</a:t>
            </a:r>
          </a:p>
          <a:p>
            <a:pPr marL="1125223" lvl="2" indent="-375074" algn="l">
              <a:lnSpc>
                <a:spcPts val="3648"/>
              </a:lnSpc>
              <a:buFont typeface="Arial"/>
              <a:buChar char="⚬"/>
            </a:pPr>
            <a:r>
              <a:rPr lang="en-US" sz="2605" spc="57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Unemployment</a:t>
            </a:r>
          </a:p>
          <a:p>
            <a:pPr marL="1125223" lvl="2" indent="-375074" algn="l">
              <a:lnSpc>
                <a:spcPts val="3648"/>
              </a:lnSpc>
              <a:buFont typeface="Arial"/>
              <a:buChar char="⚬"/>
            </a:pPr>
            <a:r>
              <a:rPr lang="en-US" sz="2605" spc="57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Income loss</a:t>
            </a:r>
          </a:p>
          <a:p>
            <a:pPr marL="1125223" lvl="2" indent="-375074" algn="l">
              <a:lnSpc>
                <a:spcPts val="3648"/>
              </a:lnSpc>
              <a:buFont typeface="Arial"/>
              <a:buChar char="⚬"/>
            </a:pPr>
            <a:r>
              <a:rPr lang="en-US" sz="2605" spc="57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Economic insecurity</a:t>
            </a:r>
          </a:p>
          <a:p>
            <a:pPr marL="562612" lvl="1" indent="-281306" algn="l">
              <a:lnSpc>
                <a:spcPts val="3648"/>
              </a:lnSpc>
              <a:buFont typeface="Arial"/>
              <a:buChar char="•"/>
            </a:pPr>
            <a:r>
              <a:rPr lang="en-US" sz="2605" spc="57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Demand for welfare and redistribution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240046" y="5935216"/>
            <a:ext cx="4563411" cy="2613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spc="54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Fear of future job loss</a:t>
            </a:r>
          </a:p>
          <a:p>
            <a:pPr marL="1079499" lvl="2" indent="-359833" algn="l">
              <a:lnSpc>
                <a:spcPts val="3499"/>
              </a:lnSpc>
              <a:buFont typeface="Arial"/>
              <a:buChar char="⚬"/>
            </a:pPr>
            <a:r>
              <a:rPr lang="en-US" sz="2499" spc="54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uncertainty</a:t>
            </a:r>
          </a:p>
          <a:p>
            <a:pPr marL="1079499" lvl="2" indent="-359833" algn="l">
              <a:lnSpc>
                <a:spcPts val="3499"/>
              </a:lnSpc>
              <a:buFont typeface="Arial"/>
              <a:buChar char="⚬"/>
            </a:pPr>
            <a:r>
              <a:rPr lang="en-US" sz="2499" spc="54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status anxiety</a:t>
            </a:r>
          </a:p>
          <a:p>
            <a:pPr marL="1079499" lvl="2" indent="-359833" algn="l">
              <a:lnSpc>
                <a:spcPts val="3499"/>
              </a:lnSpc>
              <a:buFont typeface="Arial"/>
              <a:buChar char="⚬"/>
            </a:pPr>
            <a:r>
              <a:rPr lang="en-US" sz="2499" spc="54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perceived social decline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spc="54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Concern about identity and status</a:t>
            </a:r>
          </a:p>
        </p:txBody>
      </p:sp>
      <p:sp>
        <p:nvSpPr>
          <p:cNvPr id="15" name="AutoShape 15"/>
          <p:cNvSpPr/>
          <p:nvPr/>
        </p:nvSpPr>
        <p:spPr>
          <a:xfrm flipV="1">
            <a:off x="3120227" y="5691408"/>
            <a:ext cx="4732518" cy="0"/>
          </a:xfrm>
          <a:prstGeom prst="line">
            <a:avLst/>
          </a:prstGeom>
          <a:ln w="38100" cap="flat">
            <a:solidFill>
              <a:srgbClr val="2537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6" name="AutoShape 16"/>
          <p:cNvSpPr/>
          <p:nvPr/>
        </p:nvSpPr>
        <p:spPr>
          <a:xfrm flipV="1">
            <a:off x="11070939" y="5735191"/>
            <a:ext cx="4732518" cy="0"/>
          </a:xfrm>
          <a:prstGeom prst="line">
            <a:avLst/>
          </a:prstGeom>
          <a:ln w="38100" cap="flat">
            <a:solidFill>
              <a:srgbClr val="2537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7" name="Freeform 17"/>
          <p:cNvSpPr/>
          <p:nvPr/>
        </p:nvSpPr>
        <p:spPr>
          <a:xfrm>
            <a:off x="16321534" y="-285545"/>
            <a:ext cx="1966466" cy="1884231"/>
          </a:xfrm>
          <a:custGeom>
            <a:avLst/>
            <a:gdLst/>
            <a:ahLst/>
            <a:cxnLst/>
            <a:rect l="l" t="t" r="r" b="b"/>
            <a:pathLst>
              <a:path w="1966466" h="1884231">
                <a:moveTo>
                  <a:pt x="0" y="0"/>
                </a:moveTo>
                <a:lnTo>
                  <a:pt x="1966466" y="0"/>
                </a:lnTo>
                <a:lnTo>
                  <a:pt x="1966466" y="1884232"/>
                </a:lnTo>
                <a:lnTo>
                  <a:pt x="0" y="18842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8" name="Freeform 18"/>
          <p:cNvSpPr/>
          <p:nvPr/>
        </p:nvSpPr>
        <p:spPr>
          <a:xfrm>
            <a:off x="17304767" y="854768"/>
            <a:ext cx="1966466" cy="1884231"/>
          </a:xfrm>
          <a:custGeom>
            <a:avLst/>
            <a:gdLst/>
            <a:ahLst/>
            <a:cxnLst/>
            <a:rect l="l" t="t" r="r" b="b"/>
            <a:pathLst>
              <a:path w="1966466" h="1884231">
                <a:moveTo>
                  <a:pt x="0" y="0"/>
                </a:moveTo>
                <a:lnTo>
                  <a:pt x="1966466" y="0"/>
                </a:lnTo>
                <a:lnTo>
                  <a:pt x="1966466" y="1884232"/>
                </a:lnTo>
                <a:lnTo>
                  <a:pt x="0" y="18842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9" name="Freeform 19"/>
          <p:cNvSpPr/>
          <p:nvPr/>
        </p:nvSpPr>
        <p:spPr>
          <a:xfrm>
            <a:off x="0" y="9258300"/>
            <a:ext cx="1966466" cy="1884231"/>
          </a:xfrm>
          <a:custGeom>
            <a:avLst/>
            <a:gdLst/>
            <a:ahLst/>
            <a:cxnLst/>
            <a:rect l="l" t="t" r="r" b="b"/>
            <a:pathLst>
              <a:path w="1966466" h="1884231">
                <a:moveTo>
                  <a:pt x="0" y="0"/>
                </a:moveTo>
                <a:lnTo>
                  <a:pt x="1966466" y="0"/>
                </a:lnTo>
                <a:lnTo>
                  <a:pt x="1966466" y="1884231"/>
                </a:lnTo>
                <a:lnTo>
                  <a:pt x="0" y="18842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0" name="Freeform 20"/>
          <p:cNvSpPr/>
          <p:nvPr/>
        </p:nvSpPr>
        <p:spPr>
          <a:xfrm>
            <a:off x="-937766" y="8402769"/>
            <a:ext cx="1966466" cy="1884231"/>
          </a:xfrm>
          <a:custGeom>
            <a:avLst/>
            <a:gdLst/>
            <a:ahLst/>
            <a:cxnLst/>
            <a:rect l="l" t="t" r="r" b="b"/>
            <a:pathLst>
              <a:path w="1966466" h="1884231">
                <a:moveTo>
                  <a:pt x="0" y="0"/>
                </a:moveTo>
                <a:lnTo>
                  <a:pt x="1966466" y="0"/>
                </a:lnTo>
                <a:lnTo>
                  <a:pt x="1966466" y="1884231"/>
                </a:lnTo>
                <a:lnTo>
                  <a:pt x="0" y="18842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1" name="Freeform 21"/>
          <p:cNvSpPr/>
          <p:nvPr/>
        </p:nvSpPr>
        <p:spPr>
          <a:xfrm rot="672866">
            <a:off x="-1045588" y="-1783519"/>
            <a:ext cx="6556116" cy="6126988"/>
          </a:xfrm>
          <a:custGeom>
            <a:avLst/>
            <a:gdLst/>
            <a:ahLst/>
            <a:cxnLst/>
            <a:rect l="l" t="t" r="r" b="b"/>
            <a:pathLst>
              <a:path w="6556116" h="6126988">
                <a:moveTo>
                  <a:pt x="0" y="0"/>
                </a:moveTo>
                <a:lnTo>
                  <a:pt x="6556116" y="0"/>
                </a:lnTo>
                <a:lnTo>
                  <a:pt x="6556116" y="6126988"/>
                </a:lnTo>
                <a:lnTo>
                  <a:pt x="0" y="61269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2" name="Freeform 22"/>
          <p:cNvSpPr/>
          <p:nvPr/>
        </p:nvSpPr>
        <p:spPr>
          <a:xfrm rot="-10799999">
            <a:off x="12715117" y="7583041"/>
            <a:ext cx="6556116" cy="6126988"/>
          </a:xfrm>
          <a:custGeom>
            <a:avLst/>
            <a:gdLst/>
            <a:ahLst/>
            <a:cxnLst/>
            <a:rect l="l" t="t" r="r" b="b"/>
            <a:pathLst>
              <a:path w="6556116" h="6126988">
                <a:moveTo>
                  <a:pt x="0" y="0"/>
                </a:moveTo>
                <a:lnTo>
                  <a:pt x="6556116" y="0"/>
                </a:lnTo>
                <a:lnTo>
                  <a:pt x="6556116" y="6126988"/>
                </a:lnTo>
                <a:lnTo>
                  <a:pt x="0" y="61269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Box 23"/>
          <p:cNvSpPr txBox="1"/>
          <p:nvPr/>
        </p:nvSpPr>
        <p:spPr>
          <a:xfrm>
            <a:off x="5915354" y="2681850"/>
            <a:ext cx="6460548" cy="4651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61"/>
              </a:lnSpc>
            </a:pPr>
            <a:r>
              <a:rPr lang="en-US" sz="2686" spc="252">
                <a:solidFill>
                  <a:srgbClr val="EDE8E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TWO TYPES OF ECONOMIC CHANGE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37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90950" y="-2033784"/>
            <a:ext cx="8535602" cy="7976908"/>
          </a:xfrm>
          <a:custGeom>
            <a:avLst/>
            <a:gdLst/>
            <a:ahLst/>
            <a:cxnLst/>
            <a:rect l="l" t="t" r="r" b="b"/>
            <a:pathLst>
              <a:path w="8535602" h="7976908">
                <a:moveTo>
                  <a:pt x="0" y="0"/>
                </a:moveTo>
                <a:lnTo>
                  <a:pt x="8535602" y="0"/>
                </a:lnTo>
                <a:lnTo>
                  <a:pt x="8535602" y="7976908"/>
                </a:lnTo>
                <a:lnTo>
                  <a:pt x="0" y="79769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-10151301">
            <a:off x="11164674" y="6546853"/>
            <a:ext cx="8535602" cy="7976908"/>
          </a:xfrm>
          <a:custGeom>
            <a:avLst/>
            <a:gdLst/>
            <a:ahLst/>
            <a:cxnLst/>
            <a:rect l="l" t="t" r="r" b="b"/>
            <a:pathLst>
              <a:path w="8535602" h="7976908">
                <a:moveTo>
                  <a:pt x="0" y="0"/>
                </a:moveTo>
                <a:lnTo>
                  <a:pt x="8535602" y="0"/>
                </a:lnTo>
                <a:lnTo>
                  <a:pt x="8535602" y="7976908"/>
                </a:lnTo>
                <a:lnTo>
                  <a:pt x="0" y="79769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12784585" y="4159659"/>
            <a:ext cx="4474715" cy="4186037"/>
            <a:chOff x="0" y="0"/>
            <a:chExt cx="997323" cy="93298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97323" cy="932983"/>
            </a:xfrm>
            <a:custGeom>
              <a:avLst/>
              <a:gdLst/>
              <a:ahLst/>
              <a:cxnLst/>
              <a:rect l="l" t="t" r="r" b="b"/>
              <a:pathLst>
                <a:path w="997323" h="932983">
                  <a:moveTo>
                    <a:pt x="102079" y="0"/>
                  </a:moveTo>
                  <a:lnTo>
                    <a:pt x="895245" y="0"/>
                  </a:lnTo>
                  <a:cubicBezTo>
                    <a:pt x="951621" y="0"/>
                    <a:pt x="997323" y="45702"/>
                    <a:pt x="997323" y="102079"/>
                  </a:cubicBezTo>
                  <a:lnTo>
                    <a:pt x="997323" y="830904"/>
                  </a:lnTo>
                  <a:cubicBezTo>
                    <a:pt x="997323" y="887281"/>
                    <a:pt x="951621" y="932983"/>
                    <a:pt x="895245" y="932983"/>
                  </a:cubicBezTo>
                  <a:lnTo>
                    <a:pt x="102079" y="932983"/>
                  </a:lnTo>
                  <a:cubicBezTo>
                    <a:pt x="45702" y="932983"/>
                    <a:pt x="0" y="887281"/>
                    <a:pt x="0" y="830904"/>
                  </a:cubicBezTo>
                  <a:lnTo>
                    <a:pt x="0" y="102079"/>
                  </a:lnTo>
                  <a:cubicBezTo>
                    <a:pt x="0" y="45702"/>
                    <a:pt x="45702" y="0"/>
                    <a:pt x="102079" y="0"/>
                  </a:cubicBezTo>
                  <a:close/>
                </a:path>
              </a:pathLst>
            </a:custGeom>
            <a:ln w="38100" cap="rnd">
              <a:solidFill>
                <a:srgbClr val="E3D8D4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9525"/>
              <a:ext cx="997323" cy="923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21"/>
                </a:lnSpc>
              </a:pPr>
              <a:endParaRPr/>
            </a:p>
            <a:p>
              <a:pPr algn="ctr">
                <a:lnSpc>
                  <a:spcPts val="2121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969870" y="4159659"/>
            <a:ext cx="4474715" cy="4186037"/>
            <a:chOff x="0" y="0"/>
            <a:chExt cx="997323" cy="93298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97323" cy="932983"/>
            </a:xfrm>
            <a:custGeom>
              <a:avLst/>
              <a:gdLst/>
              <a:ahLst/>
              <a:cxnLst/>
              <a:rect l="l" t="t" r="r" b="b"/>
              <a:pathLst>
                <a:path w="997323" h="932983">
                  <a:moveTo>
                    <a:pt x="102079" y="0"/>
                  </a:moveTo>
                  <a:lnTo>
                    <a:pt x="895245" y="0"/>
                  </a:lnTo>
                  <a:cubicBezTo>
                    <a:pt x="951621" y="0"/>
                    <a:pt x="997323" y="45702"/>
                    <a:pt x="997323" y="102079"/>
                  </a:cubicBezTo>
                  <a:lnTo>
                    <a:pt x="997323" y="830904"/>
                  </a:lnTo>
                  <a:cubicBezTo>
                    <a:pt x="997323" y="887281"/>
                    <a:pt x="951621" y="932983"/>
                    <a:pt x="895245" y="932983"/>
                  </a:cubicBezTo>
                  <a:lnTo>
                    <a:pt x="102079" y="932983"/>
                  </a:lnTo>
                  <a:cubicBezTo>
                    <a:pt x="45702" y="932983"/>
                    <a:pt x="0" y="887281"/>
                    <a:pt x="0" y="830904"/>
                  </a:cubicBezTo>
                  <a:lnTo>
                    <a:pt x="0" y="102079"/>
                  </a:lnTo>
                  <a:cubicBezTo>
                    <a:pt x="0" y="45702"/>
                    <a:pt x="45702" y="0"/>
                    <a:pt x="102079" y="0"/>
                  </a:cubicBezTo>
                  <a:close/>
                </a:path>
              </a:pathLst>
            </a:custGeom>
            <a:ln w="38100" cap="rnd">
              <a:solidFill>
                <a:srgbClr val="E3D8D4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9525"/>
              <a:ext cx="997323" cy="923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21"/>
                </a:lnSpc>
              </a:pPr>
              <a:endParaRPr/>
            </a:p>
            <a:p>
              <a:pPr algn="ctr">
                <a:lnSpc>
                  <a:spcPts val="2121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9006545" y="1249819"/>
            <a:ext cx="8184365" cy="12121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9841"/>
              </a:lnSpc>
            </a:pPr>
            <a:r>
              <a:rPr lang="en-US" sz="7029" spc="660">
                <a:solidFill>
                  <a:srgbClr val="EDE8E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4.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067626" y="2231192"/>
            <a:ext cx="8184365" cy="14141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1579"/>
              </a:lnSpc>
            </a:pPr>
            <a:r>
              <a:rPr lang="en-US" sz="8271" b="1" spc="777">
                <a:solidFill>
                  <a:srgbClr val="EDE8E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HYPOTHESIS</a:t>
            </a:r>
          </a:p>
        </p:txBody>
      </p:sp>
      <p:sp>
        <p:nvSpPr>
          <p:cNvPr id="12" name="Freeform 12"/>
          <p:cNvSpPr/>
          <p:nvPr/>
        </p:nvSpPr>
        <p:spPr>
          <a:xfrm rot="-10800000">
            <a:off x="12784585" y="4159659"/>
            <a:ext cx="4474715" cy="1033825"/>
          </a:xfrm>
          <a:custGeom>
            <a:avLst/>
            <a:gdLst/>
            <a:ahLst/>
            <a:cxnLst/>
            <a:rect l="l" t="t" r="r" b="b"/>
            <a:pathLst>
              <a:path w="4474715" h="1033825">
                <a:moveTo>
                  <a:pt x="0" y="0"/>
                </a:moveTo>
                <a:lnTo>
                  <a:pt x="4474715" y="0"/>
                </a:lnTo>
                <a:lnTo>
                  <a:pt x="4474715" y="1033825"/>
                </a:lnTo>
                <a:lnTo>
                  <a:pt x="0" y="103382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47362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 rot="-10800000">
            <a:off x="7969870" y="4159659"/>
            <a:ext cx="4474715" cy="1033825"/>
          </a:xfrm>
          <a:custGeom>
            <a:avLst/>
            <a:gdLst/>
            <a:ahLst/>
            <a:cxnLst/>
            <a:rect l="l" t="t" r="r" b="b"/>
            <a:pathLst>
              <a:path w="4474715" h="1033825">
                <a:moveTo>
                  <a:pt x="0" y="0"/>
                </a:moveTo>
                <a:lnTo>
                  <a:pt x="4474715" y="0"/>
                </a:lnTo>
                <a:lnTo>
                  <a:pt x="4474715" y="1033825"/>
                </a:lnTo>
                <a:lnTo>
                  <a:pt x="0" y="103382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47362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TextBox 14"/>
          <p:cNvSpPr txBox="1"/>
          <p:nvPr/>
        </p:nvSpPr>
        <p:spPr>
          <a:xfrm>
            <a:off x="13223549" y="4379742"/>
            <a:ext cx="3596786" cy="624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20"/>
              </a:lnSpc>
            </a:pPr>
            <a:r>
              <a:rPr lang="en-US" sz="3657" b="1" spc="153">
                <a:solidFill>
                  <a:srgbClr val="25375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H2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302778" y="4379742"/>
            <a:ext cx="3804269" cy="6331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20"/>
              </a:lnSpc>
            </a:pPr>
            <a:r>
              <a:rPr lang="en-US" sz="3657" b="1" spc="153">
                <a:solidFill>
                  <a:srgbClr val="25375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H1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129268" y="5476477"/>
            <a:ext cx="3898551" cy="12982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76"/>
              </a:lnSpc>
            </a:pPr>
            <a:r>
              <a:rPr lang="en-US" sz="2483" spc="54">
                <a:solidFill>
                  <a:srgbClr val="EDE8E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AfD (right) is stronger in regions where industry is still important.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314552" y="5476477"/>
            <a:ext cx="3898551" cy="22116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76"/>
              </a:lnSpc>
            </a:pPr>
            <a:r>
              <a:rPr lang="en-US" sz="2483" spc="54" dirty="0">
                <a:solidFill>
                  <a:srgbClr val="EDE8E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Regions where industrial jobs have already disappeared are more likely to vote Die Linke (left)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8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235367" y="1559064"/>
            <a:ext cx="9817265" cy="12356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560355" lvl="1" indent="-780177" algn="l">
              <a:lnSpc>
                <a:spcPts val="10118"/>
              </a:lnSpc>
              <a:spcBef>
                <a:spcPct val="0"/>
              </a:spcBef>
              <a:buAutoNum type="arabicPeriod"/>
            </a:pPr>
            <a:r>
              <a:rPr lang="en-US" sz="7227" b="1" spc="679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DATA &amp; METHOD</a:t>
            </a:r>
          </a:p>
        </p:txBody>
      </p:sp>
      <p:sp>
        <p:nvSpPr>
          <p:cNvPr id="3" name="Freeform 3"/>
          <p:cNvSpPr/>
          <p:nvPr/>
        </p:nvSpPr>
        <p:spPr>
          <a:xfrm>
            <a:off x="-290950" y="-2033784"/>
            <a:ext cx="5544196" cy="5181303"/>
          </a:xfrm>
          <a:custGeom>
            <a:avLst/>
            <a:gdLst/>
            <a:ahLst/>
            <a:cxnLst/>
            <a:rect l="l" t="t" r="r" b="b"/>
            <a:pathLst>
              <a:path w="5544196" h="5181303">
                <a:moveTo>
                  <a:pt x="0" y="0"/>
                </a:moveTo>
                <a:lnTo>
                  <a:pt x="5544196" y="0"/>
                </a:lnTo>
                <a:lnTo>
                  <a:pt x="5544196" y="5181303"/>
                </a:lnTo>
                <a:lnTo>
                  <a:pt x="0" y="518130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-9354559">
            <a:off x="12207201" y="5475509"/>
            <a:ext cx="8367389" cy="7819705"/>
          </a:xfrm>
          <a:custGeom>
            <a:avLst/>
            <a:gdLst/>
            <a:ahLst/>
            <a:cxnLst/>
            <a:rect l="l" t="t" r="r" b="b"/>
            <a:pathLst>
              <a:path w="8367389" h="7819705">
                <a:moveTo>
                  <a:pt x="0" y="0"/>
                </a:moveTo>
                <a:lnTo>
                  <a:pt x="8367389" y="0"/>
                </a:lnTo>
                <a:lnTo>
                  <a:pt x="8367389" y="7819705"/>
                </a:lnTo>
                <a:lnTo>
                  <a:pt x="0" y="78197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rot="5400000">
            <a:off x="13112837" y="-1659911"/>
            <a:ext cx="6556116" cy="6126988"/>
          </a:xfrm>
          <a:custGeom>
            <a:avLst/>
            <a:gdLst/>
            <a:ahLst/>
            <a:cxnLst/>
            <a:rect l="l" t="t" r="r" b="b"/>
            <a:pathLst>
              <a:path w="6556116" h="6126988">
                <a:moveTo>
                  <a:pt x="0" y="0"/>
                </a:moveTo>
                <a:lnTo>
                  <a:pt x="6556116" y="0"/>
                </a:lnTo>
                <a:lnTo>
                  <a:pt x="6556116" y="6126988"/>
                </a:lnTo>
                <a:lnTo>
                  <a:pt x="0" y="61269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 rot="-5521968">
            <a:off x="-1614569" y="6194806"/>
            <a:ext cx="6556116" cy="6126988"/>
          </a:xfrm>
          <a:custGeom>
            <a:avLst/>
            <a:gdLst/>
            <a:ahLst/>
            <a:cxnLst/>
            <a:rect l="l" t="t" r="r" b="b"/>
            <a:pathLst>
              <a:path w="6556116" h="6126988">
                <a:moveTo>
                  <a:pt x="0" y="0"/>
                </a:moveTo>
                <a:lnTo>
                  <a:pt x="6556116" y="0"/>
                </a:lnTo>
                <a:lnTo>
                  <a:pt x="6556116" y="6126988"/>
                </a:lnTo>
                <a:lnTo>
                  <a:pt x="0" y="61269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3437152" y="3019514"/>
            <a:ext cx="11413697" cy="65815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0178" lvl="1" indent="-365089" algn="l">
              <a:lnSpc>
                <a:spcPts val="4734"/>
              </a:lnSpc>
              <a:buFont typeface="Arial"/>
              <a:buChar char="•"/>
            </a:pPr>
            <a:r>
              <a:rPr lang="en-US" sz="3382" spc="74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400 German regions</a:t>
            </a:r>
          </a:p>
          <a:p>
            <a:pPr marL="730178" lvl="1" indent="-365089" algn="l">
              <a:lnSpc>
                <a:spcPts val="4734"/>
              </a:lnSpc>
              <a:buFont typeface="Arial"/>
              <a:buChar char="•"/>
            </a:pPr>
            <a:r>
              <a:rPr lang="en-US" sz="3382" spc="74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1970-2021</a:t>
            </a:r>
          </a:p>
          <a:p>
            <a:pPr marL="730178" lvl="1" indent="-365089" algn="l">
              <a:lnSpc>
                <a:spcPts val="4734"/>
              </a:lnSpc>
              <a:buFont typeface="Arial"/>
              <a:buChar char="•"/>
            </a:pPr>
            <a:r>
              <a:rPr lang="en-US" sz="3382" spc="74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Key variables compared:</a:t>
            </a:r>
          </a:p>
          <a:p>
            <a:pPr marL="1460356" lvl="2" indent="-486785" algn="l">
              <a:lnSpc>
                <a:spcPts val="4734"/>
              </a:lnSpc>
              <a:buFont typeface="Arial"/>
              <a:buChar char="⚬"/>
            </a:pPr>
            <a:r>
              <a:rPr lang="en-US" sz="3382" spc="74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Job decline</a:t>
            </a:r>
          </a:p>
          <a:p>
            <a:pPr marL="1460356" lvl="2" indent="-486785" algn="l">
              <a:lnSpc>
                <a:spcPts val="4734"/>
              </a:lnSpc>
              <a:buFont typeface="Arial"/>
              <a:buChar char="⚬"/>
            </a:pPr>
            <a:r>
              <a:rPr lang="en-US" sz="3382" spc="74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Historical industry</a:t>
            </a:r>
          </a:p>
          <a:p>
            <a:pPr marL="730178" lvl="1" indent="-365089" algn="l">
              <a:lnSpc>
                <a:spcPts val="4734"/>
              </a:lnSpc>
              <a:buFont typeface="Arial"/>
              <a:buChar char="•"/>
            </a:pPr>
            <a:r>
              <a:rPr lang="en-US" sz="3382" spc="74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Outcome ⟶ measure voting:</a:t>
            </a:r>
          </a:p>
          <a:p>
            <a:pPr marL="1460356" lvl="2" indent="-486785" algn="l">
              <a:lnSpc>
                <a:spcPts val="4734"/>
              </a:lnSpc>
              <a:buFont typeface="Arial"/>
              <a:buChar char="⚬"/>
            </a:pPr>
            <a:r>
              <a:rPr lang="en-US" sz="3382" spc="74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AfD &amp; Die Linke</a:t>
            </a:r>
          </a:p>
          <a:p>
            <a:pPr marL="730178" lvl="1" indent="-365089" algn="l">
              <a:lnSpc>
                <a:spcPts val="4734"/>
              </a:lnSpc>
              <a:buFont typeface="Arial"/>
              <a:buChar char="•"/>
            </a:pPr>
            <a:r>
              <a:rPr lang="en-US" sz="3382" spc="74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Method:</a:t>
            </a:r>
          </a:p>
          <a:p>
            <a:pPr marL="1460356" lvl="2" indent="-486785" algn="l">
              <a:lnSpc>
                <a:spcPts val="4734"/>
              </a:lnSpc>
              <a:buFont typeface="Arial"/>
              <a:buChar char="⚬"/>
            </a:pPr>
            <a:r>
              <a:rPr lang="en-US" sz="3382" spc="74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Generalized Linear Model (GLM)</a:t>
            </a:r>
          </a:p>
          <a:p>
            <a:pPr marL="730178" lvl="1" indent="-365089" algn="l">
              <a:lnSpc>
                <a:spcPts val="4734"/>
              </a:lnSpc>
              <a:buFont typeface="Arial"/>
              <a:buChar char="•"/>
            </a:pPr>
            <a:r>
              <a:rPr lang="en-US" sz="3382" spc="74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Controls:</a:t>
            </a:r>
          </a:p>
          <a:p>
            <a:pPr marL="1460356" lvl="2" indent="-486785" algn="l">
              <a:lnSpc>
                <a:spcPts val="4734"/>
              </a:lnSpc>
              <a:buFont typeface="Arial"/>
              <a:buChar char="⚬"/>
            </a:pPr>
            <a:r>
              <a:rPr lang="en-US" sz="3382" spc="74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Unemployment, education, age, inequailty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8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8798399">
            <a:off x="13156923" y="1016610"/>
            <a:ext cx="9798172" cy="13143890"/>
          </a:xfrm>
          <a:custGeom>
            <a:avLst/>
            <a:gdLst/>
            <a:ahLst/>
            <a:cxnLst/>
            <a:rect l="l" t="t" r="r" b="b"/>
            <a:pathLst>
              <a:path w="9798172" h="13143890">
                <a:moveTo>
                  <a:pt x="0" y="0"/>
                </a:moveTo>
                <a:lnTo>
                  <a:pt x="9798173" y="0"/>
                </a:lnTo>
                <a:lnTo>
                  <a:pt x="9798173" y="13143890"/>
                </a:lnTo>
                <a:lnTo>
                  <a:pt x="0" y="131438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605545" y="2754892"/>
            <a:ext cx="7306859" cy="3853617"/>
          </a:xfrm>
          <a:custGeom>
            <a:avLst/>
            <a:gdLst/>
            <a:ahLst/>
            <a:cxnLst/>
            <a:rect l="l" t="t" r="r" b="b"/>
            <a:pathLst>
              <a:path w="7306859" h="3853617">
                <a:moveTo>
                  <a:pt x="0" y="0"/>
                </a:moveTo>
                <a:lnTo>
                  <a:pt x="7306858" y="0"/>
                </a:lnTo>
                <a:lnTo>
                  <a:pt x="7306858" y="3853618"/>
                </a:lnTo>
                <a:lnTo>
                  <a:pt x="0" y="38536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-8798399">
            <a:off x="-2994864" y="-8645988"/>
            <a:ext cx="9798172" cy="13143890"/>
          </a:xfrm>
          <a:custGeom>
            <a:avLst/>
            <a:gdLst/>
            <a:ahLst/>
            <a:cxnLst/>
            <a:rect l="l" t="t" r="r" b="b"/>
            <a:pathLst>
              <a:path w="9798172" h="13143890">
                <a:moveTo>
                  <a:pt x="0" y="0"/>
                </a:moveTo>
                <a:lnTo>
                  <a:pt x="9798173" y="0"/>
                </a:lnTo>
                <a:lnTo>
                  <a:pt x="9798173" y="13143890"/>
                </a:lnTo>
                <a:lnTo>
                  <a:pt x="0" y="131438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5" name="Group 5"/>
          <p:cNvGrpSpPr/>
          <p:nvPr/>
        </p:nvGrpSpPr>
        <p:grpSpPr>
          <a:xfrm>
            <a:off x="9851780" y="2753369"/>
            <a:ext cx="6232665" cy="2740224"/>
            <a:chOff x="0" y="0"/>
            <a:chExt cx="2019680" cy="88796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019680" cy="887963"/>
            </a:xfrm>
            <a:custGeom>
              <a:avLst/>
              <a:gdLst/>
              <a:ahLst/>
              <a:cxnLst/>
              <a:rect l="l" t="t" r="r" b="b"/>
              <a:pathLst>
                <a:path w="2019680" h="887963">
                  <a:moveTo>
                    <a:pt x="48444" y="0"/>
                  </a:moveTo>
                  <a:lnTo>
                    <a:pt x="1971236" y="0"/>
                  </a:lnTo>
                  <a:cubicBezTo>
                    <a:pt x="1984084" y="0"/>
                    <a:pt x="1996406" y="5104"/>
                    <a:pt x="2005491" y="14189"/>
                  </a:cubicBezTo>
                  <a:cubicBezTo>
                    <a:pt x="2014576" y="23274"/>
                    <a:pt x="2019680" y="35596"/>
                    <a:pt x="2019680" y="48444"/>
                  </a:cubicBezTo>
                  <a:lnTo>
                    <a:pt x="2019680" y="839519"/>
                  </a:lnTo>
                  <a:cubicBezTo>
                    <a:pt x="2019680" y="866274"/>
                    <a:pt x="1997991" y="887963"/>
                    <a:pt x="1971236" y="887963"/>
                  </a:cubicBezTo>
                  <a:lnTo>
                    <a:pt x="48444" y="887963"/>
                  </a:lnTo>
                  <a:cubicBezTo>
                    <a:pt x="21689" y="887963"/>
                    <a:pt x="0" y="866274"/>
                    <a:pt x="0" y="839519"/>
                  </a:cubicBezTo>
                  <a:lnTo>
                    <a:pt x="0" y="48444"/>
                  </a:lnTo>
                  <a:cubicBezTo>
                    <a:pt x="0" y="21689"/>
                    <a:pt x="21689" y="0"/>
                    <a:pt x="48444" y="0"/>
                  </a:cubicBezTo>
                  <a:close/>
                </a:path>
              </a:pathLst>
            </a:custGeom>
            <a:solidFill>
              <a:srgbClr val="253754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9525"/>
              <a:ext cx="2019680" cy="8784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21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679738" y="6878710"/>
            <a:ext cx="6232665" cy="2649790"/>
            <a:chOff x="0" y="0"/>
            <a:chExt cx="2019680" cy="85865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019680" cy="858658"/>
            </a:xfrm>
            <a:custGeom>
              <a:avLst/>
              <a:gdLst/>
              <a:ahLst/>
              <a:cxnLst/>
              <a:rect l="l" t="t" r="r" b="b"/>
              <a:pathLst>
                <a:path w="2019680" h="858658">
                  <a:moveTo>
                    <a:pt x="48444" y="0"/>
                  </a:moveTo>
                  <a:lnTo>
                    <a:pt x="1971236" y="0"/>
                  </a:lnTo>
                  <a:cubicBezTo>
                    <a:pt x="1984084" y="0"/>
                    <a:pt x="1996406" y="5104"/>
                    <a:pt x="2005491" y="14189"/>
                  </a:cubicBezTo>
                  <a:cubicBezTo>
                    <a:pt x="2014576" y="23274"/>
                    <a:pt x="2019680" y="35596"/>
                    <a:pt x="2019680" y="48444"/>
                  </a:cubicBezTo>
                  <a:lnTo>
                    <a:pt x="2019680" y="810214"/>
                  </a:lnTo>
                  <a:cubicBezTo>
                    <a:pt x="2019680" y="836969"/>
                    <a:pt x="1997991" y="858658"/>
                    <a:pt x="1971236" y="858658"/>
                  </a:cubicBezTo>
                  <a:lnTo>
                    <a:pt x="48444" y="858658"/>
                  </a:lnTo>
                  <a:cubicBezTo>
                    <a:pt x="21689" y="858658"/>
                    <a:pt x="0" y="836969"/>
                    <a:pt x="0" y="810214"/>
                  </a:cubicBezTo>
                  <a:lnTo>
                    <a:pt x="0" y="48444"/>
                  </a:lnTo>
                  <a:cubicBezTo>
                    <a:pt x="0" y="21689"/>
                    <a:pt x="21689" y="0"/>
                    <a:pt x="48444" y="0"/>
                  </a:cubicBezTo>
                  <a:close/>
                </a:path>
              </a:pathLst>
            </a:custGeom>
            <a:solidFill>
              <a:srgbClr val="253754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9525"/>
              <a:ext cx="2019680" cy="8491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21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0142583" y="3677525"/>
            <a:ext cx="5651059" cy="834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5009" lvl="1" indent="-257504" algn="l">
              <a:lnSpc>
                <a:spcPts val="3339"/>
              </a:lnSpc>
              <a:buFont typeface="Arial"/>
              <a:buChar char="•"/>
            </a:pPr>
            <a:r>
              <a:rPr lang="en-US" sz="2385" spc="52">
                <a:solidFill>
                  <a:srgbClr val="EDE8E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Increases AfD support</a:t>
            </a:r>
          </a:p>
          <a:p>
            <a:pPr marL="515009" lvl="1" indent="-257504" algn="l">
              <a:lnSpc>
                <a:spcPts val="3339"/>
              </a:lnSpc>
              <a:buFont typeface="Arial"/>
              <a:buChar char="•"/>
            </a:pPr>
            <a:r>
              <a:rPr lang="en-US" sz="2385" spc="52">
                <a:solidFill>
                  <a:srgbClr val="EDE8E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Does NOT increase Die Linke support</a:t>
            </a:r>
          </a:p>
        </p:txBody>
      </p:sp>
      <p:sp>
        <p:nvSpPr>
          <p:cNvPr id="12" name="Freeform 12"/>
          <p:cNvSpPr/>
          <p:nvPr/>
        </p:nvSpPr>
        <p:spPr>
          <a:xfrm rot="9961243">
            <a:off x="12217193" y="-3026777"/>
            <a:ext cx="10084214" cy="8727429"/>
          </a:xfrm>
          <a:custGeom>
            <a:avLst/>
            <a:gdLst/>
            <a:ahLst/>
            <a:cxnLst/>
            <a:rect l="l" t="t" r="r" b="b"/>
            <a:pathLst>
              <a:path w="10084214" h="8727429">
                <a:moveTo>
                  <a:pt x="0" y="0"/>
                </a:moveTo>
                <a:lnTo>
                  <a:pt x="10084214" y="0"/>
                </a:lnTo>
                <a:lnTo>
                  <a:pt x="10084214" y="8727429"/>
                </a:lnTo>
                <a:lnTo>
                  <a:pt x="0" y="872742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 rot="-976001">
            <a:off x="-4614341" y="5979010"/>
            <a:ext cx="9228681" cy="7987004"/>
          </a:xfrm>
          <a:custGeom>
            <a:avLst/>
            <a:gdLst/>
            <a:ahLst/>
            <a:cxnLst/>
            <a:rect l="l" t="t" r="r" b="b"/>
            <a:pathLst>
              <a:path w="9228681" h="7987004">
                <a:moveTo>
                  <a:pt x="0" y="0"/>
                </a:moveTo>
                <a:lnTo>
                  <a:pt x="9228682" y="0"/>
                </a:lnTo>
                <a:lnTo>
                  <a:pt x="9228682" y="7987004"/>
                </a:lnTo>
                <a:lnTo>
                  <a:pt x="0" y="79870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>
            <a:off x="9353390" y="5929992"/>
            <a:ext cx="7229445" cy="3782705"/>
          </a:xfrm>
          <a:custGeom>
            <a:avLst/>
            <a:gdLst/>
            <a:ahLst/>
            <a:cxnLst/>
            <a:rect l="l" t="t" r="r" b="b"/>
            <a:pathLst>
              <a:path w="7229445" h="3782705">
                <a:moveTo>
                  <a:pt x="0" y="0"/>
                </a:moveTo>
                <a:lnTo>
                  <a:pt x="7229445" y="0"/>
                </a:lnTo>
                <a:lnTo>
                  <a:pt x="7229445" y="3782705"/>
                </a:lnTo>
                <a:lnTo>
                  <a:pt x="0" y="378270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TextBox 15"/>
          <p:cNvSpPr txBox="1"/>
          <p:nvPr/>
        </p:nvSpPr>
        <p:spPr>
          <a:xfrm>
            <a:off x="1028700" y="1316632"/>
            <a:ext cx="8324690" cy="1259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258"/>
              </a:lnSpc>
            </a:pPr>
            <a:r>
              <a:rPr lang="en-US" sz="7327" b="1" spc="688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RESULTS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28700" y="493118"/>
            <a:ext cx="6460548" cy="9663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61"/>
              </a:lnSpc>
            </a:pPr>
            <a:r>
              <a:rPr lang="en-US" sz="5686" spc="534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6.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970541" y="7764195"/>
            <a:ext cx="5651059" cy="1253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5009" lvl="1" indent="-257504" algn="l">
              <a:lnSpc>
                <a:spcPts val="3339"/>
              </a:lnSpc>
              <a:buFont typeface="Arial"/>
              <a:buChar char="•"/>
            </a:pPr>
            <a:r>
              <a:rPr lang="en-US" sz="2385" spc="52">
                <a:solidFill>
                  <a:srgbClr val="EDE8E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Does NOT increase support for the AfD.</a:t>
            </a:r>
          </a:p>
          <a:p>
            <a:pPr marL="515009" lvl="1" indent="-257504" algn="l">
              <a:lnSpc>
                <a:spcPts val="3339"/>
              </a:lnSpc>
              <a:buFont typeface="Arial"/>
              <a:buChar char="•"/>
            </a:pPr>
            <a:r>
              <a:rPr lang="en-US" sz="2385" spc="52">
                <a:solidFill>
                  <a:srgbClr val="EDE8E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Increases support for Die Linke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687461" y="2886078"/>
            <a:ext cx="4561302" cy="555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56"/>
              </a:lnSpc>
            </a:pPr>
            <a:r>
              <a:rPr lang="en-US" sz="3254" b="1" spc="136">
                <a:solidFill>
                  <a:srgbClr val="EDE8E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Historical industrial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515419" y="7033040"/>
            <a:ext cx="4561302" cy="555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56"/>
              </a:lnSpc>
            </a:pPr>
            <a:r>
              <a:rPr lang="en-US" sz="3254" b="1" spc="136">
                <a:solidFill>
                  <a:srgbClr val="EDE8E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Industrial decline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8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719458">
            <a:off x="-508769" y="3878032"/>
            <a:ext cx="19305539" cy="3249078"/>
          </a:xfrm>
          <a:custGeom>
            <a:avLst/>
            <a:gdLst/>
            <a:ahLst/>
            <a:cxnLst/>
            <a:rect l="l" t="t" r="r" b="b"/>
            <a:pathLst>
              <a:path w="19305539" h="3249078">
                <a:moveTo>
                  <a:pt x="0" y="0"/>
                </a:moveTo>
                <a:lnTo>
                  <a:pt x="19305538" y="0"/>
                </a:lnTo>
                <a:lnTo>
                  <a:pt x="19305538" y="3249078"/>
                </a:lnTo>
                <a:lnTo>
                  <a:pt x="0" y="32490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493104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-514350" y="-1580379"/>
            <a:ext cx="19050326" cy="5975359"/>
            <a:chOff x="0" y="0"/>
            <a:chExt cx="5017370" cy="157375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017370" cy="1573757"/>
            </a:xfrm>
            <a:custGeom>
              <a:avLst/>
              <a:gdLst/>
              <a:ahLst/>
              <a:cxnLst/>
              <a:rect l="l" t="t" r="r" b="b"/>
              <a:pathLst>
                <a:path w="5017370" h="1573757">
                  <a:moveTo>
                    <a:pt x="0" y="0"/>
                  </a:moveTo>
                  <a:lnTo>
                    <a:pt x="5017370" y="0"/>
                  </a:lnTo>
                  <a:lnTo>
                    <a:pt x="5017370" y="1573757"/>
                  </a:lnTo>
                  <a:lnTo>
                    <a:pt x="0" y="1573757"/>
                  </a:lnTo>
                  <a:close/>
                </a:path>
              </a:pathLst>
            </a:custGeom>
            <a:solidFill>
              <a:srgbClr val="253754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9525"/>
              <a:ext cx="5017370" cy="15642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21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4981655" y="1613958"/>
            <a:ext cx="8324690" cy="12356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560356" lvl="1" indent="-780178" algn="l">
              <a:lnSpc>
                <a:spcPts val="10118"/>
              </a:lnSpc>
              <a:buAutoNum type="arabicPeriod"/>
            </a:pPr>
            <a:r>
              <a:rPr lang="en-US" sz="7227" b="1" spc="679">
                <a:solidFill>
                  <a:srgbClr val="EDE8E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CONCLUSION</a:t>
            </a:r>
          </a:p>
        </p:txBody>
      </p:sp>
      <p:sp>
        <p:nvSpPr>
          <p:cNvPr id="7" name="Freeform 7"/>
          <p:cNvSpPr/>
          <p:nvPr/>
        </p:nvSpPr>
        <p:spPr>
          <a:xfrm>
            <a:off x="284248" y="-713185"/>
            <a:ext cx="1488904" cy="1931362"/>
          </a:xfrm>
          <a:custGeom>
            <a:avLst/>
            <a:gdLst/>
            <a:ahLst/>
            <a:cxnLst/>
            <a:rect l="l" t="t" r="r" b="b"/>
            <a:pathLst>
              <a:path w="1488904" h="1931362">
                <a:moveTo>
                  <a:pt x="0" y="0"/>
                </a:moveTo>
                <a:lnTo>
                  <a:pt x="1488904" y="0"/>
                </a:lnTo>
                <a:lnTo>
                  <a:pt x="1488904" y="1931362"/>
                </a:lnTo>
                <a:lnTo>
                  <a:pt x="0" y="193136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-744452" y="252496"/>
            <a:ext cx="1488904" cy="1931362"/>
          </a:xfrm>
          <a:custGeom>
            <a:avLst/>
            <a:gdLst/>
            <a:ahLst/>
            <a:cxnLst/>
            <a:rect l="l" t="t" r="r" b="b"/>
            <a:pathLst>
              <a:path w="1488904" h="1931362">
                <a:moveTo>
                  <a:pt x="0" y="0"/>
                </a:moveTo>
                <a:lnTo>
                  <a:pt x="1488904" y="0"/>
                </a:lnTo>
                <a:lnTo>
                  <a:pt x="1488904" y="1931362"/>
                </a:lnTo>
                <a:lnTo>
                  <a:pt x="0" y="193136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6293998" y="8734875"/>
            <a:ext cx="2476208" cy="3212062"/>
          </a:xfrm>
          <a:custGeom>
            <a:avLst/>
            <a:gdLst/>
            <a:ahLst/>
            <a:cxnLst/>
            <a:rect l="l" t="t" r="r" b="b"/>
            <a:pathLst>
              <a:path w="2476208" h="3212062">
                <a:moveTo>
                  <a:pt x="0" y="0"/>
                </a:moveTo>
                <a:lnTo>
                  <a:pt x="2476208" y="0"/>
                </a:lnTo>
                <a:lnTo>
                  <a:pt x="2476208" y="3212061"/>
                </a:lnTo>
                <a:lnTo>
                  <a:pt x="0" y="321206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3993721" y="6278649"/>
            <a:ext cx="10300558" cy="3359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27"/>
              </a:lnSpc>
            </a:pPr>
            <a:r>
              <a:rPr lang="en-US" sz="2733" spc="60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This paper shows that industrial decline does not lead to one single political outcome. Instead, it depends on how people experience economic change. Real job loss increases support for left-wing populism, while fear of future decline increases support for right-wing populism. This highlights the importance of distinguishing between different types of economic change when explaining populist voting.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37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010834" y="3712919"/>
            <a:ext cx="5127156" cy="25475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258"/>
              </a:lnSpc>
            </a:pPr>
            <a:r>
              <a:rPr lang="en-US" sz="7327" b="1" spc="688">
                <a:solidFill>
                  <a:srgbClr val="EDE8E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THANK</a:t>
            </a:r>
          </a:p>
          <a:p>
            <a:pPr algn="l">
              <a:lnSpc>
                <a:spcPts val="10258"/>
              </a:lnSpc>
            </a:pPr>
            <a:r>
              <a:rPr lang="en-US" sz="7327" b="1" spc="688">
                <a:solidFill>
                  <a:srgbClr val="EDE8E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YOU</a:t>
            </a:r>
          </a:p>
        </p:txBody>
      </p:sp>
      <p:sp>
        <p:nvSpPr>
          <p:cNvPr id="3" name="AutoShape 3"/>
          <p:cNvSpPr/>
          <p:nvPr/>
        </p:nvSpPr>
        <p:spPr>
          <a:xfrm flipV="1">
            <a:off x="1478627" y="1685723"/>
            <a:ext cx="0" cy="6915554"/>
          </a:xfrm>
          <a:prstGeom prst="line">
            <a:avLst/>
          </a:prstGeom>
          <a:ln w="66675" cap="flat">
            <a:solidFill>
              <a:srgbClr val="E3D8D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5400000">
            <a:off x="8502801" y="331078"/>
            <a:ext cx="10116277" cy="9454121"/>
          </a:xfrm>
          <a:custGeom>
            <a:avLst/>
            <a:gdLst/>
            <a:ahLst/>
            <a:cxnLst/>
            <a:rect l="l" t="t" r="r" b="b"/>
            <a:pathLst>
              <a:path w="10116277" h="9454121">
                <a:moveTo>
                  <a:pt x="0" y="0"/>
                </a:moveTo>
                <a:lnTo>
                  <a:pt x="10116277" y="0"/>
                </a:lnTo>
                <a:lnTo>
                  <a:pt x="10116277" y="9454121"/>
                </a:lnTo>
                <a:lnTo>
                  <a:pt x="0" y="94541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399</Words>
  <Application>Microsoft Office PowerPoint</Application>
  <PresentationFormat>Custom</PresentationFormat>
  <Paragraphs>85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Glacial Indifference</vt:lpstr>
      <vt:lpstr>Glacial Indifference Bold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Industrial Employment &amp; Populism in Germany</dc:title>
  <cp:lastModifiedBy>Genesis Gil</cp:lastModifiedBy>
  <cp:revision>2</cp:revision>
  <dcterms:created xsi:type="dcterms:W3CDTF">2006-08-16T00:00:00Z</dcterms:created>
  <dcterms:modified xsi:type="dcterms:W3CDTF">2026-04-28T11:03:06Z</dcterms:modified>
  <dc:identifier>DAHHrxmHf38</dc:identifier>
</cp:coreProperties>
</file>
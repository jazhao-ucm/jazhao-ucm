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2" r:id="rId8"/>
    <p:sldId id="267" r:id="rId9"/>
    <p:sldId id="263" r:id="rId10"/>
    <p:sldId id="264" r:id="rId11"/>
    <p:sldId id="268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Evolution of European Defence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the European Defence Community to Contemporary Frameworks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1. The European Defence Community (1950–1954)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Ambitious supranational military project</a:t>
            </a:r>
          </a:p>
          <a:p>
            <a:r>
              <a:rPr dirty="0"/>
              <a:t>Designed to integrate national armed forces</a:t>
            </a:r>
          </a:p>
          <a:p>
            <a:r>
              <a:rPr dirty="0"/>
              <a:t>Failed due to lack of political </a:t>
            </a:r>
            <a:r>
              <a:rPr dirty="0" smtClean="0"/>
              <a:t>consensus</a:t>
            </a:r>
            <a:r>
              <a:rPr lang="es-ES" dirty="0" smtClean="0"/>
              <a:t> (French </a:t>
            </a:r>
            <a:r>
              <a:rPr lang="es-ES" dirty="0" err="1" smtClean="0"/>
              <a:t>parliament</a:t>
            </a:r>
            <a:r>
              <a:rPr lang="es-ES" dirty="0" smtClean="0"/>
              <a:t> </a:t>
            </a:r>
            <a:r>
              <a:rPr lang="es-ES" dirty="0" err="1" smtClean="0"/>
              <a:t>refuse</a:t>
            </a:r>
            <a:r>
              <a:rPr lang="es-ES" dirty="0" smtClean="0"/>
              <a:t> to </a:t>
            </a:r>
            <a:r>
              <a:rPr lang="es-ES" dirty="0" err="1" smtClean="0"/>
              <a:t>sign</a:t>
            </a:r>
            <a:r>
              <a:rPr lang="es-ES" dirty="0" smtClean="0"/>
              <a:t> </a:t>
            </a:r>
            <a:r>
              <a:rPr lang="es-ES" dirty="0" err="1" smtClean="0"/>
              <a:t>it</a:t>
            </a:r>
            <a:r>
              <a:rPr lang="es-ES" dirty="0" smtClean="0"/>
              <a:t>)</a:t>
            </a:r>
          </a:p>
          <a:p>
            <a:r>
              <a:rPr lang="en-US" dirty="0"/>
              <a:t>This failure set the </a:t>
            </a:r>
            <a:r>
              <a:rPr lang="en-US" dirty="0" smtClean="0"/>
              <a:t>tone and limits </a:t>
            </a:r>
            <a:r>
              <a:rPr lang="en-US" dirty="0"/>
              <a:t>for decades: </a:t>
            </a:r>
            <a:r>
              <a:rPr lang="en-US" dirty="0" err="1"/>
              <a:t>defence</a:t>
            </a:r>
            <a:r>
              <a:rPr lang="en-US" dirty="0"/>
              <a:t> remained primarily national and tied to NATO rather than European integration.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2. Cold War </a:t>
            </a:r>
            <a:r>
              <a:rPr dirty="0" smtClean="0"/>
              <a:t>Period</a:t>
            </a:r>
            <a:r>
              <a:rPr lang="es-ES" dirty="0" smtClean="0"/>
              <a:t> (1954-1990)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Security delegated to NATO structures</a:t>
            </a:r>
          </a:p>
          <a:p>
            <a:r>
              <a:rPr dirty="0"/>
              <a:t>Western European Union marginal role</a:t>
            </a:r>
          </a:p>
          <a:p>
            <a:r>
              <a:rPr dirty="0"/>
              <a:t>Economic integration prioritized</a:t>
            </a:r>
          </a:p>
          <a:p>
            <a:r>
              <a:rPr dirty="0" err="1"/>
              <a:t>Defence</a:t>
            </a:r>
            <a:r>
              <a:rPr dirty="0"/>
              <a:t> remained </a:t>
            </a:r>
            <a:r>
              <a:rPr dirty="0" smtClean="0"/>
              <a:t>intergovernmental</a:t>
            </a:r>
            <a:endParaRPr lang="es-ES" dirty="0" smtClean="0"/>
          </a:p>
          <a:p>
            <a:r>
              <a:rPr lang="en-US" b="1" dirty="0"/>
              <a:t>Key pattern: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Security = NATO</a:t>
            </a:r>
            <a:br>
              <a:rPr lang="en-US" dirty="0"/>
            </a:br>
            <a:r>
              <a:rPr lang="en-US" dirty="0"/>
              <a:t>Integration = economic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3. Post-Cold War </a:t>
            </a:r>
            <a:r>
              <a:rPr lang="es-ES" dirty="0" smtClean="0"/>
              <a:t>Revival (1990s-2000s)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Maastricht Treaty established </a:t>
            </a:r>
            <a:r>
              <a:rPr lang="es-ES" dirty="0" err="1" smtClean="0"/>
              <a:t>Common</a:t>
            </a:r>
            <a:r>
              <a:rPr lang="es-ES" dirty="0" smtClean="0"/>
              <a:t> </a:t>
            </a:r>
            <a:r>
              <a:rPr lang="es-ES" dirty="0" err="1" smtClean="0"/>
              <a:t>Foreign</a:t>
            </a:r>
            <a:r>
              <a:rPr lang="es-ES" dirty="0" smtClean="0"/>
              <a:t> and Security </a:t>
            </a:r>
            <a:r>
              <a:rPr lang="es-ES" dirty="0" err="1" smtClean="0"/>
              <a:t>Policy</a:t>
            </a:r>
            <a:r>
              <a:rPr lang="es-ES" dirty="0" smtClean="0"/>
              <a:t> (</a:t>
            </a:r>
            <a:r>
              <a:rPr dirty="0" smtClean="0"/>
              <a:t>CFSP</a:t>
            </a:r>
            <a:r>
              <a:rPr lang="es-ES" dirty="0" smtClean="0"/>
              <a:t>)</a:t>
            </a:r>
          </a:p>
          <a:p>
            <a:r>
              <a:rPr dirty="0" smtClean="0"/>
              <a:t>Balkan </a:t>
            </a:r>
            <a:r>
              <a:rPr dirty="0"/>
              <a:t>conflicts exposed capability gaps</a:t>
            </a:r>
          </a:p>
          <a:p>
            <a:r>
              <a:rPr dirty="0"/>
              <a:t>Saint-Malo Declaration pivotal </a:t>
            </a:r>
            <a:r>
              <a:rPr dirty="0" smtClean="0"/>
              <a:t>moment</a:t>
            </a:r>
            <a:r>
              <a:rPr lang="es-ES" dirty="0" smtClean="0"/>
              <a:t>-</a:t>
            </a:r>
            <a:r>
              <a:rPr lang="es-ES" dirty="0" err="1" smtClean="0"/>
              <a:t>push</a:t>
            </a:r>
            <a:r>
              <a:rPr lang="es-ES" dirty="0" smtClean="0"/>
              <a:t> </a:t>
            </a:r>
            <a:r>
              <a:rPr lang="es-ES" dirty="0" err="1" smtClean="0"/>
              <a:t>for</a:t>
            </a:r>
            <a:r>
              <a:rPr lang="es-ES" dirty="0" smtClean="0"/>
              <a:t> </a:t>
            </a:r>
            <a:r>
              <a:rPr lang="es-ES" dirty="0" err="1" smtClean="0"/>
              <a:t>autonomous</a:t>
            </a:r>
            <a:r>
              <a:rPr lang="es-ES" dirty="0" smtClean="0"/>
              <a:t> EU </a:t>
            </a:r>
            <a:r>
              <a:rPr lang="es-ES" dirty="0" err="1" smtClean="0"/>
              <a:t>military</a:t>
            </a:r>
            <a:r>
              <a:rPr lang="es-ES" dirty="0" smtClean="0"/>
              <a:t> </a:t>
            </a:r>
            <a:r>
              <a:rPr lang="es-ES" dirty="0" err="1" smtClean="0"/>
              <a:t>forces</a:t>
            </a:r>
            <a:endParaRPr dirty="0"/>
          </a:p>
          <a:p>
            <a:r>
              <a:rPr dirty="0"/>
              <a:t>Emergence of EU strategic </a:t>
            </a:r>
            <a:r>
              <a:rPr dirty="0" smtClean="0"/>
              <a:t>ambition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4. Institutionalization: </a:t>
            </a:r>
            <a:r>
              <a:rPr dirty="0" smtClean="0"/>
              <a:t>CSDP</a:t>
            </a:r>
            <a:r>
              <a:rPr lang="es-ES" dirty="0" smtClean="0"/>
              <a:t> (2003)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Creation of operational </a:t>
            </a:r>
            <a:r>
              <a:rPr dirty="0" err="1"/>
              <a:t>defence</a:t>
            </a:r>
            <a:r>
              <a:rPr dirty="0"/>
              <a:t> policy</a:t>
            </a:r>
          </a:p>
          <a:p>
            <a:r>
              <a:rPr dirty="0"/>
              <a:t>Launch of civilian and military missions</a:t>
            </a:r>
          </a:p>
          <a:p>
            <a:r>
              <a:rPr dirty="0"/>
              <a:t>European </a:t>
            </a:r>
            <a:r>
              <a:rPr dirty="0" err="1"/>
              <a:t>Defence</a:t>
            </a:r>
            <a:r>
              <a:rPr dirty="0"/>
              <a:t> Agency </a:t>
            </a:r>
            <a:r>
              <a:rPr dirty="0" smtClean="0"/>
              <a:t>established</a:t>
            </a:r>
            <a:r>
              <a:rPr lang="es-ES" dirty="0" smtClean="0"/>
              <a:t> in 2004</a:t>
            </a:r>
            <a:endParaRPr dirty="0"/>
          </a:p>
          <a:p>
            <a:r>
              <a:rPr dirty="0"/>
              <a:t>Limited supranational authority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5</a:t>
            </a:r>
            <a:r>
              <a:rPr dirty="0" smtClean="0"/>
              <a:t>. </a:t>
            </a:r>
            <a:r>
              <a:rPr lang="es-ES" dirty="0" err="1"/>
              <a:t>Stagnation</a:t>
            </a:r>
            <a:r>
              <a:rPr lang="es-ES" dirty="0"/>
              <a:t> and </a:t>
            </a:r>
            <a:r>
              <a:rPr lang="es-ES" dirty="0" err="1"/>
              <a:t>Fragmentation</a:t>
            </a:r>
            <a:r>
              <a:rPr lang="es-ES" dirty="0"/>
              <a:t> (2000s–mid-2010s)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Despite new structures:</a:t>
            </a:r>
          </a:p>
          <a:p>
            <a:r>
              <a:rPr lang="en-US" dirty="0" err="1"/>
              <a:t>Defence</a:t>
            </a:r>
            <a:r>
              <a:rPr lang="en-US" dirty="0"/>
              <a:t> spending remained fragmented </a:t>
            </a:r>
          </a:p>
          <a:p>
            <a:r>
              <a:rPr lang="en-US" dirty="0"/>
              <a:t>Member states prioritized national sovereignty </a:t>
            </a:r>
          </a:p>
          <a:p>
            <a:r>
              <a:rPr lang="en-US" dirty="0"/>
              <a:t>EU missions were limited in scale </a:t>
            </a:r>
            <a:endParaRPr lang="en-US" dirty="0" smtClean="0"/>
          </a:p>
          <a:p>
            <a:r>
              <a:rPr lang="en-US" dirty="0" smtClean="0"/>
              <a:t>Europe </a:t>
            </a:r>
            <a:r>
              <a:rPr lang="en-US" dirty="0"/>
              <a:t>continued to depend heavily on NATO and the US.</a:t>
            </a:r>
          </a:p>
        </p:txBody>
      </p:sp>
    </p:spTree>
    <p:extLst>
      <p:ext uri="{BB962C8B-B14F-4D97-AF65-F5344CB8AC3E}">
        <p14:creationId xmlns:p14="http://schemas.microsoft.com/office/powerpoint/2010/main" val="203987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5. Defence Renaissance (Post-2016)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Permanent </a:t>
            </a:r>
            <a:r>
              <a:rPr dirty="0"/>
              <a:t>Structured Cooperation (PESCO</a:t>
            </a:r>
            <a:r>
              <a:rPr dirty="0" smtClean="0"/>
              <a:t>)</a:t>
            </a:r>
            <a:endParaRPr lang="es-ES" dirty="0" smtClean="0"/>
          </a:p>
          <a:p>
            <a:pPr marL="0" indent="0">
              <a:buNone/>
            </a:pPr>
            <a:r>
              <a:rPr lang="es-ES" sz="2000" dirty="0" smtClean="0"/>
              <a:t>	Framework </a:t>
            </a:r>
            <a:r>
              <a:rPr lang="es-ES" sz="2000" dirty="0" err="1" smtClean="0"/>
              <a:t>for</a:t>
            </a:r>
            <a:r>
              <a:rPr lang="es-ES" sz="2000" dirty="0" smtClean="0"/>
              <a:t> </a:t>
            </a:r>
            <a:r>
              <a:rPr lang="es-ES" sz="2000" dirty="0" err="1" smtClean="0"/>
              <a:t>joint</a:t>
            </a:r>
            <a:r>
              <a:rPr lang="es-ES" sz="2000" dirty="0" smtClean="0"/>
              <a:t> </a:t>
            </a:r>
            <a:r>
              <a:rPr lang="es-ES" sz="2000" dirty="0" err="1" smtClean="0"/>
              <a:t>capability</a:t>
            </a:r>
            <a:r>
              <a:rPr lang="es-ES" sz="2000" dirty="0" smtClean="0"/>
              <a:t> </a:t>
            </a:r>
            <a:r>
              <a:rPr lang="es-ES" sz="2000" dirty="0" err="1" smtClean="0"/>
              <a:t>development</a:t>
            </a:r>
            <a:r>
              <a:rPr lang="es-ES" sz="2000" dirty="0" smtClean="0"/>
              <a:t> and </a:t>
            </a:r>
            <a:r>
              <a:rPr lang="es-ES" sz="2000" dirty="0" err="1" smtClean="0"/>
              <a:t>military</a:t>
            </a:r>
            <a:r>
              <a:rPr lang="es-ES" sz="2000" dirty="0" smtClean="0"/>
              <a:t> </a:t>
            </a:r>
            <a:r>
              <a:rPr lang="es-ES" sz="2000" dirty="0" err="1" smtClean="0"/>
              <a:t>cooperation</a:t>
            </a:r>
            <a:endParaRPr sz="2000" dirty="0"/>
          </a:p>
          <a:p>
            <a:r>
              <a:rPr dirty="0"/>
              <a:t>European </a:t>
            </a:r>
            <a:r>
              <a:rPr dirty="0" err="1"/>
              <a:t>Defence</a:t>
            </a:r>
            <a:r>
              <a:rPr dirty="0"/>
              <a:t> Fund (EDF</a:t>
            </a:r>
            <a:r>
              <a:rPr dirty="0" smtClean="0"/>
              <a:t>)</a:t>
            </a:r>
            <a:endParaRPr lang="es-ES" dirty="0" smtClean="0"/>
          </a:p>
          <a:p>
            <a:pPr marL="0" indent="0">
              <a:buNone/>
            </a:pPr>
            <a:r>
              <a:rPr lang="en-US" sz="2000" dirty="0"/>
              <a:t>Finances joint research and </a:t>
            </a:r>
            <a:r>
              <a:rPr lang="en-US" sz="2000" dirty="0" err="1" smtClean="0"/>
              <a:t>defence</a:t>
            </a:r>
            <a:r>
              <a:rPr lang="en-US" sz="2000" dirty="0" smtClean="0"/>
              <a:t> </a:t>
            </a:r>
            <a:r>
              <a:rPr lang="en-US" sz="2000" dirty="0"/>
              <a:t>industrial projects </a:t>
            </a:r>
            <a:endParaRPr sz="2000" dirty="0"/>
          </a:p>
          <a:p>
            <a:r>
              <a:rPr dirty="0"/>
              <a:t>Enhanced coordination mechanisms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5. </a:t>
            </a:r>
            <a:r>
              <a:rPr lang="es-ES" dirty="0" err="1"/>
              <a:t>Recent</a:t>
            </a:r>
            <a:r>
              <a:rPr lang="es-ES" dirty="0"/>
              <a:t> </a:t>
            </a:r>
            <a:r>
              <a:rPr lang="es-ES" dirty="0" err="1"/>
              <a:t>Developments</a:t>
            </a:r>
            <a:r>
              <a:rPr lang="es-ES" dirty="0"/>
              <a:t> (2020s)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Increasing focus on </a:t>
            </a:r>
            <a:r>
              <a:rPr lang="en-US" b="1" dirty="0"/>
              <a:t>strategic autonomy</a:t>
            </a:r>
            <a:r>
              <a:rPr lang="en-US" dirty="0"/>
              <a:t> </a:t>
            </a:r>
          </a:p>
          <a:p>
            <a:r>
              <a:rPr lang="en-US" dirty="0"/>
              <a:t>New initiatives like: </a:t>
            </a:r>
          </a:p>
          <a:p>
            <a:pPr lvl="1"/>
            <a:r>
              <a:rPr lang="en-US" dirty="0"/>
              <a:t>EU </a:t>
            </a:r>
            <a:r>
              <a:rPr lang="en-US" dirty="0" err="1"/>
              <a:t>Defence</a:t>
            </a:r>
            <a:r>
              <a:rPr lang="en-US" dirty="0"/>
              <a:t> Industrial Strategy </a:t>
            </a:r>
          </a:p>
          <a:p>
            <a:pPr lvl="1"/>
            <a:r>
              <a:rPr lang="en-US" dirty="0"/>
              <a:t>Military mobility projects </a:t>
            </a:r>
          </a:p>
          <a:p>
            <a:r>
              <a:rPr lang="en-US" dirty="0"/>
              <a:t>Growing cooperation with partners (e.g., US, Norway, UK participation in PESCO projects) </a:t>
            </a:r>
          </a:p>
          <a:p>
            <a:r>
              <a:rPr lang="en-US" dirty="0" err="1"/>
              <a:t>Defence</a:t>
            </a:r>
            <a:r>
              <a:rPr lang="en-US" dirty="0"/>
              <a:t> policy now linked to: </a:t>
            </a:r>
          </a:p>
          <a:p>
            <a:pPr lvl="1"/>
            <a:r>
              <a:rPr lang="en-US" dirty="0"/>
              <a:t>War in Ukraine </a:t>
            </a:r>
          </a:p>
          <a:p>
            <a:pPr lvl="1"/>
            <a:r>
              <a:rPr lang="en-US" dirty="0"/>
              <a:t>Hybrid threats (cyber, disinformation) </a:t>
            </a:r>
          </a:p>
          <a:p>
            <a:pPr lvl="1"/>
            <a:r>
              <a:rPr lang="en-US" dirty="0"/>
              <a:t>Industrial capacity and supply chains </a:t>
            </a:r>
          </a:p>
        </p:txBody>
      </p:sp>
    </p:spTree>
    <p:extLst>
      <p:ext uri="{BB962C8B-B14F-4D97-AF65-F5344CB8AC3E}">
        <p14:creationId xmlns:p14="http://schemas.microsoft.com/office/powerpoint/2010/main" val="1676647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 vs NATO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527504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/>
              <a:t>European Union</a:t>
            </a:r>
          </a:p>
          <a:p>
            <a:r>
              <a:rPr sz="2800" dirty="0"/>
              <a:t>- Crisis management</a:t>
            </a:r>
          </a:p>
          <a:p>
            <a:r>
              <a:rPr sz="2800" dirty="0"/>
              <a:t>- Industrial policy</a:t>
            </a:r>
          </a:p>
          <a:p>
            <a:r>
              <a:rPr sz="2800" dirty="0"/>
              <a:t>- Civil-military 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189976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/>
              <a:t>NATO</a:t>
            </a:r>
          </a:p>
          <a:p>
            <a:r>
              <a:rPr sz="2800" dirty="0"/>
              <a:t>- Collective </a:t>
            </a:r>
            <a:r>
              <a:rPr sz="2800" dirty="0" err="1"/>
              <a:t>defence</a:t>
            </a:r>
            <a:endParaRPr sz="2800" dirty="0"/>
          </a:p>
          <a:p>
            <a:r>
              <a:rPr sz="2800" dirty="0"/>
              <a:t>- Military deterrence</a:t>
            </a:r>
          </a:p>
          <a:p>
            <a:r>
              <a:rPr sz="2800" dirty="0"/>
              <a:t>- US leadership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Contemporary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Tension between sovereignty and integration</a:t>
            </a:r>
          </a:p>
          <a:p>
            <a:r>
              <a:rPr dirty="0"/>
              <a:t>Fragmentation of </a:t>
            </a:r>
            <a:r>
              <a:rPr dirty="0" err="1"/>
              <a:t>defence</a:t>
            </a:r>
            <a:r>
              <a:rPr dirty="0"/>
              <a:t> capabilities</a:t>
            </a:r>
          </a:p>
          <a:p>
            <a:r>
              <a:rPr dirty="0"/>
              <a:t>Dependence on NATO and US</a:t>
            </a:r>
          </a:p>
          <a:p>
            <a:r>
              <a:rPr dirty="0"/>
              <a:t>Divergent strategic </a:t>
            </a:r>
            <a:r>
              <a:rPr dirty="0" smtClean="0"/>
              <a:t>cultures</a:t>
            </a:r>
            <a:r>
              <a:rPr lang="es-ES" dirty="0" smtClean="0"/>
              <a:t> and </a:t>
            </a:r>
            <a:r>
              <a:rPr lang="es-ES" dirty="0" err="1" smtClean="0"/>
              <a:t>different</a:t>
            </a:r>
            <a:r>
              <a:rPr lang="es-ES" dirty="0" smtClean="0"/>
              <a:t> </a:t>
            </a:r>
            <a:r>
              <a:rPr lang="es-ES" dirty="0" err="1" smtClean="0"/>
              <a:t>threat</a:t>
            </a:r>
            <a:r>
              <a:rPr lang="es-ES" dirty="0" smtClean="0"/>
              <a:t> </a:t>
            </a:r>
            <a:r>
              <a:rPr lang="es-ES" dirty="0" err="1" smtClean="0"/>
              <a:t>perceptions</a:t>
            </a:r>
            <a:r>
              <a:rPr lang="es-ES" dirty="0" smtClean="0"/>
              <a:t> </a:t>
            </a:r>
            <a:r>
              <a:rPr lang="es-ES" dirty="0" err="1" smtClean="0"/>
              <a:t>among</a:t>
            </a:r>
            <a:r>
              <a:rPr lang="es-ES" dirty="0" smtClean="0"/>
              <a:t> </a:t>
            </a:r>
            <a:r>
              <a:rPr lang="es-ES" dirty="0" err="1" smtClean="0"/>
              <a:t>members</a:t>
            </a:r>
            <a:r>
              <a:rPr lang="es-ES" dirty="0" smtClean="0"/>
              <a:t> (</a:t>
            </a:r>
            <a:r>
              <a:rPr lang="es-ES" dirty="0" err="1" smtClean="0"/>
              <a:t>for</a:t>
            </a:r>
            <a:r>
              <a:rPr lang="es-ES" dirty="0" smtClean="0"/>
              <a:t> </a:t>
            </a:r>
            <a:r>
              <a:rPr lang="es-ES" dirty="0" err="1" smtClean="0"/>
              <a:t>example</a:t>
            </a:r>
            <a:r>
              <a:rPr lang="es-ES" dirty="0" smtClean="0"/>
              <a:t> East, North, South)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Contemporary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Tension between sovereignty and integration</a:t>
            </a:r>
          </a:p>
          <a:p>
            <a:r>
              <a:rPr dirty="0"/>
              <a:t>Fragmentation of </a:t>
            </a:r>
            <a:r>
              <a:rPr dirty="0" err="1"/>
              <a:t>defence</a:t>
            </a:r>
            <a:r>
              <a:rPr dirty="0"/>
              <a:t> capabilities</a:t>
            </a:r>
          </a:p>
          <a:p>
            <a:r>
              <a:rPr dirty="0"/>
              <a:t>Dependence on NATO and US</a:t>
            </a:r>
          </a:p>
          <a:p>
            <a:r>
              <a:rPr dirty="0"/>
              <a:t>Divergent strategic </a:t>
            </a:r>
            <a:r>
              <a:rPr dirty="0" smtClean="0"/>
              <a:t>cultures</a:t>
            </a:r>
            <a:r>
              <a:rPr lang="es-ES" dirty="0" smtClean="0"/>
              <a:t> and </a:t>
            </a:r>
            <a:r>
              <a:rPr lang="es-ES" dirty="0" err="1" smtClean="0"/>
              <a:t>different</a:t>
            </a:r>
            <a:r>
              <a:rPr lang="es-ES" dirty="0" smtClean="0"/>
              <a:t> </a:t>
            </a:r>
            <a:r>
              <a:rPr lang="es-ES" dirty="0" err="1" smtClean="0"/>
              <a:t>threat</a:t>
            </a:r>
            <a:r>
              <a:rPr lang="es-ES" dirty="0" smtClean="0"/>
              <a:t> </a:t>
            </a:r>
            <a:r>
              <a:rPr lang="es-ES" dirty="0" err="1" smtClean="0"/>
              <a:t>perceptions</a:t>
            </a:r>
            <a:r>
              <a:rPr lang="es-ES" dirty="0" smtClean="0"/>
              <a:t> </a:t>
            </a:r>
            <a:r>
              <a:rPr lang="es-ES" dirty="0" err="1" smtClean="0"/>
              <a:t>among</a:t>
            </a:r>
            <a:r>
              <a:rPr lang="es-ES" dirty="0" smtClean="0"/>
              <a:t> </a:t>
            </a:r>
            <a:r>
              <a:rPr lang="es-ES" dirty="0" err="1" smtClean="0"/>
              <a:t>members</a:t>
            </a:r>
            <a:r>
              <a:rPr lang="es-ES" dirty="0" smtClean="0"/>
              <a:t> (</a:t>
            </a:r>
            <a:r>
              <a:rPr lang="es-ES" dirty="0" err="1" smtClean="0"/>
              <a:t>for</a:t>
            </a:r>
            <a:r>
              <a:rPr lang="es-ES" dirty="0" smtClean="0"/>
              <a:t> </a:t>
            </a:r>
            <a:r>
              <a:rPr lang="es-ES" dirty="0" err="1" smtClean="0"/>
              <a:t>example</a:t>
            </a:r>
            <a:r>
              <a:rPr lang="es-ES" dirty="0" smtClean="0"/>
              <a:t> East, North, South)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6453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7. </a:t>
            </a:r>
            <a:r>
              <a:rPr dirty="0" smtClean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European </a:t>
            </a:r>
            <a:r>
              <a:rPr lang="en-US" dirty="0" err="1"/>
              <a:t>defence</a:t>
            </a:r>
            <a:r>
              <a:rPr lang="en-US" dirty="0"/>
              <a:t> project has evolved from a </a:t>
            </a:r>
            <a:r>
              <a:rPr lang="en-US" b="1" dirty="0"/>
              <a:t>failed supranational army in the </a:t>
            </a:r>
            <a:r>
              <a:rPr lang="en-US" b="1" dirty="0" smtClean="0"/>
              <a:t>1950s (EDC)</a:t>
            </a:r>
            <a:r>
              <a:rPr lang="en-US" dirty="0" smtClean="0"/>
              <a:t> </a:t>
            </a:r>
            <a:r>
              <a:rPr lang="en-US" dirty="0"/>
              <a:t>to a </a:t>
            </a:r>
            <a:r>
              <a:rPr lang="en-US" b="1" dirty="0"/>
              <a:t>complex, multi-layered system of cooperation today</a:t>
            </a:r>
            <a:r>
              <a:rPr lang="en-US" dirty="0"/>
              <a:t>. While significant progress has been made—especially since 2016—the EU still faces structural challenges that prevent it from becoming a fully unified </a:t>
            </a:r>
            <a:r>
              <a:rPr lang="en-US" dirty="0" err="1"/>
              <a:t>defence</a:t>
            </a:r>
            <a:r>
              <a:rPr lang="en-US" dirty="0"/>
              <a:t> actor.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428</Words>
  <Application>Microsoft Office PowerPoint</Application>
  <PresentationFormat>On-screen Show (4:3)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The Evolution of European Defence Integration</vt:lpstr>
      <vt:lpstr>1. The European Defence Community (1950–1954)</vt:lpstr>
      <vt:lpstr>2. Cold War Period (1954-1990)</vt:lpstr>
      <vt:lpstr>3. Post-Cold War Revival (1990s-2000s)</vt:lpstr>
      <vt:lpstr>4. Institutionalization: CSDP (2003)</vt:lpstr>
      <vt:lpstr>5. Stagnation and Fragmentation (2000s–mid-2010s)</vt:lpstr>
      <vt:lpstr>5. Defence Renaissance (Post-2016)</vt:lpstr>
      <vt:lpstr>5. Recent Developments (2020s)</vt:lpstr>
      <vt:lpstr>EU vs NATO Roles</vt:lpstr>
      <vt:lpstr>6. Contemporary Challenges</vt:lpstr>
      <vt:lpstr>6. Contemporary Challenges</vt:lpstr>
      <vt:lpstr>7. 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European Defence Integration</dc:title>
  <dc:subject/>
  <dc:creator/>
  <cp:keywords/>
  <dc:description>generated using python-pptx</dc:description>
  <cp:lastModifiedBy>Don Patx</cp:lastModifiedBy>
  <cp:revision>4</cp:revision>
  <dcterms:created xsi:type="dcterms:W3CDTF">2013-01-27T09:14:16Z</dcterms:created>
  <dcterms:modified xsi:type="dcterms:W3CDTF">2026-05-03T13:42:14Z</dcterms:modified>
  <cp:category/>
</cp:coreProperties>
</file>
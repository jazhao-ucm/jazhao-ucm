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93477" r:id="rId4"/>
    <p:sldMasterId id="2147493467" r:id="rId5"/>
    <p:sldMasterId id="2147493484" r:id="rId6"/>
  </p:sldMasterIdLst>
  <p:notesMasterIdLst>
    <p:notesMasterId r:id="rId19"/>
  </p:notesMasterIdLst>
  <p:handoutMasterIdLst>
    <p:handoutMasterId r:id="rId20"/>
  </p:handoutMasterIdLst>
  <p:sldIdLst>
    <p:sldId id="484" r:id="rId7"/>
    <p:sldId id="488" r:id="rId8"/>
    <p:sldId id="468" r:id="rId9"/>
    <p:sldId id="469" r:id="rId10"/>
    <p:sldId id="471" r:id="rId11"/>
    <p:sldId id="516" r:id="rId12"/>
    <p:sldId id="517" r:id="rId13"/>
    <p:sldId id="518" r:id="rId14"/>
    <p:sldId id="442" r:id="rId15"/>
    <p:sldId id="430" r:id="rId16"/>
    <p:sldId id="448" r:id="rId17"/>
    <p:sldId id="283" r:id="rId18"/>
  </p:sldIdLst>
  <p:sldSz cx="9144000" cy="5715000" type="screen16x1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23" userDrawn="1">
          <p15:clr>
            <a:srgbClr val="A4A3A4"/>
          </p15:clr>
        </p15:guide>
        <p15:guide id="2" pos="285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2132F"/>
    <a:srgbClr val="C2002F"/>
    <a:srgbClr val="954B2E"/>
    <a:srgbClr val="5DB675"/>
    <a:srgbClr val="54C9E8"/>
    <a:srgbClr val="4E748B"/>
    <a:srgbClr val="DA88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Estilo medio 2 - Énfasis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Estilo medio 2 - Énfasis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Estilo medio 2 - Énfasis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Estilo medio 2 - Énfasis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12" autoAdjust="0"/>
  </p:normalViewPr>
  <p:slideViewPr>
    <p:cSldViewPr snapToGrid="0" snapToObjects="1">
      <p:cViewPr varScale="1">
        <p:scale>
          <a:sx n="115" d="100"/>
          <a:sy n="115" d="100"/>
        </p:scale>
        <p:origin x="2868" y="102"/>
      </p:cViewPr>
      <p:guideLst>
        <p:guide orient="horz" pos="1823"/>
        <p:guide pos="285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notesViewPr>
    <p:cSldViewPr snapToGrid="0" snapToObjects="1">
      <p:cViewPr varScale="1">
        <p:scale>
          <a:sx n="71" d="100"/>
          <a:sy n="71" d="100"/>
        </p:scale>
        <p:origin x="-2568" y="-12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theme" Target="theme/theme1.xml"/><Relationship Id="rId10" Type="http://schemas.openxmlformats.org/officeDocument/2006/relationships/slide" Target="slides/slide4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3DB9FF-BB64-2F42-B8F7-1FE6D7583CB0}" type="datetimeFigureOut">
              <a:rPr lang="es-ES" smtClean="0"/>
              <a:t>16/03/2026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AC919D-AA85-5C4C-9C99-256A1FD95CD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0175928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FCBCD8-9E43-714C-9487-C9A5DB7625BC}" type="datetimeFigureOut">
              <a:rPr lang="es-ES" smtClean="0"/>
              <a:t>16/03/2026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BE27E5-C792-C749-93C5-0958009CB15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876426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8877E01-4A36-4A7E-AAB3-B28FE7C5CE1B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494244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8877E01-4A36-4A7E-AAB3-B28FE7C5CE1B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672071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55734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197021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848214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5127F4D-8956-4250-939D-E5BF068EF581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153401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/>
          <p:nvPr userDrawn="1"/>
        </p:nvSpPr>
        <p:spPr>
          <a:xfrm>
            <a:off x="0" y="0"/>
            <a:ext cx="9144000" cy="4508500"/>
          </a:xfrm>
          <a:prstGeom prst="rect">
            <a:avLst/>
          </a:prstGeom>
          <a:solidFill>
            <a:srgbClr val="C2002F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40000" tIns="1440000" rIns="1440000" bIns="1440000" rtlCol="0" anchor="ctr"/>
          <a:lstStyle/>
          <a:p>
            <a:pPr algn="ctr"/>
            <a:endParaRPr lang="es-ES" dirty="0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10"/>
          </p:nvPr>
        </p:nvSpPr>
        <p:spPr>
          <a:xfrm>
            <a:off x="812800" y="952500"/>
            <a:ext cx="4013200" cy="2667000"/>
          </a:xfrm>
          <a:prstGeom prst="rect">
            <a:avLst/>
          </a:prstGeom>
        </p:spPr>
        <p:txBody>
          <a:bodyPr vert="horz"/>
          <a:lstStyle>
            <a:lvl1pPr marL="0" indent="0">
              <a:buFontTx/>
              <a:buNone/>
              <a:defRPr sz="4000" baseline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indent="0">
              <a:buFontTx/>
              <a:buNone/>
              <a:defRPr sz="4000" baseline="0">
                <a:latin typeface="Roboto Thin"/>
              </a:defRPr>
            </a:lvl2pPr>
            <a:lvl3pPr marL="914400" indent="0">
              <a:buFontTx/>
              <a:buNone/>
              <a:defRPr sz="4000" baseline="0">
                <a:latin typeface="Roboto Thin"/>
              </a:defRPr>
            </a:lvl3pPr>
            <a:lvl4pPr marL="1371600" indent="0">
              <a:buFontTx/>
              <a:buNone/>
              <a:defRPr sz="4000" baseline="0">
                <a:latin typeface="Roboto Thin"/>
              </a:defRPr>
            </a:lvl4pPr>
            <a:lvl5pPr marL="1828800" indent="0">
              <a:buFontTx/>
              <a:buNone/>
              <a:defRPr sz="4000" baseline="0">
                <a:latin typeface="Roboto Thin"/>
              </a:defRPr>
            </a:lvl5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9700732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texto 4"/>
          <p:cNvSpPr>
            <a:spLocks noGrp="1"/>
          </p:cNvSpPr>
          <p:nvPr>
            <p:ph type="body" sz="quarter" idx="10"/>
          </p:nvPr>
        </p:nvSpPr>
        <p:spPr>
          <a:xfrm>
            <a:off x="4635500" y="1409700"/>
            <a:ext cx="4013200" cy="1409700"/>
          </a:xfrm>
          <a:prstGeom prst="rect">
            <a:avLst/>
          </a:prstGeom>
        </p:spPr>
        <p:txBody>
          <a:bodyPr vert="horz"/>
          <a:lstStyle>
            <a:lvl1pPr marL="0" indent="0">
              <a:buFontTx/>
              <a:buNone/>
              <a:defRPr sz="4000" baseline="0">
                <a:latin typeface="Arial" charset="0"/>
                <a:ea typeface="Arial" charset="0"/>
                <a:cs typeface="Arial" charset="0"/>
              </a:defRPr>
            </a:lvl1pPr>
            <a:lvl2pPr marL="457200" indent="0">
              <a:buFontTx/>
              <a:buNone/>
              <a:defRPr sz="4000" baseline="0">
                <a:latin typeface="Roboto Thin"/>
              </a:defRPr>
            </a:lvl2pPr>
            <a:lvl3pPr marL="914400" indent="0">
              <a:buFontTx/>
              <a:buNone/>
              <a:defRPr sz="4000" baseline="0">
                <a:latin typeface="Roboto Thin"/>
              </a:defRPr>
            </a:lvl3pPr>
            <a:lvl4pPr marL="1371600" indent="0">
              <a:buFontTx/>
              <a:buNone/>
              <a:defRPr sz="4000" baseline="0">
                <a:latin typeface="Roboto Thin"/>
              </a:defRPr>
            </a:lvl4pPr>
            <a:lvl5pPr marL="1828800" indent="0">
              <a:buFontTx/>
              <a:buNone/>
              <a:defRPr sz="4000" baseline="0">
                <a:latin typeface="Roboto Thin"/>
              </a:defRPr>
            </a:lvl5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texto 4"/>
          <p:cNvSpPr>
            <a:spLocks noGrp="1"/>
          </p:cNvSpPr>
          <p:nvPr>
            <p:ph type="body" sz="quarter" idx="11" hasCustomPrompt="1"/>
          </p:nvPr>
        </p:nvSpPr>
        <p:spPr>
          <a:xfrm>
            <a:off x="4635500" y="2971800"/>
            <a:ext cx="4013200" cy="711200"/>
          </a:xfrm>
          <a:prstGeom prst="rect">
            <a:avLst/>
          </a:prstGeom>
        </p:spPr>
        <p:txBody>
          <a:bodyPr vert="horz"/>
          <a:lstStyle>
            <a:lvl1pPr marL="0" indent="0">
              <a:buFontTx/>
              <a:buNone/>
              <a:defRPr sz="2800" baseline="0">
                <a:solidFill>
                  <a:srgbClr val="C2002F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indent="0">
              <a:buFontTx/>
              <a:buNone/>
              <a:defRPr sz="4000" baseline="0">
                <a:latin typeface="Roboto Thin"/>
              </a:defRPr>
            </a:lvl2pPr>
            <a:lvl3pPr marL="914400" indent="0">
              <a:buFontTx/>
              <a:buNone/>
              <a:defRPr sz="4000" baseline="0">
                <a:latin typeface="Roboto Thin"/>
              </a:defRPr>
            </a:lvl3pPr>
            <a:lvl4pPr marL="1371600" indent="0">
              <a:buFontTx/>
              <a:buNone/>
              <a:defRPr sz="4000" baseline="0">
                <a:latin typeface="Roboto Thin"/>
              </a:defRPr>
            </a:lvl4pPr>
            <a:lvl5pPr marL="1828800" indent="0">
              <a:buFontTx/>
              <a:buNone/>
              <a:defRPr sz="4000" baseline="0">
                <a:latin typeface="Roboto Thin"/>
              </a:defRPr>
            </a:lvl5pPr>
          </a:lstStyle>
          <a:p>
            <a:pPr lvl="0"/>
            <a:r>
              <a:rPr lang="es-ES_tradnl" dirty="0"/>
              <a:t>2015</a:t>
            </a:r>
          </a:p>
        </p:txBody>
      </p:sp>
    </p:spTree>
    <p:extLst>
      <p:ext uri="{BB962C8B-B14F-4D97-AF65-F5344CB8AC3E}">
        <p14:creationId xmlns:p14="http://schemas.microsoft.com/office/powerpoint/2010/main" val="16222460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72175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s-ES_tradnl" dirty="0"/>
              <a:t>Clic para editar título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457200" y="1333500"/>
            <a:ext cx="8229600" cy="3567298"/>
          </a:xfrm>
        </p:spPr>
        <p:txBody>
          <a:bodyPr/>
          <a:lstStyle>
            <a:lvl1pPr>
              <a:defRPr>
                <a:latin typeface="Arial" charset="0"/>
                <a:ea typeface="Arial" charset="0"/>
                <a:cs typeface="Arial" charset="0"/>
              </a:defRPr>
            </a:lvl1pPr>
            <a:lvl2pPr>
              <a:defRPr>
                <a:latin typeface="Arial" charset="0"/>
                <a:ea typeface="Arial" charset="0"/>
                <a:cs typeface="Arial" charset="0"/>
              </a:defRPr>
            </a:lvl2pPr>
            <a:lvl3pPr>
              <a:defRPr>
                <a:latin typeface="Arial" charset="0"/>
                <a:ea typeface="Arial" charset="0"/>
                <a:cs typeface="Arial" charset="0"/>
              </a:defRPr>
            </a:lvl3pPr>
            <a:lvl4pPr>
              <a:defRPr>
                <a:latin typeface="Arial" charset="0"/>
                <a:ea typeface="Arial" charset="0"/>
                <a:cs typeface="Arial" charset="0"/>
              </a:defRPr>
            </a:lvl4pPr>
            <a:lvl5pPr>
              <a:defRPr>
                <a:latin typeface="Arial" charset="0"/>
                <a:ea typeface="Arial" charset="0"/>
                <a:cs typeface="Arial" charset="0"/>
              </a:defRPr>
            </a:lvl5pPr>
          </a:lstStyle>
          <a:p>
            <a:pPr lvl="0"/>
            <a:r>
              <a:rPr lang="es-ES_tradnl" dirty="0"/>
              <a:t>Haga clic para modificar el estilo de texto del patrón</a:t>
            </a:r>
          </a:p>
          <a:p>
            <a:pPr lvl="1"/>
            <a:r>
              <a:rPr lang="es-ES_tradnl" dirty="0"/>
              <a:t>Segundo nivel</a:t>
            </a:r>
          </a:p>
          <a:p>
            <a:pPr lvl="2"/>
            <a:r>
              <a:rPr lang="es-ES_tradnl" dirty="0"/>
              <a:t>Tercer nivel</a:t>
            </a:r>
          </a:p>
          <a:p>
            <a:pPr lvl="3"/>
            <a:r>
              <a:rPr lang="es-ES_tradnl" dirty="0"/>
              <a:t>Cuarto nivel</a:t>
            </a:r>
          </a:p>
          <a:p>
            <a:pPr lvl="4"/>
            <a:r>
              <a:rPr lang="es-ES_tradnl" dirty="0"/>
              <a:t>Quinto nivel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8134549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03504" y="266700"/>
            <a:ext cx="2743200" cy="266700"/>
          </a:xfrm>
        </p:spPr>
        <p:txBody>
          <a:bodyPr/>
          <a:lstStyle/>
          <a:p>
            <a:fld id="{48A87A34-81AB-432B-8DAE-1953F412C126}" type="datetimeFigureOut">
              <a:rPr lang="en-US" smtClean="0"/>
              <a:pPr/>
              <a:t>3/16/2026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03504" y="5189220"/>
            <a:ext cx="7941564" cy="2667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852410" y="266700"/>
            <a:ext cx="685800" cy="266700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28436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501512" y="207812"/>
            <a:ext cx="8123396" cy="1225021"/>
          </a:xfrm>
        </p:spPr>
        <p:txBody>
          <a:bodyPr>
            <a:normAutofit/>
          </a:bodyPr>
          <a:lstStyle>
            <a:lvl1pPr>
              <a:defRPr sz="2800"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s-ES_tradnl" dirty="0"/>
              <a:t>Clic para editar título</a:t>
            </a:r>
            <a:endParaRPr lang="es-ES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501512" y="1609081"/>
            <a:ext cx="8123396" cy="1290638"/>
          </a:xfrm>
        </p:spPr>
        <p:txBody>
          <a:bodyPr/>
          <a:lstStyle>
            <a:lvl1pPr marL="342900" indent="-342900" algn="l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742950" indent="-285750" algn="l">
              <a:buFont typeface="Wingdings" panose="05000000000000000000" pitchFamily="2" charset="2"/>
              <a:buChar char="§"/>
              <a:defRPr baseline="0">
                <a:solidFill>
                  <a:schemeClr val="tx1"/>
                </a:solidFill>
              </a:defRPr>
            </a:lvl2pPr>
            <a:lvl3pPr marL="1200150" indent="-285750" algn="l">
              <a:buFont typeface="Arial" panose="020B0604020202020204" pitchFamily="34" charset="0"/>
              <a:buChar char="•"/>
              <a:defRPr baseline="0">
                <a:solidFill>
                  <a:schemeClr val="tx1"/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 dirty="0"/>
              <a:t>Haga clic para modificar el estilo de subtítulo del patrón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2993417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s-ES_tradnl" dirty="0"/>
              <a:t>Clic para editar título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457200" y="1333500"/>
            <a:ext cx="8229600" cy="3567298"/>
          </a:xfrm>
        </p:spPr>
        <p:txBody>
          <a:bodyPr/>
          <a:lstStyle>
            <a:lvl1pPr>
              <a:defRPr>
                <a:latin typeface="Arial" charset="0"/>
                <a:ea typeface="Arial" charset="0"/>
                <a:cs typeface="Arial" charset="0"/>
              </a:defRPr>
            </a:lvl1pPr>
            <a:lvl2pPr>
              <a:defRPr>
                <a:latin typeface="Arial" charset="0"/>
                <a:ea typeface="Arial" charset="0"/>
                <a:cs typeface="Arial" charset="0"/>
              </a:defRPr>
            </a:lvl2pPr>
            <a:lvl3pPr>
              <a:defRPr>
                <a:latin typeface="Arial" charset="0"/>
                <a:ea typeface="Arial" charset="0"/>
                <a:cs typeface="Arial" charset="0"/>
              </a:defRPr>
            </a:lvl3pPr>
            <a:lvl4pPr>
              <a:defRPr>
                <a:latin typeface="Arial" charset="0"/>
                <a:ea typeface="Arial" charset="0"/>
                <a:cs typeface="Arial" charset="0"/>
              </a:defRPr>
            </a:lvl4pPr>
            <a:lvl5pPr>
              <a:defRPr>
                <a:latin typeface="Arial" charset="0"/>
                <a:ea typeface="Arial" charset="0"/>
                <a:cs typeface="Arial" charset="0"/>
              </a:defRPr>
            </a:lvl5pPr>
          </a:lstStyle>
          <a:p>
            <a:pPr lvl="0"/>
            <a:r>
              <a:rPr lang="es-ES_tradnl" dirty="0"/>
              <a:t>Haga clic para modificar el estilo de texto del patrón</a:t>
            </a:r>
          </a:p>
          <a:p>
            <a:pPr lvl="1"/>
            <a:r>
              <a:rPr lang="es-ES_tradnl" dirty="0"/>
              <a:t>Segundo nivel</a:t>
            </a:r>
          </a:p>
          <a:p>
            <a:pPr lvl="2"/>
            <a:r>
              <a:rPr lang="es-ES_tradnl" dirty="0"/>
              <a:t>Tercer nivel</a:t>
            </a:r>
          </a:p>
          <a:p>
            <a:pPr lvl="3"/>
            <a:r>
              <a:rPr lang="es-ES_tradnl" dirty="0"/>
              <a:t>Cuarto nivel</a:t>
            </a:r>
          </a:p>
          <a:p>
            <a:pPr lvl="4"/>
            <a:r>
              <a:rPr lang="es-ES_tradnl" dirty="0"/>
              <a:t>Quinto nivel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0369305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69125" y="528529"/>
            <a:ext cx="3993974" cy="633377"/>
          </a:xfrm>
        </p:spPr>
        <p:txBody>
          <a:bodyPr anchor="b"/>
          <a:lstStyle>
            <a:lvl1pPr algn="l">
              <a:defRPr sz="2000" b="0" i="0"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s-ES_tradnl" dirty="0"/>
              <a:t>Clic para editar título</a:t>
            </a:r>
            <a:endParaRPr lang="es-ES" dirty="0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4572000" y="16475"/>
            <a:ext cx="4572000" cy="500513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_tradnl" dirty="0"/>
              <a:t>Arrastre la imagen al marcador de posición o haga clic en el icono para agregar</a:t>
            </a:r>
            <a:endParaRPr lang="es-ES" dirty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369124" y="1440824"/>
            <a:ext cx="3993974" cy="67071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 dirty="0"/>
              <a:t>Haga clic para modificar el estilo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31721640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AB3-B2AB-474C-90B8-7A90B29601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935302"/>
            <a:ext cx="6858000" cy="19896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295061-541F-4788-A35C-8456650CF4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001698"/>
            <a:ext cx="6858000" cy="137980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B5C891-181A-4049-A0CF-CD9F889E14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38747-4367-4BD2-8D51-C97E202738E2}" type="datetime1">
              <a:rPr lang="en-US" smtClean="0"/>
              <a:t>3/16/2026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ED1D59-419D-48AD-A364-6C040E8E6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6E936B-8B44-494F-A96A-B9C96A572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37907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6D46F7-1B02-4182-BA37-B959F876EA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B20129-B498-4BCE-9251-F9DB328D34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B406BE-EBF1-47CC-A94D-BF657EAD6E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55A3C-5767-4844-A0A3-83778C2E5409}" type="datetime1">
              <a:rPr lang="en-US" smtClean="0"/>
              <a:t>3/16/2026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94250F-B5E7-4595-8835-CDDD77FF35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F4AA7-B517-4AB6-A5F4-31152EFA2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61235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BFD5AD-0D72-4C29-BB16-F6799CBEEC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424782"/>
            <a:ext cx="7886700" cy="2377281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2C5D5E-D474-4B23-8E89-2F47EAD3D2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824553"/>
            <a:ext cx="7886700" cy="1250156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02C333-8A58-4C47-885E-B9E3494394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507A8-A5CF-4D38-AB86-7EDDA87A85D4}" type="datetime1">
              <a:rPr lang="en-US" smtClean="0"/>
              <a:t>3/16/2026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125D81-ADC1-4A55-8DCD-6150097903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2526EB-587B-4AA2-A097-D5D663D93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66113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4C60F-7A09-499A-9296-A9693B7AC7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DCB282-6F36-40F9-ADBF-85B11FA543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521354"/>
            <a:ext cx="3886200" cy="362611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283811-F2CA-47EF-91C3-2C98F68BFC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521354"/>
            <a:ext cx="3886200" cy="362611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FF05CD-5DB3-4225-B702-7DB1B634D5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CD27C-8599-43EF-BA1D-14DDC1946E06}" type="datetime1">
              <a:rPr lang="en-US" smtClean="0"/>
              <a:t>3/16/2026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5B3AE8-E255-4244-BC62-4D869E206C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DFD05E-3DCF-4373-9D00-1B8FB7447E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89898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5D5FCA-8030-4D4A-946C-149AF266F9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04271"/>
            <a:ext cx="7886700" cy="110463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C5FB6C-5B5B-4120-9D67-A72EAEB817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400969"/>
            <a:ext cx="3868340" cy="68659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CC806A-5B76-4901-A913-96E1DC48EE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087563"/>
            <a:ext cx="3868340" cy="30704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AF17AF-EE72-4A4A-B0D4-25FBAA3CB8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400969"/>
            <a:ext cx="3887391" cy="68659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129980B-8B2A-47FA-AB33-2E60F6A327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087563"/>
            <a:ext cx="3887391" cy="30704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A658EC8-A2F2-4460-A7E4-ADFAAEFAC0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43D99-809A-49C0-96E5-4250D0B498EE}" type="datetime1">
              <a:rPr lang="en-US" smtClean="0"/>
              <a:t>3/16/2026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17850E9-2A56-4921-9B98-A335D8CFE7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1015276-9526-4D81-B62D-8F42A90032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38806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AF004C-E5C0-4A67-8F6B-1D54170811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383DA3-92A1-4011-85DD-2EC86E258A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3DE9B-B678-4EFB-BB7D-A4370204A0B0}" type="datetime1">
              <a:rPr lang="en-US" smtClean="0"/>
              <a:t>3/16/2026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4408C99-260D-4EC9-B0A2-41E034220E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C06A05-B08D-41C7-8950-DD8C31A14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81604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A7A4D49-89F3-4014-8608-F42BAE2104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812DA-F765-4142-A6A3-A8ED7235E082}" type="datetime1">
              <a:rPr lang="en-US" smtClean="0"/>
              <a:t>3/16/2026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227DAA7-DF07-4362-8FBC-3850FE7E69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8D51C9-D2EA-4744-81BC-B7D483233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49991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6B793B-1220-42E6-AB65-283EC52528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A312F0-CAC7-4700-9112-2A82701F5A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822855"/>
            <a:ext cx="4629150" cy="4061354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D4AC71-DD63-45E6-B605-B7BF0B446A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2E32AC-B453-42E6-A646-89A1A766C1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77FD-7DE6-41D4-930D-AC99F5AFE54E}" type="datetime1">
              <a:rPr lang="en-US" smtClean="0"/>
              <a:t>3/16/2026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AB3B8A-9470-4A3E-B212-E8507B54D8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57FED5-E1B2-4485-A5CA-8AFF87DD6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347663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BFB79-8BDA-420B-B956-96D2F65DF0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C462CA9-FFB7-48DC-8EE1-D75012A6416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822855"/>
            <a:ext cx="4629150" cy="4061354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s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60D2EA-D5AD-4C8A-8828-A7ACF893BF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F629BC-9669-4134-9560-C213FD2136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15526-7079-4B7B-987C-1B5FAE11A0FF}" type="datetime1">
              <a:rPr lang="en-US" smtClean="0"/>
              <a:t>3/16/2026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6DDD9A-96A4-43C6-8660-3C626683E9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2CF3FB-592F-4230-BC80-255E0DADB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724212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F3A7A5-8296-4B08-B0B4-00DDB85AFA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240BBF-56A4-487D-92B1-1AE3201AD4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EDD5A1-6691-4F86-B2F2-6FB3815A06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E833E-1B6D-415F-AD29-75AE8C43BD0D}" type="datetime1">
              <a:rPr lang="en-US" smtClean="0"/>
              <a:t>3/16/2026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BDC761-477A-4637-A6EB-59CD2DAC3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4AB68C-A3F7-41FF-9617-5C59CC324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486392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E11F206-0B20-43DD-AD33-B1EC389919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04271"/>
            <a:ext cx="1971675" cy="48431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7995D3-673D-47BE-B6A1-327CB55136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04271"/>
            <a:ext cx="5800725" cy="484319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E3DF96-5E1A-42CF-B7BD-461CB80C17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2596F-08A7-4B70-989A-F2B1CF31E66B}" type="datetime1">
              <a:rPr lang="en-US" smtClean="0"/>
              <a:t>3/16/2026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B4329D-3637-4DAE-9F0D-BC3C8160EE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52A03D-AFA0-4572-BF22-33B131559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393096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5">
            <a:extLst>
              <a:ext uri="{FF2B5EF4-FFF2-40B4-BE49-F238E27FC236}">
                <a16:creationId xmlns:a16="http://schemas.microsoft.com/office/drawing/2014/main" id="{691D3487-334A-4CB2-A1C4-77F12F6202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07088" y="5296960"/>
            <a:ext cx="2057400" cy="304271"/>
          </a:xfrm>
          <a:prstGeom prst="rect">
            <a:avLst/>
          </a:prstGeom>
        </p:spPr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fld id="{9C267406-4F3A-4C44-A900-7478CAB64A55}" type="slidenum">
              <a:rPr lang="es-ES" smtClean="0"/>
              <a:pPr/>
              <a:t>‹Nº›</a:t>
            </a:fld>
            <a:endParaRPr lang="es-ES" dirty="0"/>
          </a:p>
        </p:txBody>
      </p:sp>
      <p:sp>
        <p:nvSpPr>
          <p:cNvPr id="6" name="Marcador de texto 2">
            <a:extLst>
              <a:ext uri="{FF2B5EF4-FFF2-40B4-BE49-F238E27FC236}">
                <a16:creationId xmlns:a16="http://schemas.microsoft.com/office/drawing/2014/main" id="{160E1C46-10EA-4ADF-BD97-198F4052F5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521354"/>
            <a:ext cx="7886700" cy="36261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Editar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</p:txBody>
      </p:sp>
    </p:spTree>
    <p:extLst>
      <p:ext uri="{BB962C8B-B14F-4D97-AF65-F5344CB8AC3E}">
        <p14:creationId xmlns:p14="http://schemas.microsoft.com/office/powerpoint/2010/main" val="38593032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.jpg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12" Type="http://schemas.openxmlformats.org/officeDocument/2006/relationships/slideLayout" Target="../slideLayouts/slideLayout20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3.xml"/><Relationship Id="rId10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ángulo 11"/>
          <p:cNvSpPr/>
          <p:nvPr/>
        </p:nvSpPr>
        <p:spPr>
          <a:xfrm>
            <a:off x="0" y="4508500"/>
            <a:ext cx="9144000" cy="12065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40000" tIns="1440000" rIns="1440000" bIns="1440000" rtlCol="0" anchor="ctr"/>
          <a:lstStyle/>
          <a:p>
            <a:pPr algn="ctr"/>
            <a:endParaRPr lang="es-ES" dirty="0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84619" y="4746648"/>
            <a:ext cx="2193713" cy="735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80576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93481" r:id="rId1"/>
    <p:sldLayoutId id="2147493480" r:id="rId2"/>
    <p:sldLayoutId id="2147493482" r:id="rId3"/>
    <p:sldLayoutId id="2147493483" r:id="rId4"/>
    <p:sldLayoutId id="2147493591" r:id="rId5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457200" y="228865"/>
            <a:ext cx="8229600" cy="952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_tradnl" dirty="0"/>
              <a:t>Clic para editar título</a:t>
            </a:r>
            <a:endParaRPr lang="es-ES" dirty="0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0" y="1333501"/>
            <a:ext cx="8229600" cy="34686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 dirty="0"/>
              <a:t>Haga clic para modificar el estilo de texto del patrón</a:t>
            </a:r>
          </a:p>
          <a:p>
            <a:pPr lvl="1"/>
            <a:r>
              <a:rPr lang="es-ES_tradnl" dirty="0"/>
              <a:t>Segundo nivel</a:t>
            </a:r>
          </a:p>
          <a:p>
            <a:pPr lvl="2"/>
            <a:r>
              <a:rPr lang="es-ES_tradnl" dirty="0"/>
              <a:t>Tercer nivel</a:t>
            </a:r>
          </a:p>
          <a:p>
            <a:pPr lvl="3"/>
            <a:r>
              <a:rPr lang="es-ES_tradnl" dirty="0"/>
              <a:t>Cuarto nivel</a:t>
            </a:r>
          </a:p>
          <a:p>
            <a:pPr lvl="4"/>
            <a:r>
              <a:rPr lang="es-ES_tradnl" dirty="0"/>
              <a:t>Quinto nivel</a:t>
            </a:r>
            <a:endParaRPr lang="es-ES" dirty="0"/>
          </a:p>
        </p:txBody>
      </p:sp>
      <p:pic>
        <p:nvPicPr>
          <p:cNvPr id="7" name="Imagen 6" descr="banda ok.jpg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034204"/>
            <a:ext cx="9180000" cy="702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65557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93468" r:id="rId1"/>
    <p:sldLayoutId id="2147493469" r:id="rId2"/>
    <p:sldLayoutId id="2147493476" r:id="rId3"/>
  </p:sldLayoutIdLst>
  <p:txStyles>
    <p:titleStyle>
      <a:lvl1pPr algn="l" defTabSz="457200" rtl="0" eaLnBrk="1" latinLnBrk="0" hangingPunct="1">
        <a:spcBef>
          <a:spcPct val="0"/>
        </a:spcBef>
        <a:buNone/>
        <a:defRPr sz="2800" kern="1200">
          <a:solidFill>
            <a:schemeClr val="tx1"/>
          </a:solidFill>
          <a:latin typeface="Arial" charset="0"/>
          <a:ea typeface="Arial" charset="0"/>
          <a:cs typeface="Arial" charset="0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Clr>
          <a:schemeClr val="bg1">
            <a:lumMod val="50000"/>
          </a:schemeClr>
        </a:buClr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latin typeface="Arial" charset="0"/>
          <a:ea typeface="Arial" charset="0"/>
          <a:cs typeface="Arial" charset="0"/>
        </a:defRPr>
      </a:lvl1pPr>
      <a:lvl2pPr marL="742950" indent="-285750" algn="l" defTabSz="457200" rtl="0" eaLnBrk="1" latinLnBrk="0" hangingPunct="1">
        <a:spcBef>
          <a:spcPct val="20000"/>
        </a:spcBef>
        <a:buClr>
          <a:schemeClr val="bg1">
            <a:lumMod val="50000"/>
          </a:schemeClr>
        </a:buClr>
        <a:buFont typeface="Wingdings" panose="05000000000000000000" pitchFamily="2" charset="2"/>
        <a:buChar char="§"/>
        <a:defRPr sz="1600" kern="1200" baseline="0">
          <a:solidFill>
            <a:schemeClr val="tx1"/>
          </a:solidFill>
          <a:latin typeface="Arial" charset="0"/>
          <a:ea typeface="Arial" charset="0"/>
          <a:cs typeface="Arial" charset="0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 baseline="0">
          <a:solidFill>
            <a:schemeClr val="tx1"/>
          </a:solidFill>
          <a:latin typeface="Arial" charset="0"/>
          <a:ea typeface="Arial" charset="0"/>
          <a:cs typeface="Arial" charset="0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400" kern="1200">
          <a:solidFill>
            <a:schemeClr val="tx1"/>
          </a:solidFill>
          <a:latin typeface="Arial" charset="0"/>
          <a:ea typeface="Arial" charset="0"/>
          <a:cs typeface="Arial" charset="0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400" kern="1200">
          <a:solidFill>
            <a:schemeClr val="tx1"/>
          </a:solidFill>
          <a:latin typeface="Arial" charset="0"/>
          <a:ea typeface="Arial" charset="0"/>
          <a:cs typeface="Arial" charset="0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737BEBF-9BC8-47A7-9F23-365BAB7EAD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04271"/>
            <a:ext cx="7886700" cy="11046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89F607-51F2-452A-8EE0-44DE385309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521354"/>
            <a:ext cx="7886700" cy="36261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98E7E3-526D-4166-9C58-E081F49BD4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5296959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3ED0CC-082F-4160-86E5-0D6041F12778}" type="datetime1">
              <a:rPr lang="en-US" smtClean="0"/>
              <a:t>3/16/2026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4FA2F9-8E8D-4330-9089-9131011626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5296959"/>
            <a:ext cx="30861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E96E4C-663E-4AA7-BF9A-4880309B8B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5296959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34049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93485" r:id="rId1"/>
    <p:sldLayoutId id="2147493486" r:id="rId2"/>
    <p:sldLayoutId id="2147493487" r:id="rId3"/>
    <p:sldLayoutId id="2147493488" r:id="rId4"/>
    <p:sldLayoutId id="2147493489" r:id="rId5"/>
    <p:sldLayoutId id="2147493490" r:id="rId6"/>
    <p:sldLayoutId id="2147493491" r:id="rId7"/>
    <p:sldLayoutId id="2147493492" r:id="rId8"/>
    <p:sldLayoutId id="2147493493" r:id="rId9"/>
    <p:sldLayoutId id="2147493494" r:id="rId10"/>
    <p:sldLayoutId id="2147493495" r:id="rId11"/>
    <p:sldLayoutId id="2147493592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368AA3-4B62-4137-B69B-7311395AE7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6C4A7B6-44BF-44E6-9FB5-F3EA68CAC0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8DAC9C6C-0BA7-4F59-B18F-8C9A20E959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9144000" cy="5424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455BE431-A0DB-414E-9CED-5CCF3C1D9F14}"/>
              </a:ext>
            </a:extLst>
          </p:cNvPr>
          <p:cNvSpPr/>
          <p:nvPr/>
        </p:nvSpPr>
        <p:spPr>
          <a:xfrm>
            <a:off x="134644" y="401415"/>
            <a:ext cx="2608556" cy="26633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B1E56604-60A5-43C0-8F6C-CAE42426FC63}"/>
              </a:ext>
            </a:extLst>
          </p:cNvPr>
          <p:cNvSpPr/>
          <p:nvPr/>
        </p:nvSpPr>
        <p:spPr>
          <a:xfrm>
            <a:off x="6667130" y="412511"/>
            <a:ext cx="2476870" cy="3154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2858005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86F26E-8683-4350-AA61-B08263F7A2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CE2EA72-2D9F-4B35-A856-5BC127D524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17586"/>
            <a:ext cx="8229600" cy="3567298"/>
          </a:xfrm>
        </p:spPr>
        <p:txBody>
          <a:bodyPr/>
          <a:lstStyle/>
          <a:p>
            <a:r>
              <a:rPr lang="en-US" dirty="0"/>
              <a:t>Looking over the horizon, China will overtake the US and become the world's largest economy around 2035 with India overtaking the US around 2075.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9802067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3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D57EC6A8-E1AA-42F4-B18A-9C55E397FB78}"/>
              </a:ext>
            </a:extLst>
          </p:cNvPr>
          <p:cNvSpPr txBox="1">
            <a:spLocks/>
          </p:cNvSpPr>
          <p:nvPr/>
        </p:nvSpPr>
        <p:spPr>
          <a:xfrm>
            <a:off x="628650" y="2360414"/>
            <a:ext cx="7886700" cy="994172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685800"/>
            <a:r>
              <a:rPr lang="en-US" sz="2700" b="1" dirty="0">
                <a:solidFill>
                  <a:prstClr val="white"/>
                </a:solidFill>
                <a:latin typeface="Lato" panose="020F0502020204030203" pitchFamily="34" charset="0"/>
              </a:rPr>
              <a:t>From the G7 to the G20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AF0C96D0-368B-47CA-B0C9-D99EA05E1EEE}"/>
              </a:ext>
            </a:extLst>
          </p:cNvPr>
          <p:cNvSpPr/>
          <p:nvPr/>
        </p:nvSpPr>
        <p:spPr>
          <a:xfrm>
            <a:off x="-8792" y="5599019"/>
            <a:ext cx="9144000" cy="115981"/>
          </a:xfrm>
          <a:prstGeom prst="rect">
            <a:avLst/>
          </a:prstGeom>
          <a:solidFill>
            <a:srgbClr val="C2132F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s-ES" sz="1350" dirty="0">
              <a:solidFill>
                <a:prstClr val="white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8322864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BC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D57EC6A8-E1AA-42F4-B18A-9C55E397FB78}"/>
              </a:ext>
            </a:extLst>
          </p:cNvPr>
          <p:cNvSpPr txBox="1">
            <a:spLocks/>
          </p:cNvSpPr>
          <p:nvPr/>
        </p:nvSpPr>
        <p:spPr>
          <a:xfrm>
            <a:off x="132202" y="1901812"/>
            <a:ext cx="9011798" cy="1911376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685800">
              <a:lnSpc>
                <a:spcPct val="150000"/>
              </a:lnSpc>
            </a:pPr>
            <a:r>
              <a:rPr lang="en-US" sz="1800" b="1" dirty="0">
                <a:solidFill>
                  <a:prstClr val="white"/>
                </a:solidFill>
                <a:latin typeface="Lato" panose="020F0502020204030203" pitchFamily="34" charset="0"/>
              </a:rPr>
              <a:t>The last quarter of the 20th century saw a massive expansion of formal and informal intergovernmental consultation bodies with a goal of global economic stability. Their origin lay in the small but select informally G7.</a:t>
            </a:r>
            <a:endParaRPr lang="es-ES" sz="1800" b="1" dirty="0">
              <a:solidFill>
                <a:prstClr val="white"/>
              </a:solidFill>
              <a:latin typeface="Lato" panose="020F0502020204030203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5831144-A343-4986-8589-3A98CF7B3CA1}"/>
              </a:ext>
            </a:extLst>
          </p:cNvPr>
          <p:cNvSpPr/>
          <p:nvPr/>
        </p:nvSpPr>
        <p:spPr>
          <a:xfrm>
            <a:off x="0" y="5313269"/>
            <a:ext cx="9144000" cy="115981"/>
          </a:xfrm>
          <a:prstGeom prst="rect">
            <a:avLst/>
          </a:prstGeom>
          <a:solidFill>
            <a:srgbClr val="FBBC31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s-ES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4ABEE003-C2B8-45C8-B6FD-F16C2EAC8E32}"/>
              </a:ext>
            </a:extLst>
          </p:cNvPr>
          <p:cNvSpPr/>
          <p:nvPr/>
        </p:nvSpPr>
        <p:spPr>
          <a:xfrm>
            <a:off x="-8792" y="5599019"/>
            <a:ext cx="9144000" cy="115981"/>
          </a:xfrm>
          <a:prstGeom prst="rect">
            <a:avLst/>
          </a:prstGeom>
          <a:solidFill>
            <a:srgbClr val="C2132F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s-ES" sz="1350" dirty="0">
              <a:solidFill>
                <a:prstClr val="white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6737117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5D6D21-CA66-4C34-8002-BB18B0FB49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A2D99C0A-8BA7-4AD0-980F-B0978C6E21B4}"/>
              </a:ext>
            </a:extLst>
          </p:cNvPr>
          <p:cNvSpPr txBox="1"/>
          <p:nvPr/>
        </p:nvSpPr>
        <p:spPr>
          <a:xfrm>
            <a:off x="454342" y="509885"/>
            <a:ext cx="823531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the G20 is up. It is made up of 19 countries plus the European Union. Together, these countries globally account for 90% of gross national product, 80% of world trade and 75% of the world population. </a:t>
            </a:r>
            <a:endParaRPr lang="es-ES" dirty="0"/>
          </a:p>
        </p:txBody>
      </p:sp>
      <p:pic>
        <p:nvPicPr>
          <p:cNvPr id="5124" name="Picture 4" descr="Qué es el G20? - Chequeado">
            <a:extLst>
              <a:ext uri="{FF2B5EF4-FFF2-40B4-BE49-F238E27FC236}">
                <a16:creationId xmlns:a16="http://schemas.microsoft.com/office/drawing/2014/main" id="{504569BC-1DD5-4BB4-BF12-FF7B306AA5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792287"/>
            <a:ext cx="9144000" cy="3922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5">
            <a:extLst>
              <a:ext uri="{FF2B5EF4-FFF2-40B4-BE49-F238E27FC236}">
                <a16:creationId xmlns:a16="http://schemas.microsoft.com/office/drawing/2014/main" id="{3E5D11B8-3DF0-4819-9D5D-02BB94FDDD90}"/>
              </a:ext>
            </a:extLst>
          </p:cNvPr>
          <p:cNvSpPr/>
          <p:nvPr/>
        </p:nvSpPr>
        <p:spPr>
          <a:xfrm>
            <a:off x="-8792" y="5599019"/>
            <a:ext cx="9144000" cy="115981"/>
          </a:xfrm>
          <a:prstGeom prst="rect">
            <a:avLst/>
          </a:prstGeom>
          <a:solidFill>
            <a:srgbClr val="C2132F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s-ES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732788DB-A9B0-4450-93EB-0377E259B586}"/>
              </a:ext>
            </a:extLst>
          </p:cNvPr>
          <p:cNvSpPr txBox="1"/>
          <p:nvPr/>
        </p:nvSpPr>
        <p:spPr>
          <a:xfrm>
            <a:off x="3358291" y="-163509"/>
            <a:ext cx="6528120" cy="560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200000"/>
              </a:lnSpc>
            </a:pPr>
            <a:r>
              <a:rPr lang="en-GB" sz="1800" b="1" dirty="0">
                <a:latin typeface="Arial" panose="020B0604020202020204" pitchFamily="34" charset="0"/>
                <a:cs typeface="Arial" panose="020B0604020202020204" pitchFamily="34" charset="0"/>
              </a:rPr>
              <a:t>Economic Integration</a:t>
            </a:r>
          </a:p>
        </p:txBody>
      </p:sp>
    </p:spTree>
    <p:extLst>
      <p:ext uri="{BB962C8B-B14F-4D97-AF65-F5344CB8AC3E}">
        <p14:creationId xmlns:p14="http://schemas.microsoft.com/office/powerpoint/2010/main" val="1523013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 idx="4294967295"/>
          </p:nvPr>
        </p:nvSpPr>
        <p:spPr>
          <a:xfrm>
            <a:off x="762000" y="0"/>
            <a:ext cx="7620000" cy="964163"/>
          </a:xfrm>
        </p:spPr>
        <p:txBody>
          <a:bodyPr>
            <a:noAutofit/>
          </a:bodyPr>
          <a:lstStyle/>
          <a:p>
            <a:pPr>
              <a:tabLst>
                <a:tab pos="451097" algn="l"/>
                <a:tab pos="746095" algn="l"/>
              </a:tabLst>
            </a:pPr>
            <a:r>
              <a:rPr lang="en-US" sz="3083" dirty="0">
                <a:solidFill>
                  <a:srgbClr val="C2002F"/>
                </a:solidFill>
              </a:rPr>
              <a:t>Definition and forms of economic integration</a:t>
            </a:r>
            <a:r>
              <a:rPr lang="es-ES" sz="3083" dirty="0">
                <a:solidFill>
                  <a:srgbClr val="C2002F"/>
                </a:solidFill>
              </a:rPr>
              <a:t> 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63791F6-0FE3-4495-8759-44398FA79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267406-4F3A-4C44-A900-7478CAB64A55}" type="slidenum">
              <a:rPr lang="es-ES" smtClean="0"/>
              <a:pPr/>
              <a:t>6</a:t>
            </a:fld>
            <a:endParaRPr lang="es-ES" dirty="0"/>
          </a:p>
        </p:txBody>
      </p:sp>
      <p:sp>
        <p:nvSpPr>
          <p:cNvPr id="7" name="2 Marcador de contenido">
            <a:extLst>
              <a:ext uri="{FF2B5EF4-FFF2-40B4-BE49-F238E27FC236}">
                <a16:creationId xmlns:a16="http://schemas.microsoft.com/office/drawing/2014/main" id="{5ABFF43E-82DC-4CE3-B259-0F9995E3B2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3185" y="1044686"/>
            <a:ext cx="6776443" cy="3750046"/>
          </a:xfrm>
        </p:spPr>
        <p:txBody>
          <a:bodyPr>
            <a:normAutofit/>
          </a:bodyPr>
          <a:lstStyle/>
          <a:p>
            <a:pPr algn="just">
              <a:spcBef>
                <a:spcPts val="0"/>
              </a:spcBef>
              <a:buClr>
                <a:schemeClr val="tx1"/>
              </a:buClr>
            </a:pPr>
            <a:r>
              <a:rPr lang="en-US" b="1" dirty="0">
                <a:solidFill>
                  <a:srgbClr val="C2002F"/>
                </a:solidFill>
              </a:rPr>
              <a:t>Unlike transactions within the same country, international transactions face barriers as a result of:</a:t>
            </a:r>
            <a:endParaRPr lang="es-ES" b="1" dirty="0">
              <a:solidFill>
                <a:srgbClr val="C2002F"/>
              </a:solidFill>
            </a:endParaRPr>
          </a:p>
          <a:p>
            <a:pPr lvl="2" algn="just">
              <a:spcBef>
                <a:spcPts val="1000"/>
              </a:spcBef>
              <a:buFont typeface="Wingdings 3" panose="05040102010807070707" pitchFamily="18" charset="2"/>
              <a:buChar char="_"/>
            </a:pPr>
            <a:r>
              <a:rPr lang="en-US" b="1" dirty="0"/>
              <a:t>Economic borders.</a:t>
            </a:r>
          </a:p>
          <a:p>
            <a:pPr marL="685800" lvl="2" indent="0" algn="just">
              <a:spcBef>
                <a:spcPts val="1000"/>
              </a:spcBef>
              <a:buNone/>
            </a:pPr>
            <a:r>
              <a:rPr lang="en-US" dirty="0"/>
              <a:t>Associated with protectionist policies that discriminate against foreign products in favor of national ones.</a:t>
            </a:r>
          </a:p>
          <a:p>
            <a:pPr lvl="2" algn="just">
              <a:spcBef>
                <a:spcPts val="1000"/>
              </a:spcBef>
              <a:buFont typeface="Wingdings 3" panose="05040102010807070707" pitchFamily="18" charset="2"/>
              <a:buChar char="_"/>
            </a:pPr>
            <a:r>
              <a:rPr lang="en-US" b="1" dirty="0"/>
              <a:t>The diversity of currencies.</a:t>
            </a:r>
          </a:p>
          <a:p>
            <a:pPr marL="685800" lvl="2" indent="0" algn="just">
              <a:spcBef>
                <a:spcPts val="1000"/>
              </a:spcBef>
              <a:buNone/>
            </a:pPr>
            <a:r>
              <a:rPr lang="en-US" dirty="0"/>
              <a:t>Which forces a currency exchange in markets subject to uncertainties and costs.</a:t>
            </a:r>
          </a:p>
          <a:p>
            <a:pPr lvl="2" algn="just">
              <a:spcBef>
                <a:spcPts val="1000"/>
              </a:spcBef>
              <a:buFont typeface="Wingdings 3" panose="05040102010807070707" pitchFamily="18" charset="2"/>
              <a:buChar char="_"/>
            </a:pPr>
            <a:r>
              <a:rPr lang="en-US" b="1" dirty="0"/>
              <a:t>Restrictions on the mobility of factors.</a:t>
            </a:r>
          </a:p>
          <a:p>
            <a:pPr marL="685800" lvl="2" indent="0" algn="just">
              <a:spcBef>
                <a:spcPts val="1000"/>
              </a:spcBef>
              <a:buNone/>
            </a:pPr>
            <a:r>
              <a:rPr lang="en-US" dirty="0"/>
              <a:t>Specific micro and macroeconomic policies for national industries</a:t>
            </a:r>
            <a:endParaRPr lang="es-ES" dirty="0"/>
          </a:p>
        </p:txBody>
      </p:sp>
      <p:sp>
        <p:nvSpPr>
          <p:cNvPr id="8" name="15 Llamada de flecha hacia arriba">
            <a:extLst>
              <a:ext uri="{FF2B5EF4-FFF2-40B4-BE49-F238E27FC236}">
                <a16:creationId xmlns:a16="http://schemas.microsoft.com/office/drawing/2014/main" id="{5793FEF3-13E0-47D1-AC1A-0DF1592F52D5}"/>
              </a:ext>
            </a:extLst>
          </p:cNvPr>
          <p:cNvSpPr/>
          <p:nvPr/>
        </p:nvSpPr>
        <p:spPr>
          <a:xfrm>
            <a:off x="1183779" y="4394556"/>
            <a:ext cx="6974633" cy="616786"/>
          </a:xfrm>
          <a:prstGeom prst="upArrowCallout">
            <a:avLst/>
          </a:prstGeom>
          <a:solidFill>
            <a:srgbClr val="C2002F">
              <a:alpha val="20000"/>
            </a:srgbClr>
          </a:solidFill>
          <a:ln>
            <a:solidFill>
              <a:srgbClr val="C2002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1" algn="ctr"/>
            <a:r>
              <a:rPr lang="en-US" sz="1667" b="1">
                <a:solidFill>
                  <a:srgbClr val="C2002F"/>
                </a:solidFill>
              </a:rPr>
              <a:t>Economic integration aims to eliminate those differential characteristics</a:t>
            </a:r>
            <a:endParaRPr lang="es-ES" sz="1667" b="1" dirty="0">
              <a:solidFill>
                <a:srgbClr val="C2002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7416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 bldLvl="5"/>
      <p:bldP spid="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 idx="4294967295"/>
          </p:nvPr>
        </p:nvSpPr>
        <p:spPr>
          <a:xfrm>
            <a:off x="762000" y="0"/>
            <a:ext cx="7620000" cy="964163"/>
          </a:xfrm>
        </p:spPr>
        <p:txBody>
          <a:bodyPr>
            <a:noAutofit/>
          </a:bodyPr>
          <a:lstStyle/>
          <a:p>
            <a:pPr>
              <a:tabLst>
                <a:tab pos="451097" algn="l"/>
                <a:tab pos="746095" algn="l"/>
              </a:tabLst>
            </a:pPr>
            <a:r>
              <a:rPr lang="en-US" sz="3083" dirty="0">
                <a:solidFill>
                  <a:srgbClr val="C2002F"/>
                </a:solidFill>
              </a:rPr>
              <a:t>Definition and forms of economic integration </a:t>
            </a:r>
            <a:endParaRPr lang="es-ES" sz="3083" dirty="0">
              <a:solidFill>
                <a:srgbClr val="C2002F"/>
              </a:solidFill>
            </a:endParaRP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63791F6-0FE3-4495-8759-44398FA79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267406-4F3A-4C44-A900-7478CAB64A55}" type="slidenum">
              <a:rPr lang="es-ES" smtClean="0"/>
              <a:pPr/>
              <a:t>7</a:t>
            </a:fld>
            <a:endParaRPr lang="es-ES" dirty="0"/>
          </a:p>
        </p:txBody>
      </p:sp>
      <p:graphicFrame>
        <p:nvGraphicFramePr>
          <p:cNvPr id="9" name="3 Marcador de contenido">
            <a:extLst>
              <a:ext uri="{FF2B5EF4-FFF2-40B4-BE49-F238E27FC236}">
                <a16:creationId xmlns:a16="http://schemas.microsoft.com/office/drawing/2014/main" id="{D6A874A1-D2D0-492D-ADF0-6A573541A38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51157836"/>
              </p:ext>
            </p:extLst>
          </p:nvPr>
        </p:nvGraphicFramePr>
        <p:xfrm>
          <a:off x="1157959" y="1861184"/>
          <a:ext cx="6980547" cy="36846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353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451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9033">
                <a:tc>
                  <a:txBody>
                    <a:bodyPr/>
                    <a:lstStyle/>
                    <a:p>
                      <a:pPr algn="ctr"/>
                      <a:r>
                        <a:rPr lang="es-ES" sz="1300" dirty="0"/>
                        <a:t>DENOMINATION</a:t>
                      </a:r>
                    </a:p>
                  </a:txBody>
                  <a:tcPr marL="76200" marR="76200" marT="38100" marB="38100">
                    <a:lnL w="12700" cap="flat" cmpd="sng" algn="ctr">
                      <a:solidFill>
                        <a:srgbClr val="C200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C200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C200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300" dirty="0"/>
                        <a:t>DESCRIPTION</a:t>
                      </a:r>
                    </a:p>
                  </a:txBody>
                  <a:tcPr marL="76200" marR="76200" marT="38100" marB="38100">
                    <a:lnR w="12700" cap="flat" cmpd="sng" algn="ctr">
                      <a:solidFill>
                        <a:srgbClr val="C200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00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C200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s-ES" sz="1300" b="1" i="1" baseline="0" dirty="0" err="1">
                          <a:solidFill>
                            <a:srgbClr val="C2002F"/>
                          </a:solidFill>
                        </a:rPr>
                        <a:t>Preferential</a:t>
                      </a:r>
                      <a:r>
                        <a:rPr lang="es-ES" sz="1300" b="1" i="1" baseline="0" dirty="0">
                          <a:solidFill>
                            <a:srgbClr val="C2002F"/>
                          </a:solidFill>
                        </a:rPr>
                        <a:t> </a:t>
                      </a:r>
                      <a:r>
                        <a:rPr lang="es-ES" sz="1300" b="1" i="1" baseline="0" dirty="0" err="1">
                          <a:solidFill>
                            <a:srgbClr val="C2002F"/>
                          </a:solidFill>
                        </a:rPr>
                        <a:t>agreements</a:t>
                      </a:r>
                      <a:endParaRPr lang="es-ES" sz="1300" b="1" i="1" dirty="0">
                        <a:solidFill>
                          <a:srgbClr val="C2002F"/>
                        </a:solidFill>
                      </a:endParaRPr>
                    </a:p>
                  </a:txBody>
                  <a:tcPr marL="76200" marR="76200" marT="38100" marB="38100">
                    <a:lnL w="12700" cap="flat" cmpd="sng" algn="ctr">
                      <a:solidFill>
                        <a:srgbClr val="C200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C2002F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300" b="0" i="1" dirty="0">
                          <a:solidFill>
                            <a:srgbClr val="C2002F"/>
                          </a:solidFill>
                        </a:rPr>
                        <a:t>Countries grant each other a series of preferences (reduction of tariffs or other forms of protection)." This is often part of the structure of preferential trade agreements.</a:t>
                      </a:r>
                      <a:endParaRPr lang="es-ES" sz="1300" b="0" i="1" dirty="0">
                        <a:solidFill>
                          <a:srgbClr val="C2002F"/>
                        </a:solidFill>
                      </a:endParaRPr>
                    </a:p>
                  </a:txBody>
                  <a:tcPr marL="76200" marR="76200" marT="38100" marB="38100">
                    <a:lnR w="12700" cap="flat" cmpd="sng" algn="ctr">
                      <a:solidFill>
                        <a:srgbClr val="C200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C2002F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s-ES" sz="1300" b="1" baseline="0" dirty="0">
                          <a:solidFill>
                            <a:srgbClr val="C2002F"/>
                          </a:solidFill>
                        </a:rPr>
                        <a:t>Free Trade </a:t>
                      </a:r>
                      <a:r>
                        <a:rPr lang="es-ES" sz="1300" b="1" baseline="0" dirty="0" err="1">
                          <a:solidFill>
                            <a:srgbClr val="C2002F"/>
                          </a:solidFill>
                        </a:rPr>
                        <a:t>Area</a:t>
                      </a:r>
                      <a:r>
                        <a:rPr lang="es-ES" sz="1300" b="1" baseline="0" dirty="0">
                          <a:solidFill>
                            <a:srgbClr val="C2002F"/>
                          </a:solidFill>
                        </a:rPr>
                        <a:t> (FTA)</a:t>
                      </a:r>
                      <a:endParaRPr lang="es-ES" sz="1300" b="1" dirty="0">
                        <a:solidFill>
                          <a:srgbClr val="C2002F"/>
                        </a:solidFill>
                      </a:endParaRPr>
                    </a:p>
                  </a:txBody>
                  <a:tcPr marL="76200" marR="76200" marT="38100" marB="38100">
                    <a:lnL w="12700" cap="flat" cmpd="sng" algn="ctr">
                      <a:solidFill>
                        <a:srgbClr val="C200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C2002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300" b="0" baseline="0" dirty="0">
                          <a:solidFill>
                            <a:srgbClr val="C2002F"/>
                          </a:solidFill>
                        </a:rPr>
                        <a:t>Member countries eliminate tariffs among themselves, but maintain their own trade policy towards third parties</a:t>
                      </a:r>
                      <a:endParaRPr lang="es-ES" sz="1300" b="0" dirty="0">
                        <a:solidFill>
                          <a:srgbClr val="C2002F"/>
                        </a:solidFill>
                      </a:endParaRPr>
                    </a:p>
                  </a:txBody>
                  <a:tcPr marL="76200" marR="76200" marT="38100" marB="38100">
                    <a:lnR w="12700" cap="flat" cmpd="sng" algn="ctr">
                      <a:solidFill>
                        <a:srgbClr val="C200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C2002F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algn="l" defTabSz="685800" rtl="0" eaLnBrk="1" latinLnBrk="0" hangingPunct="1"/>
                      <a:r>
                        <a:rPr lang="es-ES" sz="1300" b="1" kern="1200" dirty="0" err="1">
                          <a:solidFill>
                            <a:srgbClr val="C2002F"/>
                          </a:solidFill>
                          <a:latin typeface="+mn-lt"/>
                          <a:ea typeface="+mn-ea"/>
                          <a:cs typeface="+mn-cs"/>
                        </a:rPr>
                        <a:t>Custom</a:t>
                      </a:r>
                      <a:r>
                        <a:rPr lang="es-ES" sz="1300" b="1" kern="1200" dirty="0">
                          <a:solidFill>
                            <a:srgbClr val="C2002F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s-ES" sz="1300" b="1" kern="1200" dirty="0" err="1">
                          <a:solidFill>
                            <a:srgbClr val="C2002F"/>
                          </a:solidFill>
                          <a:latin typeface="+mn-lt"/>
                          <a:ea typeface="+mn-ea"/>
                          <a:cs typeface="+mn-cs"/>
                        </a:rPr>
                        <a:t>Union</a:t>
                      </a:r>
                      <a:endParaRPr lang="es-ES" sz="1300" b="1" kern="1200" dirty="0">
                        <a:solidFill>
                          <a:srgbClr val="C2002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>
                    <a:lnL w="12700" cap="flat" cmpd="sng" algn="ctr">
                      <a:solidFill>
                        <a:srgbClr val="C200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C2002F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just" defTabSz="685800" rtl="0" eaLnBrk="1" latinLnBrk="0" hangingPunct="1"/>
                      <a:r>
                        <a:rPr lang="en-US" sz="1300" b="0" kern="1200" dirty="0">
                          <a:solidFill>
                            <a:srgbClr val="C2002F"/>
                          </a:solidFill>
                          <a:latin typeface="+mn-lt"/>
                          <a:ea typeface="+mn-ea"/>
                          <a:cs typeface="+mn-cs"/>
                        </a:rPr>
                        <a:t>It implies the elimination of tariffs and the establishment of a common </a:t>
                      </a:r>
                      <a:r>
                        <a:rPr lang="en-US" sz="1300" b="1" kern="1200" dirty="0">
                          <a:solidFill>
                            <a:srgbClr val="C2002F"/>
                          </a:solidFill>
                          <a:latin typeface="+mn-lt"/>
                          <a:ea typeface="+mn-ea"/>
                          <a:cs typeface="+mn-cs"/>
                        </a:rPr>
                        <a:t>external</a:t>
                      </a:r>
                      <a:r>
                        <a:rPr lang="en-US" sz="1300" b="0" kern="1200" dirty="0">
                          <a:solidFill>
                            <a:srgbClr val="C2002F"/>
                          </a:solidFill>
                          <a:latin typeface="+mn-lt"/>
                          <a:ea typeface="+mn-ea"/>
                          <a:cs typeface="+mn-cs"/>
                        </a:rPr>
                        <a:t> tariff</a:t>
                      </a:r>
                      <a:endParaRPr lang="es-ES" sz="1300" b="0" kern="1200" dirty="0">
                        <a:solidFill>
                          <a:srgbClr val="C2002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>
                    <a:lnR w="12700" cap="flat" cmpd="sng" algn="ctr">
                      <a:solidFill>
                        <a:srgbClr val="C200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C2002F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s-ES" sz="1300" b="1" dirty="0" err="1">
                          <a:solidFill>
                            <a:srgbClr val="C2002F"/>
                          </a:solidFill>
                        </a:rPr>
                        <a:t>Common</a:t>
                      </a:r>
                      <a:r>
                        <a:rPr lang="es-ES" sz="1300" b="1" dirty="0">
                          <a:solidFill>
                            <a:srgbClr val="C2002F"/>
                          </a:solidFill>
                        </a:rPr>
                        <a:t> </a:t>
                      </a:r>
                      <a:r>
                        <a:rPr lang="es-ES" sz="1300" b="1" dirty="0" err="1">
                          <a:solidFill>
                            <a:srgbClr val="C2002F"/>
                          </a:solidFill>
                        </a:rPr>
                        <a:t>Market</a:t>
                      </a:r>
                      <a:endParaRPr lang="es-ES" sz="1300" b="1" dirty="0">
                        <a:solidFill>
                          <a:srgbClr val="C2002F"/>
                        </a:solidFill>
                      </a:endParaRPr>
                    </a:p>
                  </a:txBody>
                  <a:tcPr marL="76200" marR="76200" marT="38100" marB="38100">
                    <a:lnL w="12700" cap="flat" cmpd="sng" algn="ctr">
                      <a:solidFill>
                        <a:srgbClr val="C200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C2002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300" b="0" baseline="0" dirty="0">
                          <a:solidFill>
                            <a:srgbClr val="C2002F"/>
                          </a:solidFill>
                        </a:rPr>
                        <a:t>In addition to the free movement of goods and services, it includes the free movement of </a:t>
                      </a:r>
                      <a:r>
                        <a:rPr lang="en-US" sz="1300" b="1" baseline="0" dirty="0">
                          <a:solidFill>
                            <a:srgbClr val="C2002F"/>
                          </a:solidFill>
                        </a:rPr>
                        <a:t>labor</a:t>
                      </a:r>
                      <a:r>
                        <a:rPr lang="en-US" sz="1300" b="0" baseline="0" dirty="0">
                          <a:solidFill>
                            <a:srgbClr val="C2002F"/>
                          </a:solidFill>
                        </a:rPr>
                        <a:t> and capital</a:t>
                      </a:r>
                      <a:endParaRPr lang="es-ES" sz="1300" b="0" dirty="0">
                        <a:solidFill>
                          <a:srgbClr val="C2002F"/>
                        </a:solidFill>
                      </a:endParaRPr>
                    </a:p>
                  </a:txBody>
                  <a:tcPr marL="76200" marR="76200" marT="38100" marB="38100">
                    <a:lnR w="12700" cap="flat" cmpd="sng" algn="ctr">
                      <a:solidFill>
                        <a:srgbClr val="C200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C2002F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r>
                        <a:rPr lang="es-ES" sz="1300" b="1" dirty="0">
                          <a:solidFill>
                            <a:srgbClr val="C2002F"/>
                          </a:solidFill>
                        </a:rPr>
                        <a:t>Economic </a:t>
                      </a:r>
                      <a:r>
                        <a:rPr lang="es-ES" sz="1300" b="1" dirty="0" err="1">
                          <a:solidFill>
                            <a:srgbClr val="C2002F"/>
                          </a:solidFill>
                        </a:rPr>
                        <a:t>Union</a:t>
                      </a:r>
                      <a:endParaRPr lang="es-ES" sz="1300" b="1" dirty="0">
                        <a:solidFill>
                          <a:srgbClr val="C2002F"/>
                        </a:solidFill>
                      </a:endParaRPr>
                    </a:p>
                  </a:txBody>
                  <a:tcPr marL="76200" marR="76200" marT="38100" marB="38100">
                    <a:lnL w="12700" cap="flat" cmpd="sng" algn="ctr">
                      <a:solidFill>
                        <a:srgbClr val="C200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C2002F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300" b="0" baseline="0" dirty="0">
                          <a:solidFill>
                            <a:srgbClr val="C2002F"/>
                          </a:solidFill>
                        </a:rPr>
                        <a:t>Implies the coordination of economic policies. This is typically in reference to the efforts within an economic union to harmonize fiscal, monetary, and other economic policies among member countries. </a:t>
                      </a:r>
                      <a:endParaRPr lang="es-ES" sz="1300" b="0" dirty="0">
                        <a:solidFill>
                          <a:srgbClr val="C2002F"/>
                        </a:solidFill>
                      </a:endParaRPr>
                    </a:p>
                  </a:txBody>
                  <a:tcPr marL="76200" marR="76200" marT="38100" marB="38100">
                    <a:lnR w="12700" cap="flat" cmpd="sng" algn="ctr">
                      <a:solidFill>
                        <a:srgbClr val="C200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C2002F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r>
                        <a:rPr lang="es-ES" sz="1300" b="1" dirty="0" err="1">
                          <a:solidFill>
                            <a:srgbClr val="C2002F"/>
                          </a:solidFill>
                        </a:rPr>
                        <a:t>Monetary</a:t>
                      </a:r>
                      <a:r>
                        <a:rPr lang="es-ES" sz="1300" b="1" dirty="0">
                          <a:solidFill>
                            <a:srgbClr val="C2002F"/>
                          </a:solidFill>
                        </a:rPr>
                        <a:t> </a:t>
                      </a:r>
                      <a:r>
                        <a:rPr lang="es-ES" sz="1300" b="1" dirty="0" err="1">
                          <a:solidFill>
                            <a:srgbClr val="C2002F"/>
                          </a:solidFill>
                        </a:rPr>
                        <a:t>Union</a:t>
                      </a:r>
                      <a:endParaRPr lang="es-ES" sz="1300" b="1" dirty="0">
                        <a:solidFill>
                          <a:srgbClr val="C2002F"/>
                        </a:solidFill>
                      </a:endParaRPr>
                    </a:p>
                  </a:txBody>
                  <a:tcPr marL="76200" marR="76200" marT="38100" marB="38100">
                    <a:lnL w="12700" cap="flat" cmpd="sng" algn="ctr">
                      <a:solidFill>
                        <a:srgbClr val="C200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rgbClr val="C200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002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300" b="0" baseline="0" dirty="0">
                          <a:solidFill>
                            <a:srgbClr val="C2002F"/>
                          </a:solidFill>
                        </a:rPr>
                        <a:t>Includes the adoption of a single currency</a:t>
                      </a:r>
                      <a:endParaRPr lang="es-ES" sz="1300" b="0" dirty="0">
                        <a:solidFill>
                          <a:srgbClr val="C2002F"/>
                        </a:solidFill>
                      </a:endParaRPr>
                    </a:p>
                  </a:txBody>
                  <a:tcPr marL="76200" marR="76200" marT="38100" marB="38100">
                    <a:lnR w="12700" cap="flat" cmpd="sng" algn="ctr">
                      <a:solidFill>
                        <a:srgbClr val="C200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C200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002F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1" name="Rectángulo 10">
            <a:extLst>
              <a:ext uri="{FF2B5EF4-FFF2-40B4-BE49-F238E27FC236}">
                <a16:creationId xmlns:a16="http://schemas.microsoft.com/office/drawing/2014/main" id="{ED1B944D-8F4B-4C35-9B7E-2D82788544AD}"/>
              </a:ext>
            </a:extLst>
          </p:cNvPr>
          <p:cNvSpPr/>
          <p:nvPr/>
        </p:nvSpPr>
        <p:spPr>
          <a:xfrm>
            <a:off x="1157959" y="1092703"/>
            <a:ext cx="6980548" cy="553998"/>
          </a:xfrm>
          <a:prstGeom prst="rect">
            <a:avLst/>
          </a:prstGeom>
          <a:solidFill>
            <a:srgbClr val="C2002F">
              <a:alpha val="20000"/>
            </a:srgbClr>
          </a:solidFill>
          <a:ln>
            <a:solidFill>
              <a:srgbClr val="C2002F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>
              <a:spcBef>
                <a:spcPts val="500"/>
              </a:spcBef>
            </a:pPr>
            <a:r>
              <a:rPr lang="en-US" sz="1500" b="1" dirty="0">
                <a:solidFill>
                  <a:srgbClr val="C2002F"/>
                </a:solidFill>
              </a:rPr>
              <a:t>There are different modalities of economic integration according to the type of barrier to international transactions that is being eliminated</a:t>
            </a:r>
            <a:endParaRPr lang="es-ES" sz="1500" b="1" dirty="0">
              <a:solidFill>
                <a:srgbClr val="C2002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49769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 idx="4294967295"/>
          </p:nvPr>
        </p:nvSpPr>
        <p:spPr>
          <a:xfrm>
            <a:off x="761999" y="0"/>
            <a:ext cx="7736633" cy="886408"/>
          </a:xfrm>
        </p:spPr>
        <p:txBody>
          <a:bodyPr>
            <a:noAutofit/>
          </a:bodyPr>
          <a:lstStyle/>
          <a:p>
            <a:pPr>
              <a:tabLst>
                <a:tab pos="451097" algn="l"/>
                <a:tab pos="746095" algn="l"/>
              </a:tabLst>
            </a:pPr>
            <a:r>
              <a:rPr lang="en-US" sz="3083" dirty="0">
                <a:solidFill>
                  <a:srgbClr val="C2002F"/>
                </a:solidFill>
              </a:rPr>
              <a:t>Definition and forms of economic integration </a:t>
            </a:r>
            <a:endParaRPr lang="es-ES" sz="3083" dirty="0">
              <a:solidFill>
                <a:srgbClr val="C2002F"/>
              </a:solidFill>
            </a:endParaRP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63791F6-0FE3-4495-8759-44398FA79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267406-4F3A-4C44-A900-7478CAB64A55}" type="slidenum">
              <a:rPr lang="es-ES" smtClean="0"/>
              <a:pPr/>
              <a:t>8</a:t>
            </a:fld>
            <a:endParaRPr lang="es-ES" dirty="0"/>
          </a:p>
        </p:txBody>
      </p:sp>
      <p:sp>
        <p:nvSpPr>
          <p:cNvPr id="6" name="1 Marcador de contenido">
            <a:extLst>
              <a:ext uri="{FF2B5EF4-FFF2-40B4-BE49-F238E27FC236}">
                <a16:creationId xmlns:a16="http://schemas.microsoft.com/office/drawing/2014/main" id="{DEE05914-5BC0-4106-95A7-32AA4203326E}"/>
              </a:ext>
            </a:extLst>
          </p:cNvPr>
          <p:cNvSpPr txBox="1">
            <a:spLocks/>
          </p:cNvSpPr>
          <p:nvPr/>
        </p:nvSpPr>
        <p:spPr>
          <a:xfrm>
            <a:off x="1267154" y="1011942"/>
            <a:ext cx="6780753" cy="3919027"/>
          </a:xfrm>
          <a:prstGeom prst="rect">
            <a:avLst/>
          </a:prstGeom>
        </p:spPr>
        <p:txBody>
          <a:bodyPr vert="horz" lIns="76200" tIns="38100" rIns="76200" bIns="38100" rtlCol="0">
            <a:noAutofit/>
          </a:bodyPr>
          <a:lstStyle>
            <a:lvl1pPr marL="342900" indent="-342900" algn="l" defTabSz="685800" rtl="0" eaLnBrk="1" latinLnBrk="0" hangingPunct="1">
              <a:lnSpc>
                <a:spcPct val="100000"/>
              </a:lnSpc>
              <a:spcBef>
                <a:spcPts val="75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23900" indent="-381000" algn="l" defTabSz="685800" rtl="0" eaLnBrk="1" latinLnBrk="0" hangingPunct="1">
              <a:lnSpc>
                <a:spcPct val="10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1088" indent="-360363" algn="l" defTabSz="685800" rtl="0" eaLnBrk="1" latinLnBrk="0" hangingPunct="1">
              <a:lnSpc>
                <a:spcPct val="100000"/>
              </a:lnSpc>
              <a:spcBef>
                <a:spcPts val="375"/>
              </a:spcBef>
              <a:buFont typeface="Calibri" panose="020F0502020204030204" pitchFamily="34" charset="0"/>
              <a:buChar char="-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31925" indent="-350838" algn="l" defTabSz="685800" rtl="0" eaLnBrk="1" latinLnBrk="0" hangingPunct="1">
              <a:lnSpc>
                <a:spcPct val="100000"/>
              </a:lnSpc>
              <a:spcBef>
                <a:spcPts val="375"/>
              </a:spcBef>
              <a:buFont typeface="Calibri" panose="020F0502020204030204" pitchFamily="34" charset="0"/>
              <a:buChar char="․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Bef>
                <a:spcPts val="1000"/>
              </a:spcBef>
              <a:buClr>
                <a:schemeClr val="tx1"/>
              </a:buClr>
            </a:pPr>
            <a:endParaRPr lang="es-ES" sz="1667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267479F5-2CF6-4F01-8B0D-2F78F54A724C}"/>
              </a:ext>
            </a:extLst>
          </p:cNvPr>
          <p:cNvSpPr txBox="1"/>
          <p:nvPr/>
        </p:nvSpPr>
        <p:spPr>
          <a:xfrm>
            <a:off x="761999" y="794562"/>
            <a:ext cx="791950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The motivations that lead countries to undertake these processes are of various kinds:</a:t>
            </a:r>
          </a:p>
          <a:p>
            <a:endParaRPr lang="en-US" dirty="0"/>
          </a:p>
          <a:p>
            <a:r>
              <a:rPr lang="en-US" b="1" dirty="0">
                <a:solidFill>
                  <a:srgbClr val="FF0000"/>
                </a:solidFill>
              </a:rPr>
              <a:t>Economic</a:t>
            </a:r>
          </a:p>
          <a:p>
            <a:endParaRPr lang="en-US" dirty="0"/>
          </a:p>
          <a:p>
            <a:r>
              <a:rPr lang="en-US" dirty="0"/>
              <a:t>Markets are expanded.</a:t>
            </a:r>
          </a:p>
          <a:p>
            <a:r>
              <a:rPr lang="en-US" dirty="0"/>
              <a:t>Competition increases.</a:t>
            </a:r>
          </a:p>
          <a:p>
            <a:r>
              <a:rPr lang="en-US" dirty="0"/>
              <a:t>This helps to accelerate the rate of growth.</a:t>
            </a:r>
          </a:p>
          <a:p>
            <a:endParaRPr lang="en-US" dirty="0"/>
          </a:p>
          <a:p>
            <a:r>
              <a:rPr lang="en-US" b="1" dirty="0">
                <a:solidFill>
                  <a:srgbClr val="FF0000"/>
                </a:solidFill>
              </a:rPr>
              <a:t>Political</a:t>
            </a:r>
          </a:p>
          <a:p>
            <a:endParaRPr lang="en-US" dirty="0"/>
          </a:p>
          <a:p>
            <a:r>
              <a:rPr lang="en-US" dirty="0"/>
              <a:t>The intersection of economic interests helps to reduce tensions and confrontations between countries.</a:t>
            </a:r>
          </a:p>
          <a:p>
            <a:r>
              <a:rPr lang="en-US" dirty="0"/>
              <a:t>An integrated area carries more weight on the international stage.</a:t>
            </a:r>
          </a:p>
          <a:p>
            <a:r>
              <a:rPr lang="en-US" dirty="0"/>
              <a:t>It helps to find joint solutions to global problems (environmental, migratory, etc.</a:t>
            </a:r>
          </a:p>
          <a:p>
            <a:endParaRPr lang="en-US" dirty="0"/>
          </a:p>
          <a:p>
            <a:r>
              <a:rPr lang="en-US" b="1" dirty="0">
                <a:solidFill>
                  <a:srgbClr val="FF0000"/>
                </a:solidFill>
              </a:rPr>
              <a:t>Security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718671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 bldLvl="5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 dirty="0"/>
          </a:p>
        </p:txBody>
      </p:sp>
      <p:pic>
        <p:nvPicPr>
          <p:cNvPr id="8" name="Picture 2" descr="http://www2.econ.iastate.edu/classes/econ355/choi/images/f/fi19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224010" cy="55990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5">
            <a:extLst>
              <a:ext uri="{FF2B5EF4-FFF2-40B4-BE49-F238E27FC236}">
                <a16:creationId xmlns:a16="http://schemas.microsoft.com/office/drawing/2014/main" id="{83AD20FF-DC43-42E7-BE1F-ED85A5B6CFAB}"/>
              </a:ext>
            </a:extLst>
          </p:cNvPr>
          <p:cNvSpPr/>
          <p:nvPr/>
        </p:nvSpPr>
        <p:spPr>
          <a:xfrm>
            <a:off x="-8792" y="5599019"/>
            <a:ext cx="9144000" cy="115981"/>
          </a:xfrm>
          <a:prstGeom prst="rect">
            <a:avLst/>
          </a:prstGeom>
          <a:solidFill>
            <a:srgbClr val="C2132F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s-ES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B863E8AB-AA43-48B0-AE0C-0F7697E5E837}"/>
              </a:ext>
            </a:extLst>
          </p:cNvPr>
          <p:cNvSpPr txBox="1"/>
          <p:nvPr/>
        </p:nvSpPr>
        <p:spPr>
          <a:xfrm>
            <a:off x="3393014" y="-115981"/>
            <a:ext cx="6528120" cy="560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200000"/>
              </a:lnSpc>
            </a:pPr>
            <a:r>
              <a:rPr lang="en-GB" sz="1800" b="1" dirty="0">
                <a:latin typeface="Arial" panose="020B0604020202020204" pitchFamily="34" charset="0"/>
                <a:cs typeface="Arial" panose="020B0604020202020204" pitchFamily="34" charset="0"/>
              </a:rPr>
              <a:t>Economic Integration</a:t>
            </a:r>
          </a:p>
        </p:txBody>
      </p:sp>
    </p:spTree>
    <p:extLst>
      <p:ext uri="{BB962C8B-B14F-4D97-AF65-F5344CB8AC3E}">
        <p14:creationId xmlns:p14="http://schemas.microsoft.com/office/powerpoint/2010/main" val="13062793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Résultat de recherche d'images pour &quot;american&quot;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4" name="AutoShape 4" descr="Résultat de recherche d'images pour &quot;american&quot;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6" name="AutoShape 6" descr="Résultat de recherche d'images pour &quot;american&quot;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7" name="AutoShape 8" descr="Résultat de recherche d'images pour &quot;american&quot;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9" name="AutoShape 10" descr="Résultat de recherche d'images pour &quot;american&quot;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11" name="Bisel 10"/>
          <p:cNvSpPr/>
          <p:nvPr/>
        </p:nvSpPr>
        <p:spPr>
          <a:xfrm>
            <a:off x="1378438" y="1022594"/>
            <a:ext cx="6119446" cy="3259260"/>
          </a:xfrm>
          <a:prstGeom prst="bevel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noFill/>
            </a:endParaRPr>
          </a:p>
        </p:txBody>
      </p:sp>
      <p:sp>
        <p:nvSpPr>
          <p:cNvPr id="12" name="Rectángulo 11"/>
          <p:cNvSpPr/>
          <p:nvPr/>
        </p:nvSpPr>
        <p:spPr>
          <a:xfrm>
            <a:off x="3323368" y="160337"/>
            <a:ext cx="234070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fr-FR" sz="1600" b="1" dirty="0">
                <a:latin typeface="Arial" panose="020B0604020202020204" pitchFamily="34" charset="0"/>
                <a:cs typeface="Arial" panose="020B0604020202020204" pitchFamily="34" charset="0"/>
              </a:rPr>
              <a:t>Economic Integration </a:t>
            </a:r>
            <a:endParaRPr lang="fr-FR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ángulo 1"/>
          <p:cNvSpPr/>
          <p:nvPr/>
        </p:nvSpPr>
        <p:spPr>
          <a:xfrm>
            <a:off x="612774" y="568895"/>
            <a:ext cx="8321906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fr-FR" sz="1200" dirty="0">
                <a:latin typeface="Arial" panose="020B0604020202020204" pitchFamily="34" charset="0"/>
                <a:cs typeface="Arial" panose="020B0604020202020204" pitchFamily="34" charset="0"/>
              </a:rPr>
              <a:t>Price Escalation in Exporting if Companies Use Cost-plus Pricing</a:t>
            </a:r>
          </a:p>
          <a:p>
            <a:endParaRPr lang="en-US" altLang="fr-FR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fr-FR" sz="1200" dirty="0">
                <a:latin typeface="Arial" panose="020B0604020202020204" pitchFamily="34" charset="0"/>
                <a:cs typeface="Arial" panose="020B0604020202020204" pitchFamily="34" charset="0"/>
              </a:rPr>
              <a:t>1) Please calculate the benefit of the country A and B ??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2) Please include the economic integration and calculate the new benefit for the importer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3) What kind of </a:t>
            </a: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agreement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could you find between the seller A and the buyer B?</a:t>
            </a:r>
            <a:endParaRPr lang="fr-FR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" name="Picture 4" descr="Fig1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775" y="1887311"/>
            <a:ext cx="7924800" cy="2743200"/>
          </a:xfrm>
          <a:prstGeom prst="rect">
            <a:avLst/>
          </a:prstGeom>
          <a:noFill/>
          <a:ln w="19050">
            <a:solidFill>
              <a:schemeClr val="tx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Rectangle 5">
            <a:extLst>
              <a:ext uri="{FF2B5EF4-FFF2-40B4-BE49-F238E27FC236}">
                <a16:creationId xmlns:a16="http://schemas.microsoft.com/office/drawing/2014/main" id="{778ABCAF-A730-46E0-A6C1-A2C86338EC53}"/>
              </a:ext>
            </a:extLst>
          </p:cNvPr>
          <p:cNvSpPr/>
          <p:nvPr/>
        </p:nvSpPr>
        <p:spPr>
          <a:xfrm>
            <a:off x="-8792" y="5599019"/>
            <a:ext cx="9144000" cy="115981"/>
          </a:xfrm>
          <a:prstGeom prst="rect">
            <a:avLst/>
          </a:prstGeom>
          <a:solidFill>
            <a:srgbClr val="C2132F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s-ES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C1713000-8470-4510-A640-6A87F2C3DEAF}"/>
              </a:ext>
            </a:extLst>
          </p:cNvPr>
          <p:cNvCxnSpPr/>
          <p:nvPr/>
        </p:nvCxnSpPr>
        <p:spPr>
          <a:xfrm>
            <a:off x="4773727" y="2652224"/>
            <a:ext cx="712673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66251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3 Rectángulo"/>
          <p:cNvSpPr/>
          <p:nvPr/>
        </p:nvSpPr>
        <p:spPr>
          <a:xfrm>
            <a:off x="5369206" y="242830"/>
            <a:ext cx="32191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b="1" dirty="0"/>
              <a:t>3 Latin America/ South America</a:t>
            </a:r>
            <a:endParaRPr lang="fr-FR" b="1" dirty="0"/>
          </a:p>
        </p:txBody>
      </p:sp>
      <p:sp>
        <p:nvSpPr>
          <p:cNvPr id="3" name="2 Rectángulo"/>
          <p:cNvSpPr/>
          <p:nvPr/>
        </p:nvSpPr>
        <p:spPr>
          <a:xfrm>
            <a:off x="4916525" y="2818118"/>
            <a:ext cx="4127144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400" dirty="0"/>
              <a:t>The Southern Common Market (</a:t>
            </a:r>
            <a:r>
              <a:rPr lang="en-US" sz="1400" b="1" dirty="0"/>
              <a:t>MERCOSUR</a:t>
            </a:r>
            <a:r>
              <a:rPr lang="en-US" sz="1400" dirty="0"/>
              <a:t> for its Spanish initials) is a regional integration process, initially established by Argentina, Brazil, Paraguay and Uruguay, Its official working languages are Spanish and Portuguese.</a:t>
            </a:r>
          </a:p>
        </p:txBody>
      </p:sp>
      <p:pic>
        <p:nvPicPr>
          <p:cNvPr id="6152" name="Picture 8" descr="Résultat de recherche d'images pour &quot;map south america&quot;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49" y="962627"/>
            <a:ext cx="4752373" cy="47523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4 Elipse"/>
          <p:cNvSpPr/>
          <p:nvPr/>
        </p:nvSpPr>
        <p:spPr>
          <a:xfrm>
            <a:off x="3269087" y="2265802"/>
            <a:ext cx="696492" cy="735508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1" name="10 Elipse"/>
          <p:cNvSpPr/>
          <p:nvPr/>
        </p:nvSpPr>
        <p:spPr>
          <a:xfrm>
            <a:off x="3175108" y="3632813"/>
            <a:ext cx="382667" cy="372739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11 Elipse"/>
          <p:cNvSpPr/>
          <p:nvPr/>
        </p:nvSpPr>
        <p:spPr>
          <a:xfrm>
            <a:off x="1750932" y="1483737"/>
            <a:ext cx="567032" cy="52881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12 Elipse"/>
          <p:cNvSpPr/>
          <p:nvPr/>
        </p:nvSpPr>
        <p:spPr>
          <a:xfrm>
            <a:off x="1294190" y="2115239"/>
            <a:ext cx="447898" cy="414968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4" name="13 Elipse"/>
          <p:cNvSpPr/>
          <p:nvPr/>
        </p:nvSpPr>
        <p:spPr>
          <a:xfrm>
            <a:off x="1793179" y="2390660"/>
            <a:ext cx="524785" cy="462709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5" name="14 Elipse"/>
          <p:cNvSpPr/>
          <p:nvPr/>
        </p:nvSpPr>
        <p:spPr>
          <a:xfrm rot="787402">
            <a:off x="1972243" y="3044233"/>
            <a:ext cx="426519" cy="420973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6" name="15 Elipse"/>
          <p:cNvSpPr/>
          <p:nvPr/>
        </p:nvSpPr>
        <p:spPr>
          <a:xfrm>
            <a:off x="3084522" y="3254718"/>
            <a:ext cx="275149" cy="290877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7" name="16 Elipse"/>
          <p:cNvSpPr/>
          <p:nvPr/>
        </p:nvSpPr>
        <p:spPr>
          <a:xfrm>
            <a:off x="2360211" y="4318612"/>
            <a:ext cx="388774" cy="437004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8" name="17 Elipse"/>
          <p:cNvSpPr/>
          <p:nvPr/>
        </p:nvSpPr>
        <p:spPr>
          <a:xfrm>
            <a:off x="1458572" y="4226806"/>
            <a:ext cx="567032" cy="52881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9" name="18 Elipse"/>
          <p:cNvSpPr/>
          <p:nvPr/>
        </p:nvSpPr>
        <p:spPr>
          <a:xfrm>
            <a:off x="2360211" y="1393766"/>
            <a:ext cx="283516" cy="264405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7" name="6 Llamada de flecha a la derecha"/>
          <p:cNvSpPr/>
          <p:nvPr/>
        </p:nvSpPr>
        <p:spPr>
          <a:xfrm>
            <a:off x="932685" y="2950685"/>
            <a:ext cx="484742" cy="661012"/>
          </a:xfrm>
          <a:prstGeom prst="rightArrowCallou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2" name="21 Llamada de flecha a la derecha"/>
          <p:cNvSpPr/>
          <p:nvPr/>
        </p:nvSpPr>
        <p:spPr>
          <a:xfrm rot="12495835">
            <a:off x="3027569" y="4520640"/>
            <a:ext cx="484742" cy="661012"/>
          </a:xfrm>
          <a:prstGeom prst="rightArrowCallou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3" name="22 Llamada de flecha a la derecha"/>
          <p:cNvSpPr/>
          <p:nvPr/>
        </p:nvSpPr>
        <p:spPr>
          <a:xfrm rot="6709364">
            <a:off x="3798220" y="1559892"/>
            <a:ext cx="484742" cy="661012"/>
          </a:xfrm>
          <a:prstGeom prst="rightArrowCallou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4" name="23 Llamada de flecha a la derecha"/>
          <p:cNvSpPr/>
          <p:nvPr/>
        </p:nvSpPr>
        <p:spPr>
          <a:xfrm rot="3207120">
            <a:off x="932684" y="1279364"/>
            <a:ext cx="484742" cy="661012"/>
          </a:xfrm>
          <a:prstGeom prst="rightArrowCallou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5" name="24 Llamada de flecha a la derecha"/>
          <p:cNvSpPr/>
          <p:nvPr/>
        </p:nvSpPr>
        <p:spPr>
          <a:xfrm rot="20061869">
            <a:off x="690314" y="4557996"/>
            <a:ext cx="484742" cy="661012"/>
          </a:xfrm>
          <a:prstGeom prst="rightArrowCallou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6" name="25 Llamada de flecha a la derecha"/>
          <p:cNvSpPr/>
          <p:nvPr/>
        </p:nvSpPr>
        <p:spPr>
          <a:xfrm rot="10057498">
            <a:off x="4000306" y="2879605"/>
            <a:ext cx="484742" cy="661012"/>
          </a:xfrm>
          <a:prstGeom prst="rightArrowCallou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8" name="7 CuadroTexto"/>
          <p:cNvSpPr txBox="1"/>
          <p:nvPr/>
        </p:nvSpPr>
        <p:spPr>
          <a:xfrm>
            <a:off x="1794187" y="733626"/>
            <a:ext cx="15208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400" dirty="0"/>
              <a:t>Economic </a:t>
            </a:r>
            <a:r>
              <a:rPr lang="es-MX" sz="1400" dirty="0" err="1"/>
              <a:t>forces</a:t>
            </a:r>
            <a:endParaRPr lang="es-MX" sz="1400" dirty="0"/>
          </a:p>
        </p:txBody>
      </p:sp>
      <p:cxnSp>
        <p:nvCxnSpPr>
          <p:cNvPr id="10" name="9 Conector recto de flecha"/>
          <p:cNvCxnSpPr/>
          <p:nvPr/>
        </p:nvCxnSpPr>
        <p:spPr>
          <a:xfrm flipH="1" flipV="1">
            <a:off x="2748985" y="1748143"/>
            <a:ext cx="672502" cy="72698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26 Conector recto de flecha"/>
          <p:cNvCxnSpPr/>
          <p:nvPr/>
        </p:nvCxnSpPr>
        <p:spPr>
          <a:xfrm flipH="1" flipV="1">
            <a:off x="2317964" y="2001396"/>
            <a:ext cx="1103523" cy="47372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28 Conector recto de flecha"/>
          <p:cNvCxnSpPr/>
          <p:nvPr/>
        </p:nvCxnSpPr>
        <p:spPr>
          <a:xfrm flipH="1" flipV="1">
            <a:off x="1793179" y="2238260"/>
            <a:ext cx="1628308" cy="23686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30 Conector recto de flecha"/>
          <p:cNvCxnSpPr/>
          <p:nvPr/>
        </p:nvCxnSpPr>
        <p:spPr>
          <a:xfrm flipH="1">
            <a:off x="2360211" y="2475124"/>
            <a:ext cx="1061276" cy="15843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32 Conector recto de flecha"/>
          <p:cNvCxnSpPr/>
          <p:nvPr/>
        </p:nvCxnSpPr>
        <p:spPr>
          <a:xfrm flipH="1">
            <a:off x="2440984" y="2475124"/>
            <a:ext cx="980503" cy="52618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34 Conector recto de flecha"/>
          <p:cNvCxnSpPr/>
          <p:nvPr/>
        </p:nvCxnSpPr>
        <p:spPr>
          <a:xfrm flipH="1">
            <a:off x="3084523" y="2475124"/>
            <a:ext cx="336964" cy="68514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5 Rectángulo"/>
          <p:cNvSpPr/>
          <p:nvPr/>
        </p:nvSpPr>
        <p:spPr>
          <a:xfrm>
            <a:off x="4913895" y="1321836"/>
            <a:ext cx="4129774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400" b="1" dirty="0"/>
              <a:t>South America</a:t>
            </a:r>
            <a:r>
              <a:rPr lang="en-US" sz="1400" dirty="0"/>
              <a:t> is the fourth largest continent in the world and covers an area of 6.89 million square miles. The continent is made up of 12 sovereign </a:t>
            </a:r>
            <a:r>
              <a:rPr lang="en-US" sz="1400" b="1" dirty="0"/>
              <a:t>countries</a:t>
            </a:r>
            <a:r>
              <a:rPr lang="en-US" sz="1400" dirty="0"/>
              <a:t>: Colombia, Bolivia, Argentina, Chile, Peru, Uruguay, Brazil, Paraguay, Venezuela, Guyana, Suriname, and Ecuador.</a:t>
            </a:r>
            <a:endParaRPr lang="es-MX" sz="1400" dirty="0"/>
          </a:p>
        </p:txBody>
      </p:sp>
      <p:sp>
        <p:nvSpPr>
          <p:cNvPr id="32" name="31 Elipse"/>
          <p:cNvSpPr/>
          <p:nvPr/>
        </p:nvSpPr>
        <p:spPr>
          <a:xfrm>
            <a:off x="2959085" y="1266995"/>
            <a:ext cx="283516" cy="264405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4" name="Rectangle 5">
            <a:extLst>
              <a:ext uri="{FF2B5EF4-FFF2-40B4-BE49-F238E27FC236}">
                <a16:creationId xmlns:a16="http://schemas.microsoft.com/office/drawing/2014/main" id="{ACF03B9A-852E-4550-8A95-133F918D00B8}"/>
              </a:ext>
            </a:extLst>
          </p:cNvPr>
          <p:cNvSpPr/>
          <p:nvPr/>
        </p:nvSpPr>
        <p:spPr>
          <a:xfrm>
            <a:off x="-8792" y="5599019"/>
            <a:ext cx="9144000" cy="115981"/>
          </a:xfrm>
          <a:prstGeom prst="rect">
            <a:avLst/>
          </a:prstGeom>
          <a:solidFill>
            <a:srgbClr val="C2132F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s-ES" sz="1350" dirty="0">
              <a:solidFill>
                <a:prstClr val="white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3546290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5EAA08B8-5D46-4535-841C-79489CBFF71C}"/>
              </a:ext>
            </a:extLst>
          </p:cNvPr>
          <p:cNvSpPr txBox="1"/>
          <p:nvPr/>
        </p:nvSpPr>
        <p:spPr>
          <a:xfrm>
            <a:off x="325141" y="453414"/>
            <a:ext cx="7891669" cy="5132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800" lvl="2" algn="ctr" defTabSz="342900">
              <a:lnSpc>
                <a:spcPct val="150000"/>
              </a:lnSpc>
              <a:spcAft>
                <a:spcPts val="593"/>
              </a:spcAft>
            </a:pPr>
            <a:r>
              <a:rPr lang="en-US" sz="2100" dirty="0">
                <a:solidFill>
                  <a:prstClr val="black"/>
                </a:solidFill>
                <a:latin typeface="Lato" panose="020F0502020204030203" pitchFamily="34" charset="0"/>
                <a:ea typeface="Calisto MT" panose="02040603050505030304" pitchFamily="18" charset="0"/>
              </a:rPr>
              <a:t>Cultural and  structural changes</a:t>
            </a:r>
          </a:p>
        </p:txBody>
      </p:sp>
      <p:pic>
        <p:nvPicPr>
          <p:cNvPr id="66" name="Gráfico 2" descr="Europa">
            <a:extLst>
              <a:ext uri="{FF2B5EF4-FFF2-40B4-BE49-F238E27FC236}">
                <a16:creationId xmlns:a16="http://schemas.microsoft.com/office/drawing/2014/main" id="{1FF82720-0528-4B6D-B0B0-54C18825C3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75355" y="2534569"/>
            <a:ext cx="2131764" cy="2131764"/>
          </a:xfrm>
          <a:prstGeom prst="rect">
            <a:avLst/>
          </a:prstGeom>
        </p:spPr>
      </p:pic>
      <p:pic>
        <p:nvPicPr>
          <p:cNvPr id="67" name="Gráfico 3" descr="Sudamérica">
            <a:extLst>
              <a:ext uri="{FF2B5EF4-FFF2-40B4-BE49-F238E27FC236}">
                <a16:creationId xmlns:a16="http://schemas.microsoft.com/office/drawing/2014/main" id="{BE58C148-5EED-4154-ACA3-B24967621A7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938839" y="2923224"/>
            <a:ext cx="1515653" cy="1515653"/>
          </a:xfrm>
          <a:prstGeom prst="rect">
            <a:avLst/>
          </a:prstGeom>
        </p:spPr>
      </p:pic>
      <p:sp>
        <p:nvSpPr>
          <p:cNvPr id="72" name="CuadroTexto 14">
            <a:extLst>
              <a:ext uri="{FF2B5EF4-FFF2-40B4-BE49-F238E27FC236}">
                <a16:creationId xmlns:a16="http://schemas.microsoft.com/office/drawing/2014/main" id="{58F6F79F-F1E5-4891-98FF-E3CCBE6D02BA}"/>
              </a:ext>
            </a:extLst>
          </p:cNvPr>
          <p:cNvSpPr txBox="1"/>
          <p:nvPr/>
        </p:nvSpPr>
        <p:spPr>
          <a:xfrm>
            <a:off x="3882506" y="2836572"/>
            <a:ext cx="1734998" cy="23360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42900">
              <a:lnSpc>
                <a:spcPct val="200000"/>
              </a:lnSpc>
            </a:pPr>
            <a:r>
              <a:rPr lang="en-GB" sz="1500" dirty="0">
                <a:solidFill>
                  <a:prstClr val="black"/>
                </a:solidFill>
                <a:latin typeface="SF Pro Text" pitchFamily="50" charset="0"/>
                <a:ea typeface="SF Pro Text" pitchFamily="50" charset="0"/>
                <a:cs typeface="SF Pro Text" pitchFamily="50" charset="0"/>
              </a:rPr>
              <a:t>4 AXES</a:t>
            </a:r>
          </a:p>
          <a:p>
            <a:pPr marL="257175" indent="-257175" defTabSz="342900">
              <a:lnSpc>
                <a:spcPct val="200000"/>
              </a:lnSpc>
              <a:buClr>
                <a:srgbClr val="FBBC31"/>
              </a:buClr>
              <a:buFont typeface="Wingdings" panose="05000000000000000000" pitchFamily="2" charset="2"/>
              <a:buChar char="ü"/>
            </a:pPr>
            <a:r>
              <a:rPr lang="en-GB" sz="1500" dirty="0">
                <a:solidFill>
                  <a:prstClr val="black"/>
                </a:solidFill>
                <a:latin typeface="SF Pro Text" pitchFamily="50" charset="0"/>
                <a:ea typeface="SF Pro Text" pitchFamily="50" charset="0"/>
                <a:cs typeface="SF Pro Text" pitchFamily="50" charset="0"/>
              </a:rPr>
              <a:t>Geography</a:t>
            </a:r>
          </a:p>
          <a:p>
            <a:pPr marL="257175" indent="-257175" defTabSz="342900">
              <a:lnSpc>
                <a:spcPct val="200000"/>
              </a:lnSpc>
              <a:buClr>
                <a:srgbClr val="FBBC31"/>
              </a:buClr>
              <a:buFont typeface="Wingdings" panose="05000000000000000000" pitchFamily="2" charset="2"/>
              <a:buChar char="ü"/>
            </a:pPr>
            <a:r>
              <a:rPr lang="en-GB" sz="1500" dirty="0">
                <a:solidFill>
                  <a:prstClr val="black"/>
                </a:solidFill>
                <a:latin typeface="SF Pro Text" pitchFamily="50" charset="0"/>
                <a:ea typeface="SF Pro Text" pitchFamily="50" charset="0"/>
                <a:cs typeface="SF Pro Text" pitchFamily="50" charset="0"/>
              </a:rPr>
              <a:t>Communication</a:t>
            </a:r>
          </a:p>
          <a:p>
            <a:pPr marL="257175" indent="-257175" defTabSz="342900">
              <a:lnSpc>
                <a:spcPct val="200000"/>
              </a:lnSpc>
              <a:buClr>
                <a:srgbClr val="FBBC31"/>
              </a:buClr>
              <a:buFont typeface="Wingdings" panose="05000000000000000000" pitchFamily="2" charset="2"/>
              <a:buChar char="ü"/>
            </a:pPr>
            <a:r>
              <a:rPr lang="en-GB" sz="1500" dirty="0">
                <a:solidFill>
                  <a:prstClr val="black"/>
                </a:solidFill>
                <a:latin typeface="SF Pro Text" pitchFamily="50" charset="0"/>
                <a:ea typeface="SF Pro Text" pitchFamily="50" charset="0"/>
                <a:cs typeface="SF Pro Text" pitchFamily="50" charset="0"/>
              </a:rPr>
              <a:t>Law</a:t>
            </a:r>
          </a:p>
          <a:p>
            <a:pPr marL="257175" indent="-257175" defTabSz="342900">
              <a:lnSpc>
                <a:spcPct val="200000"/>
              </a:lnSpc>
              <a:buClr>
                <a:srgbClr val="FBBC31"/>
              </a:buClr>
              <a:buFont typeface="Wingdings" panose="05000000000000000000" pitchFamily="2" charset="2"/>
              <a:buChar char="ü"/>
            </a:pPr>
            <a:r>
              <a:rPr lang="en-GB" sz="1500" dirty="0">
                <a:solidFill>
                  <a:prstClr val="black"/>
                </a:solidFill>
                <a:latin typeface="SF Pro Text" pitchFamily="50" charset="0"/>
                <a:ea typeface="SF Pro Text" pitchFamily="50" charset="0"/>
                <a:cs typeface="SF Pro Text" pitchFamily="50" charset="0"/>
              </a:rPr>
              <a:t>Culture  </a:t>
            </a:r>
            <a:endParaRPr lang="en-GB" sz="1080" dirty="0">
              <a:solidFill>
                <a:prstClr val="black"/>
              </a:solidFill>
              <a:latin typeface="SF Pro Text" pitchFamily="50" charset="0"/>
              <a:ea typeface="SF Pro Text" pitchFamily="50" charset="0"/>
              <a:cs typeface="SF Pro Text" pitchFamily="50" charset="0"/>
            </a:endParaRPr>
          </a:p>
        </p:txBody>
      </p:sp>
      <p:sp>
        <p:nvSpPr>
          <p:cNvPr id="74" name="Elipse 5">
            <a:extLst>
              <a:ext uri="{FF2B5EF4-FFF2-40B4-BE49-F238E27FC236}">
                <a16:creationId xmlns:a16="http://schemas.microsoft.com/office/drawing/2014/main" id="{02D3F16C-2337-499F-9655-E686FB7774EF}"/>
              </a:ext>
            </a:extLst>
          </p:cNvPr>
          <p:cNvSpPr/>
          <p:nvPr/>
        </p:nvSpPr>
        <p:spPr>
          <a:xfrm>
            <a:off x="1970690" y="4102591"/>
            <a:ext cx="207145" cy="211321"/>
          </a:xfrm>
          <a:prstGeom prst="ellipse">
            <a:avLst/>
          </a:prstGeom>
          <a:solidFill>
            <a:srgbClr val="FBBC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/>
            <a:endParaRPr lang="es-ES" sz="1350">
              <a:solidFill>
                <a:prstClr val="white"/>
              </a:solidFill>
              <a:latin typeface="Rockwell" panose="02060603020205020403"/>
            </a:endParaRPr>
          </a:p>
        </p:txBody>
      </p:sp>
      <p:sp>
        <p:nvSpPr>
          <p:cNvPr id="75" name="Elipse 16">
            <a:extLst>
              <a:ext uri="{FF2B5EF4-FFF2-40B4-BE49-F238E27FC236}">
                <a16:creationId xmlns:a16="http://schemas.microsoft.com/office/drawing/2014/main" id="{4A66510D-87D5-4F76-9E27-765752E3F911}"/>
              </a:ext>
            </a:extLst>
          </p:cNvPr>
          <p:cNvSpPr/>
          <p:nvPr/>
        </p:nvSpPr>
        <p:spPr>
          <a:xfrm>
            <a:off x="6298324" y="3940559"/>
            <a:ext cx="186574" cy="162032"/>
          </a:xfrm>
          <a:prstGeom prst="ellipse">
            <a:avLst/>
          </a:prstGeom>
          <a:solidFill>
            <a:srgbClr val="FBBC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/>
            <a:endParaRPr lang="es-ES" sz="1350">
              <a:solidFill>
                <a:prstClr val="white"/>
              </a:solidFill>
              <a:latin typeface="Rockwell" panose="02060603020205020403"/>
            </a:endParaRPr>
          </a:p>
        </p:txBody>
      </p:sp>
      <p:sp>
        <p:nvSpPr>
          <p:cNvPr id="68" name="Flecha: curvada hacia abajo 8">
            <a:extLst>
              <a:ext uri="{FF2B5EF4-FFF2-40B4-BE49-F238E27FC236}">
                <a16:creationId xmlns:a16="http://schemas.microsoft.com/office/drawing/2014/main" id="{81404CBE-2AB1-4E74-BFC0-3317D224F299}"/>
              </a:ext>
            </a:extLst>
          </p:cNvPr>
          <p:cNvSpPr/>
          <p:nvPr/>
        </p:nvSpPr>
        <p:spPr>
          <a:xfrm>
            <a:off x="3489024" y="1893992"/>
            <a:ext cx="2753750" cy="1288884"/>
          </a:xfrm>
          <a:prstGeom prst="curvedDownArrow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/>
            <a:endParaRPr lang="es-ES" sz="1620">
              <a:solidFill>
                <a:prstClr val="black"/>
              </a:solidFill>
              <a:latin typeface="Rockwell" panose="02060603020205020403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51C34CAA-983E-4784-8C3A-CBED33F109E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01860" y="1665422"/>
            <a:ext cx="1081305" cy="1081305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44237779-4D38-4075-B15D-2613E86678E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73187" y="1665422"/>
            <a:ext cx="1081305" cy="1081305"/>
          </a:xfrm>
          <a:prstGeom prst="rect">
            <a:avLst/>
          </a:prstGeom>
        </p:spPr>
      </p:pic>
      <p:sp>
        <p:nvSpPr>
          <p:cNvPr id="14" name="Rectangle 3">
            <a:extLst>
              <a:ext uri="{FF2B5EF4-FFF2-40B4-BE49-F238E27FC236}">
                <a16:creationId xmlns:a16="http://schemas.microsoft.com/office/drawing/2014/main" id="{3E9C3145-189C-47BA-B424-9E70B9908431}"/>
              </a:ext>
            </a:extLst>
          </p:cNvPr>
          <p:cNvSpPr/>
          <p:nvPr/>
        </p:nvSpPr>
        <p:spPr>
          <a:xfrm>
            <a:off x="0" y="5568960"/>
            <a:ext cx="9144000" cy="115981"/>
          </a:xfrm>
          <a:prstGeom prst="rect">
            <a:avLst/>
          </a:prstGeom>
          <a:solidFill>
            <a:srgbClr val="C2132F"/>
          </a:solidFill>
          <a:ln w="25400" cap="flat" cmpd="sng" algn="ctr">
            <a:solidFill>
              <a:srgbClr val="8064A2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350" b="0" i="0" u="none" strike="noStrike" kern="0" cap="none" spc="0" normalizeH="0" baseline="0" noProof="0">
              <a:ln>
                <a:noFill/>
              </a:ln>
              <a:solidFill>
                <a:srgbClr val="FFCC66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3 Rectángulo">
            <a:extLst>
              <a:ext uri="{FF2B5EF4-FFF2-40B4-BE49-F238E27FC236}">
                <a16:creationId xmlns:a16="http://schemas.microsoft.com/office/drawing/2014/main" id="{58A42569-D7D7-43E6-B0E2-487DEA52CC45}"/>
              </a:ext>
            </a:extLst>
          </p:cNvPr>
          <p:cNvSpPr/>
          <p:nvPr/>
        </p:nvSpPr>
        <p:spPr>
          <a:xfrm>
            <a:off x="1801860" y="64195"/>
            <a:ext cx="566279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b="1" dirty="0"/>
              <a:t>Economic Integration and the International Manager</a:t>
            </a:r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10555915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" grpId="0" animBg="1"/>
    </p:bldLst>
  </p:timing>
</p:sld>
</file>

<file path=ppt/theme/theme1.xml><?xml version="1.0" encoding="utf-8"?>
<a:theme xmlns:a="http://schemas.openxmlformats.org/drawingml/2006/main" name="Plantilla_Nebrija ALB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ción_universidad" id="{B0872379-AA6C-D148-B312-C84A4AB03E7C}" vid="{52C41A21-BA78-9D47-82C0-4965EDD45B14}"/>
    </a:ext>
  </a:extLst>
</a:theme>
</file>

<file path=ppt/theme/theme2.xml><?xml version="1.0" encoding="utf-8"?>
<a:theme xmlns:a="http://schemas.openxmlformats.org/drawingml/2006/main" name="Plantilla UNIV N">
  <a:themeElements>
    <a:clrScheme name="Nebrija">
      <a:dk1>
        <a:sysClr val="windowText" lastClr="000000"/>
      </a:dk1>
      <a:lt1>
        <a:sysClr val="window" lastClr="FFFFFF"/>
      </a:lt1>
      <a:dk2>
        <a:srgbClr val="4C0D1A"/>
      </a:dk2>
      <a:lt2>
        <a:srgbClr val="BFBFBF"/>
      </a:lt2>
      <a:accent1>
        <a:srgbClr val="C2002F"/>
      </a:accent1>
      <a:accent2>
        <a:srgbClr val="54C9E8"/>
      </a:accent2>
      <a:accent3>
        <a:srgbClr val="4E748B"/>
      </a:accent3>
      <a:accent4>
        <a:srgbClr val="DA8830"/>
      </a:accent4>
      <a:accent5>
        <a:srgbClr val="954B2E"/>
      </a:accent5>
      <a:accent6>
        <a:srgbClr val="5DB675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ción_universidad" id="{B0872379-AA6C-D148-B312-C84A4AB03E7C}" vid="{303180CE-A294-9E45-BA11-A8A332E1E0BB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5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DE64AEEDD9B7A4D93545ACBE97D4615" ma:contentTypeVersion="2" ma:contentTypeDescription="Create a new document." ma:contentTypeScope="" ma:versionID="f49002b78e3a4a71b814eef46a983816">
  <xsd:schema xmlns:xsd="http://www.w3.org/2001/XMLSchema" xmlns:xs="http://www.w3.org/2001/XMLSchema" xmlns:p="http://schemas.microsoft.com/office/2006/metadata/properties" xmlns:ns2="http://schemas.microsoft.com/sharepoint/v3/fields" targetNamespace="http://schemas.microsoft.com/office/2006/metadata/properties" ma:root="true" ma:fieldsID="38f6db2dd0d9a0cf6a8dc37be32b365b" ns2:_="">
    <xsd:import namespace="http://schemas.microsoft.com/sharepoint/v3/fields"/>
    <xsd:element name="properties">
      <xsd:complexType>
        <xsd:sequence>
          <xsd:element name="documentManagement">
            <xsd:complexType>
              <xsd:all>
                <xsd:element ref="ns2:_Status" minOccurs="0"/>
                <xsd:element ref="ns2:_Vers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/fields" elementFormDefault="qualified">
    <xsd:import namespace="http://schemas.microsoft.com/office/2006/documentManagement/types"/>
    <xsd:import namespace="http://schemas.microsoft.com/office/infopath/2007/PartnerControls"/>
    <xsd:element name="_Status" ma:index="8" nillable="true" ma:displayName="Status" ma:default="Not Started" ma:internalName="_Status">
      <xsd:simpleType>
        <xsd:union memberTypes="dms:Text">
          <xsd:simpleType>
            <xsd:restriction base="dms:Choice">
              <xsd:enumeration value="Not Started"/>
              <xsd:enumeration value="Draft"/>
              <xsd:enumeration value="Reviewed"/>
              <xsd:enumeration value="Scheduled"/>
              <xsd:enumeration value="Published"/>
              <xsd:enumeration value="Final"/>
              <xsd:enumeration value="Expired"/>
            </xsd:restriction>
          </xsd:simpleType>
        </xsd:union>
      </xsd:simpleType>
    </xsd:element>
    <xsd:element name="_Version" ma:index="9" nillable="true" ma:displayName="Version" ma:internalName="_Version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 ma:displayName="Status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Version xmlns="http://schemas.microsoft.com/sharepoint/v3/fields" xsi:nil="true"/>
    <_Status xmlns="http://schemas.microsoft.com/sharepoint/v3/fields">Not Started</_Status>
  </documentManagement>
</p:properties>
</file>

<file path=customXml/itemProps1.xml><?xml version="1.0" encoding="utf-8"?>
<ds:datastoreItem xmlns:ds="http://schemas.openxmlformats.org/officeDocument/2006/customXml" ds:itemID="{87D2A1B0-FF3E-4009-940D-AED0EB70AA2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4214858-785C-42F7-BE66-6D0E79395FC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/field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B6F2769-7194-4217-93D3-3AF3A4742282}">
  <ds:schemaRefs>
    <ds:schemaRef ds:uri="http://schemas.microsoft.com/office/2006/documentManagement/types"/>
    <ds:schemaRef ds:uri="http://purl.org/dc/dcmitype/"/>
    <ds:schemaRef ds:uri="http://www.w3.org/XML/1998/namespace"/>
    <ds:schemaRef ds:uri="http://schemas.microsoft.com/sharepoint/v3/fields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plantilla_p_universidad</Template>
  <TotalTime>7355</TotalTime>
  <Words>621</Words>
  <Application>Microsoft Office PowerPoint</Application>
  <PresentationFormat>Presentación en pantalla (16:10)</PresentationFormat>
  <Paragraphs>70</Paragraphs>
  <Slides>12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9</vt:i4>
      </vt:variant>
      <vt:variant>
        <vt:lpstr>Tema</vt:lpstr>
      </vt:variant>
      <vt:variant>
        <vt:i4>3</vt:i4>
      </vt:variant>
      <vt:variant>
        <vt:lpstr>Títulos de diapositiva</vt:lpstr>
      </vt:variant>
      <vt:variant>
        <vt:i4>12</vt:i4>
      </vt:variant>
    </vt:vector>
  </HeadingPairs>
  <TitlesOfParts>
    <vt:vector size="24" baseType="lpstr">
      <vt:lpstr>Arial</vt:lpstr>
      <vt:lpstr>Calibri</vt:lpstr>
      <vt:lpstr>Calibri Light</vt:lpstr>
      <vt:lpstr>Lato</vt:lpstr>
      <vt:lpstr>Roboto Thin</vt:lpstr>
      <vt:lpstr>Rockwell</vt:lpstr>
      <vt:lpstr>SF Pro Text</vt:lpstr>
      <vt:lpstr>Wingdings</vt:lpstr>
      <vt:lpstr>Wingdings 3</vt:lpstr>
      <vt:lpstr>Plantilla_Nebrija ALB</vt:lpstr>
      <vt:lpstr>Plantilla UNIV N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Definition and forms of economic integration </vt:lpstr>
      <vt:lpstr>Definition and forms of economic integration </vt:lpstr>
      <vt:lpstr>Definition and forms of economic integration 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>Universidad Nebrija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>Jose Maria Lopez Pina</dc:creator>
  <cp:keywords/>
  <dc:description/>
  <cp:lastModifiedBy>Pr. Geoffrey Ditta</cp:lastModifiedBy>
  <cp:revision>854</cp:revision>
  <dcterms:created xsi:type="dcterms:W3CDTF">2019-07-30T14:45:18Z</dcterms:created>
  <dcterms:modified xsi:type="dcterms:W3CDTF">2026-03-16T13:41:49Z</dcterms:modified>
  <cp:category/>
  <cp:contentStatus>Draft</cp:contentStatus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0x0101000DE64AEEDD9B7A4D93545ACBE97D4615</vt:lpwstr>
  </property>
</Properties>
</file>
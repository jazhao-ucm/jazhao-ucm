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70" r:id="rId2"/>
    <p:sldId id="557" r:id="rId3"/>
    <p:sldId id="420" r:id="rId4"/>
    <p:sldId id="575" r:id="rId5"/>
    <p:sldId id="382" r:id="rId6"/>
    <p:sldId id="624" r:id="rId7"/>
    <p:sldId id="564" r:id="rId8"/>
    <p:sldId id="560" r:id="rId9"/>
    <p:sldId id="265" r:id="rId10"/>
    <p:sldId id="271" r:id="rId11"/>
    <p:sldId id="273" r:id="rId12"/>
    <p:sldId id="282" r:id="rId13"/>
    <p:sldId id="55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EED1D7-C8C4-CD83-6239-39C3C9421E4A}" v="68" dt="2025-01-03T10:20:12.689"/>
    <p1510:client id="{9B3AADB5-C58B-C248-A1FE-2D2C1857F290}" v="98" dt="2025-01-03T10:43:54.658"/>
    <p1510:client id="{C7F29ACE-0260-88A4-DCC7-A648B4681D2A}" v="71" dt="2025-01-03T11:12:46.0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71" autoAdjust="0"/>
    <p:restoredTop sz="94660"/>
  </p:normalViewPr>
  <p:slideViewPr>
    <p:cSldViewPr snapToGrid="0">
      <p:cViewPr varScale="1">
        <p:scale>
          <a:sx n="98" d="100"/>
          <a:sy n="98" d="100"/>
        </p:scale>
        <p:origin x="9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EBF6EF-CC3F-4F29-9E27-E2E35C1FC9A7}" type="doc">
      <dgm:prSet loTypeId="urn:microsoft.com/office/officeart/2005/8/layout/matrix2" loCatId="matrix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25DA575E-AE81-426C-8E53-08CCB59D53BE}">
      <dgm:prSet phldrT="[Texto]" custT="1"/>
      <dgm:spPr>
        <a:ln>
          <a:solidFill>
            <a:srgbClr val="9E0038"/>
          </a:solidFill>
        </a:ln>
      </dgm:spPr>
      <dgm:t>
        <a:bodyPr/>
        <a:lstStyle/>
        <a:p>
          <a:r>
            <a:rPr lang="es-ES" sz="2100" dirty="0" err="1">
              <a:latin typeface="Lato" panose="020F0502020204030203" pitchFamily="34" charset="0"/>
            </a:rPr>
            <a:t>Strenght</a:t>
          </a:r>
          <a:endParaRPr lang="es-ES" sz="1400" dirty="0">
            <a:latin typeface="Lato" panose="020F0502020204030203" pitchFamily="34" charset="0"/>
          </a:endParaRPr>
        </a:p>
      </dgm:t>
    </dgm:pt>
    <dgm:pt modelId="{2298133C-2878-429A-AC74-1FBA94AD8E25}" type="parTrans" cxnId="{D2AF1EB1-F173-4192-8BDA-66D533D349D0}">
      <dgm:prSet/>
      <dgm:spPr/>
      <dgm:t>
        <a:bodyPr/>
        <a:lstStyle/>
        <a:p>
          <a:endParaRPr lang="es-ES"/>
        </a:p>
      </dgm:t>
    </dgm:pt>
    <dgm:pt modelId="{4ADB703F-61D6-424D-BEE3-03DA47D046BF}" type="sibTrans" cxnId="{D2AF1EB1-F173-4192-8BDA-66D533D349D0}">
      <dgm:prSet/>
      <dgm:spPr/>
      <dgm:t>
        <a:bodyPr/>
        <a:lstStyle/>
        <a:p>
          <a:endParaRPr lang="es-ES"/>
        </a:p>
      </dgm:t>
    </dgm:pt>
    <dgm:pt modelId="{877BFFEB-705F-4A94-99F7-60FEC2101CEC}">
      <dgm:prSet phldrT="[Texto]"/>
      <dgm:spPr>
        <a:ln>
          <a:solidFill>
            <a:srgbClr val="9E0038"/>
          </a:solidFill>
        </a:ln>
      </dgm:spPr>
      <dgm:t>
        <a:bodyPr/>
        <a:lstStyle/>
        <a:p>
          <a:r>
            <a:rPr lang="es-ES" dirty="0" err="1">
              <a:latin typeface="Lato" panose="020F0502020204030203" pitchFamily="34" charset="0"/>
            </a:rPr>
            <a:t>Opportunity</a:t>
          </a:r>
          <a:endParaRPr lang="es-ES" dirty="0">
            <a:latin typeface="Lato" panose="020F0502020204030203" pitchFamily="34" charset="0"/>
          </a:endParaRPr>
        </a:p>
      </dgm:t>
    </dgm:pt>
    <dgm:pt modelId="{6C2054F2-49E3-46AB-8770-9751056ABA5A}" type="parTrans" cxnId="{1756DFD9-E71D-4FE0-9F14-C8CE5BE873CF}">
      <dgm:prSet/>
      <dgm:spPr/>
      <dgm:t>
        <a:bodyPr/>
        <a:lstStyle/>
        <a:p>
          <a:endParaRPr lang="es-ES"/>
        </a:p>
      </dgm:t>
    </dgm:pt>
    <dgm:pt modelId="{3A882A17-ADCC-4058-859A-21A76F8D272C}" type="sibTrans" cxnId="{1756DFD9-E71D-4FE0-9F14-C8CE5BE873CF}">
      <dgm:prSet/>
      <dgm:spPr/>
      <dgm:t>
        <a:bodyPr/>
        <a:lstStyle/>
        <a:p>
          <a:endParaRPr lang="es-ES"/>
        </a:p>
      </dgm:t>
    </dgm:pt>
    <dgm:pt modelId="{4283B236-384C-4D35-ABD5-5800DDAC5D58}">
      <dgm:prSet phldrT="[Texto]"/>
      <dgm:spPr>
        <a:solidFill>
          <a:schemeClr val="bg1">
            <a:lumMod val="85000"/>
          </a:schemeClr>
        </a:solidFill>
        <a:ln>
          <a:solidFill>
            <a:srgbClr val="9E0038"/>
          </a:solidFill>
        </a:ln>
      </dgm:spPr>
      <dgm:t>
        <a:bodyPr/>
        <a:lstStyle/>
        <a:p>
          <a:r>
            <a:rPr lang="es-ES" dirty="0" err="1">
              <a:latin typeface="Lato" panose="020F0502020204030203" pitchFamily="34" charset="0"/>
            </a:rPr>
            <a:t>Weakness</a:t>
          </a:r>
          <a:endParaRPr lang="es-ES" dirty="0">
            <a:latin typeface="Lato" panose="020F0502020204030203" pitchFamily="34" charset="0"/>
          </a:endParaRPr>
        </a:p>
      </dgm:t>
    </dgm:pt>
    <dgm:pt modelId="{B26FC89F-18CC-4F4D-8B90-DB91FE1C729C}" type="parTrans" cxnId="{FB5959A4-6E55-4A37-B719-968D6F922D75}">
      <dgm:prSet/>
      <dgm:spPr/>
      <dgm:t>
        <a:bodyPr/>
        <a:lstStyle/>
        <a:p>
          <a:endParaRPr lang="es-ES"/>
        </a:p>
      </dgm:t>
    </dgm:pt>
    <dgm:pt modelId="{7D0FE4C0-3892-48C7-96A9-E5F041F89F07}" type="sibTrans" cxnId="{FB5959A4-6E55-4A37-B719-968D6F922D75}">
      <dgm:prSet/>
      <dgm:spPr/>
      <dgm:t>
        <a:bodyPr/>
        <a:lstStyle/>
        <a:p>
          <a:endParaRPr lang="es-ES"/>
        </a:p>
      </dgm:t>
    </dgm:pt>
    <dgm:pt modelId="{30591072-19D2-4C42-A075-E9A809ADD07D}">
      <dgm:prSet phldrT="[Texto]"/>
      <dgm:spPr>
        <a:solidFill>
          <a:schemeClr val="bg1">
            <a:lumMod val="85000"/>
          </a:schemeClr>
        </a:solidFill>
        <a:ln>
          <a:solidFill>
            <a:srgbClr val="9E0038"/>
          </a:solidFill>
        </a:ln>
      </dgm:spPr>
      <dgm:t>
        <a:bodyPr/>
        <a:lstStyle/>
        <a:p>
          <a:r>
            <a:rPr lang="es-ES" dirty="0" err="1">
              <a:latin typeface="Lato" panose="020F0502020204030203" pitchFamily="34" charset="0"/>
            </a:rPr>
            <a:t>Threat</a:t>
          </a:r>
          <a:endParaRPr lang="es-ES" dirty="0">
            <a:latin typeface="Lato" panose="020F0502020204030203" pitchFamily="34" charset="0"/>
          </a:endParaRPr>
        </a:p>
      </dgm:t>
    </dgm:pt>
    <dgm:pt modelId="{46D9F07D-7350-4F40-BDB8-DC055A47C617}" type="parTrans" cxnId="{B106EB11-6EBE-4135-A6A3-44E659A393DB}">
      <dgm:prSet/>
      <dgm:spPr/>
      <dgm:t>
        <a:bodyPr/>
        <a:lstStyle/>
        <a:p>
          <a:endParaRPr lang="es-ES"/>
        </a:p>
      </dgm:t>
    </dgm:pt>
    <dgm:pt modelId="{BF3A11EC-8ECD-41C3-B703-555C3C9EA3B3}" type="sibTrans" cxnId="{B106EB11-6EBE-4135-A6A3-44E659A393DB}">
      <dgm:prSet/>
      <dgm:spPr/>
      <dgm:t>
        <a:bodyPr/>
        <a:lstStyle/>
        <a:p>
          <a:endParaRPr lang="es-ES"/>
        </a:p>
      </dgm:t>
    </dgm:pt>
    <dgm:pt modelId="{9D7B6D23-B593-44E4-9BEA-E89810FB8A6B}" type="pres">
      <dgm:prSet presAssocID="{33EBF6EF-CC3F-4F29-9E27-E2E35C1FC9A7}" presName="matrix" presStyleCnt="0">
        <dgm:presLayoutVars>
          <dgm:chMax val="1"/>
          <dgm:dir/>
          <dgm:resizeHandles val="exact"/>
        </dgm:presLayoutVars>
      </dgm:prSet>
      <dgm:spPr/>
    </dgm:pt>
    <dgm:pt modelId="{524C3E1F-D6DE-4FEA-883E-F82A54CD4A8B}" type="pres">
      <dgm:prSet presAssocID="{33EBF6EF-CC3F-4F29-9E27-E2E35C1FC9A7}" presName="axisShape" presStyleLbl="bgShp" presStyleIdx="0" presStyleCnt="1"/>
      <dgm:spPr>
        <a:solidFill>
          <a:srgbClr val="3A9C9C"/>
        </a:solidFill>
      </dgm:spPr>
    </dgm:pt>
    <dgm:pt modelId="{C348F995-16DC-4115-AB46-0E5B96B840A1}" type="pres">
      <dgm:prSet presAssocID="{33EBF6EF-CC3F-4F29-9E27-E2E35C1FC9A7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08A154E-0DBF-42D3-82C2-DE8B0A890669}" type="pres">
      <dgm:prSet presAssocID="{33EBF6EF-CC3F-4F29-9E27-E2E35C1FC9A7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214218E-9FD9-427D-8389-38562E5DF641}" type="pres">
      <dgm:prSet presAssocID="{33EBF6EF-CC3F-4F29-9E27-E2E35C1FC9A7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FE935EC-86CD-45A6-9FB7-9C05F5FA7A5A}" type="pres">
      <dgm:prSet presAssocID="{33EBF6EF-CC3F-4F29-9E27-E2E35C1FC9A7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106EB11-6EBE-4135-A6A3-44E659A393DB}" srcId="{33EBF6EF-CC3F-4F29-9E27-E2E35C1FC9A7}" destId="{30591072-19D2-4C42-A075-E9A809ADD07D}" srcOrd="3" destOrd="0" parTransId="{46D9F07D-7350-4F40-BDB8-DC055A47C617}" sibTransId="{BF3A11EC-8ECD-41C3-B703-555C3C9EA3B3}"/>
    <dgm:cxn modelId="{5A67921E-6237-41E1-8339-495851563602}" type="presOf" srcId="{25DA575E-AE81-426C-8E53-08CCB59D53BE}" destId="{C348F995-16DC-4115-AB46-0E5B96B840A1}" srcOrd="0" destOrd="0" presId="urn:microsoft.com/office/officeart/2005/8/layout/matrix2"/>
    <dgm:cxn modelId="{2F149232-04D5-4A8F-BFBE-72ABD9E2963B}" type="presOf" srcId="{33EBF6EF-CC3F-4F29-9E27-E2E35C1FC9A7}" destId="{9D7B6D23-B593-44E4-9BEA-E89810FB8A6B}" srcOrd="0" destOrd="0" presId="urn:microsoft.com/office/officeart/2005/8/layout/matrix2"/>
    <dgm:cxn modelId="{FE77E36E-DB2B-4DBA-B346-6973754C7F8E}" type="presOf" srcId="{877BFFEB-705F-4A94-99F7-60FEC2101CEC}" destId="{A08A154E-0DBF-42D3-82C2-DE8B0A890669}" srcOrd="0" destOrd="0" presId="urn:microsoft.com/office/officeart/2005/8/layout/matrix2"/>
    <dgm:cxn modelId="{3C77EF78-ACF3-4893-9B13-169EC7B3D12C}" type="presOf" srcId="{30591072-19D2-4C42-A075-E9A809ADD07D}" destId="{4FE935EC-86CD-45A6-9FB7-9C05F5FA7A5A}" srcOrd="0" destOrd="0" presId="urn:microsoft.com/office/officeart/2005/8/layout/matrix2"/>
    <dgm:cxn modelId="{11CB48A4-F4A9-4944-9E35-E609208F86E6}" type="presOf" srcId="{4283B236-384C-4D35-ABD5-5800DDAC5D58}" destId="{9214218E-9FD9-427D-8389-38562E5DF641}" srcOrd="0" destOrd="0" presId="urn:microsoft.com/office/officeart/2005/8/layout/matrix2"/>
    <dgm:cxn modelId="{FB5959A4-6E55-4A37-B719-968D6F922D75}" srcId="{33EBF6EF-CC3F-4F29-9E27-E2E35C1FC9A7}" destId="{4283B236-384C-4D35-ABD5-5800DDAC5D58}" srcOrd="2" destOrd="0" parTransId="{B26FC89F-18CC-4F4D-8B90-DB91FE1C729C}" sibTransId="{7D0FE4C0-3892-48C7-96A9-E5F041F89F07}"/>
    <dgm:cxn modelId="{D2AF1EB1-F173-4192-8BDA-66D533D349D0}" srcId="{33EBF6EF-CC3F-4F29-9E27-E2E35C1FC9A7}" destId="{25DA575E-AE81-426C-8E53-08CCB59D53BE}" srcOrd="0" destOrd="0" parTransId="{2298133C-2878-429A-AC74-1FBA94AD8E25}" sibTransId="{4ADB703F-61D6-424D-BEE3-03DA47D046BF}"/>
    <dgm:cxn modelId="{1756DFD9-E71D-4FE0-9F14-C8CE5BE873CF}" srcId="{33EBF6EF-CC3F-4F29-9E27-E2E35C1FC9A7}" destId="{877BFFEB-705F-4A94-99F7-60FEC2101CEC}" srcOrd="1" destOrd="0" parTransId="{6C2054F2-49E3-46AB-8770-9751056ABA5A}" sibTransId="{3A882A17-ADCC-4058-859A-21A76F8D272C}"/>
    <dgm:cxn modelId="{0E8D9847-72E3-40CE-B382-D7FA9EFA19EB}" type="presParOf" srcId="{9D7B6D23-B593-44E4-9BEA-E89810FB8A6B}" destId="{524C3E1F-D6DE-4FEA-883E-F82A54CD4A8B}" srcOrd="0" destOrd="0" presId="urn:microsoft.com/office/officeart/2005/8/layout/matrix2"/>
    <dgm:cxn modelId="{687DE02D-3CF9-4A0A-8F27-0DA13460BDBC}" type="presParOf" srcId="{9D7B6D23-B593-44E4-9BEA-E89810FB8A6B}" destId="{C348F995-16DC-4115-AB46-0E5B96B840A1}" srcOrd="1" destOrd="0" presId="urn:microsoft.com/office/officeart/2005/8/layout/matrix2"/>
    <dgm:cxn modelId="{186EAD99-1D34-437F-91ED-1B8CB1A94E17}" type="presParOf" srcId="{9D7B6D23-B593-44E4-9BEA-E89810FB8A6B}" destId="{A08A154E-0DBF-42D3-82C2-DE8B0A890669}" srcOrd="2" destOrd="0" presId="urn:microsoft.com/office/officeart/2005/8/layout/matrix2"/>
    <dgm:cxn modelId="{AB37EDCE-86F9-4DE9-84D7-23D4A7A5C4C9}" type="presParOf" srcId="{9D7B6D23-B593-44E4-9BEA-E89810FB8A6B}" destId="{9214218E-9FD9-427D-8389-38562E5DF641}" srcOrd="3" destOrd="0" presId="urn:microsoft.com/office/officeart/2005/8/layout/matrix2"/>
    <dgm:cxn modelId="{5C25EAE6-0CD3-4826-B4A1-A43FD65060CF}" type="presParOf" srcId="{9D7B6D23-B593-44E4-9BEA-E89810FB8A6B}" destId="{4FE935EC-86CD-45A6-9FB7-9C05F5FA7A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259E19-D1BE-4E4E-BB59-CCA562EF8C3F}" type="doc">
      <dgm:prSet loTypeId="urn:microsoft.com/office/officeart/2005/8/layout/orgChart1" loCatId="hierarchy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fr-BE"/>
        </a:p>
      </dgm:t>
    </dgm:pt>
    <dgm:pt modelId="{E87080C6-CD96-4FF8-8A7D-C310A6EEF176}">
      <dgm:prSet phldrT="[Text]" custT="1"/>
      <dgm:spPr>
        <a:solidFill>
          <a:schemeClr val="tx1">
            <a:lumMod val="85000"/>
            <a:lumOff val="15000"/>
            <a:alpha val="80000"/>
          </a:schemeClr>
        </a:solidFill>
      </dgm:spPr>
      <dgm:t>
        <a:bodyPr/>
        <a:lstStyle/>
        <a:p>
          <a:r>
            <a:rPr lang="fr-BE" sz="2000" b="1" cap="none" spc="0">
              <a:ln w="0"/>
              <a:solidFill>
                <a:schemeClr val="bg1"/>
              </a:solidFill>
              <a:effectLst/>
              <a:latin typeface="Montserrat" panose="00000500000000000000" pitchFamily="2" charset="0"/>
            </a:rPr>
            <a:t>CEO</a:t>
          </a:r>
        </a:p>
      </dgm:t>
    </dgm:pt>
    <dgm:pt modelId="{D0F14D97-BEE6-4C64-A021-C464EE4C4D48}" type="parTrans" cxnId="{EBC579F8-B429-4338-A134-823DA0287AF5}">
      <dgm:prSet/>
      <dgm:spPr/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AD3EA21-1AC3-4587-B4BD-31A64109E5CF}" type="sibTrans" cxnId="{EBC579F8-B429-4338-A134-823DA0287AF5}">
      <dgm:prSet/>
      <dgm:spPr/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BD70CD5-B187-4904-AACC-C8B843C8E64C}">
      <dgm:prSet phldrT="[Text]" custT="1"/>
      <dgm:spPr>
        <a:solidFill>
          <a:srgbClr val="00D090">
            <a:alpha val="70000"/>
          </a:srgbClr>
        </a:solidFill>
      </dgm:spPr>
      <dgm:t>
        <a:bodyPr/>
        <a:lstStyle/>
        <a:p>
          <a:r>
            <a:rPr lang="fr-BE" sz="2000" b="1" cap="none" spc="0">
              <a:ln w="0"/>
              <a:solidFill>
                <a:schemeClr val="tx1"/>
              </a:solidFill>
              <a:effectLst/>
              <a:latin typeface="Montserrat" panose="00000500000000000000" pitchFamily="2" charset="0"/>
            </a:rPr>
            <a:t>A</a:t>
          </a:r>
        </a:p>
      </dgm:t>
    </dgm:pt>
    <dgm:pt modelId="{DF7A297B-0652-4D45-AE2F-A8F033B5D621}" type="parTrans" cxnId="{4EFF3FE4-BED4-418F-9248-93D4216CE56B}">
      <dgm:prSet/>
      <dgm:spPr>
        <a:ln>
          <a:solidFill>
            <a:srgbClr val="BA9D62"/>
          </a:solidFill>
        </a:ln>
      </dgm:spPr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8F1254A-22F6-41E9-B54A-4B8A8378EBE5}" type="sibTrans" cxnId="{4EFF3FE4-BED4-418F-9248-93D4216CE56B}">
      <dgm:prSet/>
      <dgm:spPr/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7629CB1-40F9-4D8B-9214-795E36224AC9}">
      <dgm:prSet custT="1"/>
      <dgm:spPr>
        <a:solidFill>
          <a:srgbClr val="00D090">
            <a:alpha val="70000"/>
          </a:srgbClr>
        </a:solidFill>
      </dgm:spPr>
      <dgm:t>
        <a:bodyPr/>
        <a:lstStyle/>
        <a:p>
          <a:r>
            <a:rPr lang="fr-BE" sz="2000" b="1" cap="none" spc="0" dirty="0">
              <a:ln w="0"/>
              <a:solidFill>
                <a:schemeClr val="tx1"/>
              </a:solidFill>
              <a:effectLst/>
              <a:latin typeface="Montserrat" panose="00000500000000000000" pitchFamily="2" charset="0"/>
            </a:rPr>
            <a:t>B</a:t>
          </a:r>
        </a:p>
      </dgm:t>
    </dgm:pt>
    <dgm:pt modelId="{725382BA-C851-4A66-913D-A3E2A17E1E83}" type="parTrans" cxnId="{93EF1664-73CC-4AAF-80E6-32568AD99FB4}">
      <dgm:prSet/>
      <dgm:spPr>
        <a:ln>
          <a:solidFill>
            <a:srgbClr val="BA9D62"/>
          </a:solidFill>
        </a:ln>
      </dgm:spPr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EA41398-33C2-4674-8D9B-8F48EE66E049}" type="sibTrans" cxnId="{93EF1664-73CC-4AAF-80E6-32568AD99FB4}">
      <dgm:prSet/>
      <dgm:spPr/>
      <dgm:t>
        <a:bodyPr/>
        <a:lstStyle/>
        <a:p>
          <a:endParaRPr lang="fr-BE" sz="15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9ED9DD2-117A-4411-9C43-34774FCB0159}" type="pres">
      <dgm:prSet presAssocID="{0F259E19-D1BE-4E4E-BB59-CCA562EF8C3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FEFEEFC-F3A4-47D8-BBEA-B4F55456ABEB}" type="pres">
      <dgm:prSet presAssocID="{E87080C6-CD96-4FF8-8A7D-C310A6EEF176}" presName="hierRoot1" presStyleCnt="0">
        <dgm:presLayoutVars>
          <dgm:hierBranch val="init"/>
        </dgm:presLayoutVars>
      </dgm:prSet>
      <dgm:spPr/>
    </dgm:pt>
    <dgm:pt modelId="{4FA2CAC6-BA6E-4882-AEF6-38F1C5A5C853}" type="pres">
      <dgm:prSet presAssocID="{E87080C6-CD96-4FF8-8A7D-C310A6EEF176}" presName="rootComposite1" presStyleCnt="0"/>
      <dgm:spPr/>
    </dgm:pt>
    <dgm:pt modelId="{037CEEEC-A5B7-4F98-BF22-C8634E7B3729}" type="pres">
      <dgm:prSet presAssocID="{E87080C6-CD96-4FF8-8A7D-C310A6EEF176}" presName="rootText1" presStyleLbl="node0" presStyleIdx="0" presStyleCnt="1">
        <dgm:presLayoutVars>
          <dgm:chPref val="3"/>
        </dgm:presLayoutVars>
      </dgm:prSet>
      <dgm:spPr>
        <a:prstGeom prst="round2DiagRect">
          <a:avLst/>
        </a:prstGeom>
      </dgm:spPr>
    </dgm:pt>
    <dgm:pt modelId="{ABAAE977-44C2-4B15-8F7F-8230FFCD8EF4}" type="pres">
      <dgm:prSet presAssocID="{E87080C6-CD96-4FF8-8A7D-C310A6EEF176}" presName="rootConnector1" presStyleLbl="node1" presStyleIdx="0" presStyleCnt="0"/>
      <dgm:spPr/>
    </dgm:pt>
    <dgm:pt modelId="{0B2A4378-92D6-4C31-AD19-10E7A045BE46}" type="pres">
      <dgm:prSet presAssocID="{E87080C6-CD96-4FF8-8A7D-C310A6EEF176}" presName="hierChild2" presStyleCnt="0"/>
      <dgm:spPr/>
    </dgm:pt>
    <dgm:pt modelId="{4998D578-A2AA-4AF2-8226-EFEFCA6D1717}" type="pres">
      <dgm:prSet presAssocID="{DF7A297B-0652-4D45-AE2F-A8F033B5D621}" presName="Name37" presStyleLbl="parChTrans1D2" presStyleIdx="0" presStyleCnt="2"/>
      <dgm:spPr/>
    </dgm:pt>
    <dgm:pt modelId="{54F92175-17E1-482E-9532-A953F19A9BF3}" type="pres">
      <dgm:prSet presAssocID="{1BD70CD5-B187-4904-AACC-C8B843C8E64C}" presName="hierRoot2" presStyleCnt="0">
        <dgm:presLayoutVars>
          <dgm:hierBranch val="init"/>
        </dgm:presLayoutVars>
      </dgm:prSet>
      <dgm:spPr/>
    </dgm:pt>
    <dgm:pt modelId="{E1E0EE79-AAD0-4805-BC05-92EF29212FD9}" type="pres">
      <dgm:prSet presAssocID="{1BD70CD5-B187-4904-AACC-C8B843C8E64C}" presName="rootComposite" presStyleCnt="0"/>
      <dgm:spPr/>
    </dgm:pt>
    <dgm:pt modelId="{EC872939-5103-48D1-B1C8-3D4C2ABD16A3}" type="pres">
      <dgm:prSet presAssocID="{1BD70CD5-B187-4904-AACC-C8B843C8E64C}" presName="rootText" presStyleLbl="node2" presStyleIdx="0" presStyleCnt="2" custLinFactNeighborX="-35951">
        <dgm:presLayoutVars>
          <dgm:chPref val="3"/>
        </dgm:presLayoutVars>
      </dgm:prSet>
      <dgm:spPr>
        <a:prstGeom prst="round2DiagRect">
          <a:avLst/>
        </a:prstGeom>
      </dgm:spPr>
    </dgm:pt>
    <dgm:pt modelId="{1611A485-1FA2-40D9-97FF-F3115DCC3A1D}" type="pres">
      <dgm:prSet presAssocID="{1BD70CD5-B187-4904-AACC-C8B843C8E64C}" presName="rootConnector" presStyleLbl="node2" presStyleIdx="0" presStyleCnt="2"/>
      <dgm:spPr/>
    </dgm:pt>
    <dgm:pt modelId="{8AC4CA70-6D70-4369-A390-4A626A274C2F}" type="pres">
      <dgm:prSet presAssocID="{1BD70CD5-B187-4904-AACC-C8B843C8E64C}" presName="hierChild4" presStyleCnt="0"/>
      <dgm:spPr/>
    </dgm:pt>
    <dgm:pt modelId="{39F339EC-46BD-43C8-87AA-E55ABEC8C887}" type="pres">
      <dgm:prSet presAssocID="{1BD70CD5-B187-4904-AACC-C8B843C8E64C}" presName="hierChild5" presStyleCnt="0"/>
      <dgm:spPr/>
    </dgm:pt>
    <dgm:pt modelId="{2A00820D-6966-4551-9A94-B17AC38FE4E6}" type="pres">
      <dgm:prSet presAssocID="{725382BA-C851-4A66-913D-A3E2A17E1E83}" presName="Name37" presStyleLbl="parChTrans1D2" presStyleIdx="1" presStyleCnt="2"/>
      <dgm:spPr/>
    </dgm:pt>
    <dgm:pt modelId="{A7FD8348-CF45-4D41-BE5B-C08231298F11}" type="pres">
      <dgm:prSet presAssocID="{07629CB1-40F9-4D8B-9214-795E36224AC9}" presName="hierRoot2" presStyleCnt="0">
        <dgm:presLayoutVars>
          <dgm:hierBranch val="init"/>
        </dgm:presLayoutVars>
      </dgm:prSet>
      <dgm:spPr/>
    </dgm:pt>
    <dgm:pt modelId="{C83F4335-CC83-4570-96F0-D920E89065AC}" type="pres">
      <dgm:prSet presAssocID="{07629CB1-40F9-4D8B-9214-795E36224AC9}" presName="rootComposite" presStyleCnt="0"/>
      <dgm:spPr/>
    </dgm:pt>
    <dgm:pt modelId="{B9820973-81F7-49FC-8E78-BC4C10B1EA4B}" type="pres">
      <dgm:prSet presAssocID="{07629CB1-40F9-4D8B-9214-795E36224AC9}" presName="rootText" presStyleLbl="node2" presStyleIdx="1" presStyleCnt="2" custLinFactNeighborX="41643">
        <dgm:presLayoutVars>
          <dgm:chPref val="3"/>
        </dgm:presLayoutVars>
      </dgm:prSet>
      <dgm:spPr>
        <a:prstGeom prst="round2DiagRect">
          <a:avLst/>
        </a:prstGeom>
      </dgm:spPr>
    </dgm:pt>
    <dgm:pt modelId="{1CC57D7D-138B-4642-9C18-88D1DA1863B4}" type="pres">
      <dgm:prSet presAssocID="{07629CB1-40F9-4D8B-9214-795E36224AC9}" presName="rootConnector" presStyleLbl="node2" presStyleIdx="1" presStyleCnt="2"/>
      <dgm:spPr/>
    </dgm:pt>
    <dgm:pt modelId="{202751DF-76FF-4554-8C6B-079E2A19914E}" type="pres">
      <dgm:prSet presAssocID="{07629CB1-40F9-4D8B-9214-795E36224AC9}" presName="hierChild4" presStyleCnt="0"/>
      <dgm:spPr/>
    </dgm:pt>
    <dgm:pt modelId="{A038AEE7-1C5C-4D23-8EDD-E6D086719D09}" type="pres">
      <dgm:prSet presAssocID="{07629CB1-40F9-4D8B-9214-795E36224AC9}" presName="hierChild5" presStyleCnt="0"/>
      <dgm:spPr/>
    </dgm:pt>
    <dgm:pt modelId="{C9B3C845-8023-4D32-912A-D49FA7E4BF80}" type="pres">
      <dgm:prSet presAssocID="{E87080C6-CD96-4FF8-8A7D-C310A6EEF176}" presName="hierChild3" presStyleCnt="0"/>
      <dgm:spPr/>
    </dgm:pt>
  </dgm:ptLst>
  <dgm:cxnLst>
    <dgm:cxn modelId="{FC4C4001-BDED-304E-86DE-CC09FA3FC074}" type="presOf" srcId="{DF7A297B-0652-4D45-AE2F-A8F033B5D621}" destId="{4998D578-A2AA-4AF2-8226-EFEFCA6D1717}" srcOrd="0" destOrd="0" presId="urn:microsoft.com/office/officeart/2005/8/layout/orgChart1"/>
    <dgm:cxn modelId="{FADD341D-C010-5147-8846-555395609BF5}" type="presOf" srcId="{1BD70CD5-B187-4904-AACC-C8B843C8E64C}" destId="{EC872939-5103-48D1-B1C8-3D4C2ABD16A3}" srcOrd="0" destOrd="0" presId="urn:microsoft.com/office/officeart/2005/8/layout/orgChart1"/>
    <dgm:cxn modelId="{9BDEE629-9443-A745-BCA9-91102EB9BED8}" type="presOf" srcId="{E87080C6-CD96-4FF8-8A7D-C310A6EEF176}" destId="{037CEEEC-A5B7-4F98-BF22-C8634E7B3729}" srcOrd="0" destOrd="0" presId="urn:microsoft.com/office/officeart/2005/8/layout/orgChart1"/>
    <dgm:cxn modelId="{93EF1664-73CC-4AAF-80E6-32568AD99FB4}" srcId="{E87080C6-CD96-4FF8-8A7D-C310A6EEF176}" destId="{07629CB1-40F9-4D8B-9214-795E36224AC9}" srcOrd="1" destOrd="0" parTransId="{725382BA-C851-4A66-913D-A3E2A17E1E83}" sibTransId="{FEA41398-33C2-4674-8D9B-8F48EE66E049}"/>
    <dgm:cxn modelId="{932D3747-623B-2B42-8BE9-421A93A86D37}" type="presOf" srcId="{725382BA-C851-4A66-913D-A3E2A17E1E83}" destId="{2A00820D-6966-4551-9A94-B17AC38FE4E6}" srcOrd="0" destOrd="0" presId="urn:microsoft.com/office/officeart/2005/8/layout/orgChart1"/>
    <dgm:cxn modelId="{DA665275-327A-5A45-A75F-DCE3DADF0F38}" type="presOf" srcId="{0F259E19-D1BE-4E4E-BB59-CCA562EF8C3F}" destId="{39ED9DD2-117A-4411-9C43-34774FCB0159}" srcOrd="0" destOrd="0" presId="urn:microsoft.com/office/officeart/2005/8/layout/orgChart1"/>
    <dgm:cxn modelId="{02CA52DD-D560-4A4C-BAC8-8C628A4E45D8}" type="presOf" srcId="{1BD70CD5-B187-4904-AACC-C8B843C8E64C}" destId="{1611A485-1FA2-40D9-97FF-F3115DCC3A1D}" srcOrd="1" destOrd="0" presId="urn:microsoft.com/office/officeart/2005/8/layout/orgChart1"/>
    <dgm:cxn modelId="{4EFF3FE4-BED4-418F-9248-93D4216CE56B}" srcId="{E87080C6-CD96-4FF8-8A7D-C310A6EEF176}" destId="{1BD70CD5-B187-4904-AACC-C8B843C8E64C}" srcOrd="0" destOrd="0" parTransId="{DF7A297B-0652-4D45-AE2F-A8F033B5D621}" sibTransId="{58F1254A-22F6-41E9-B54A-4B8A8378EBE5}"/>
    <dgm:cxn modelId="{EBEDA5ED-68AF-3A4D-A62D-3E2ACCC01FEB}" type="presOf" srcId="{07629CB1-40F9-4D8B-9214-795E36224AC9}" destId="{1CC57D7D-138B-4642-9C18-88D1DA1863B4}" srcOrd="1" destOrd="0" presId="urn:microsoft.com/office/officeart/2005/8/layout/orgChart1"/>
    <dgm:cxn modelId="{76C886F0-48F8-2F46-810D-5A6A751E7355}" type="presOf" srcId="{07629CB1-40F9-4D8B-9214-795E36224AC9}" destId="{B9820973-81F7-49FC-8E78-BC4C10B1EA4B}" srcOrd="0" destOrd="0" presId="urn:microsoft.com/office/officeart/2005/8/layout/orgChart1"/>
    <dgm:cxn modelId="{574468F7-3903-434E-9DD0-9F6B4DEE95F7}" type="presOf" srcId="{E87080C6-CD96-4FF8-8A7D-C310A6EEF176}" destId="{ABAAE977-44C2-4B15-8F7F-8230FFCD8EF4}" srcOrd="1" destOrd="0" presId="urn:microsoft.com/office/officeart/2005/8/layout/orgChart1"/>
    <dgm:cxn modelId="{EBC579F8-B429-4338-A134-823DA0287AF5}" srcId="{0F259E19-D1BE-4E4E-BB59-CCA562EF8C3F}" destId="{E87080C6-CD96-4FF8-8A7D-C310A6EEF176}" srcOrd="0" destOrd="0" parTransId="{D0F14D97-BEE6-4C64-A021-C464EE4C4D48}" sibTransId="{DAD3EA21-1AC3-4587-B4BD-31A64109E5CF}"/>
    <dgm:cxn modelId="{B958718A-8D76-7F4E-A3D9-BB008558E5D8}" type="presParOf" srcId="{39ED9DD2-117A-4411-9C43-34774FCB0159}" destId="{7FEFEEFC-F3A4-47D8-BBEA-B4F55456ABEB}" srcOrd="0" destOrd="0" presId="urn:microsoft.com/office/officeart/2005/8/layout/orgChart1"/>
    <dgm:cxn modelId="{C4ADC894-55B8-AD47-B214-5FEFF428875C}" type="presParOf" srcId="{7FEFEEFC-F3A4-47D8-BBEA-B4F55456ABEB}" destId="{4FA2CAC6-BA6E-4882-AEF6-38F1C5A5C853}" srcOrd="0" destOrd="0" presId="urn:microsoft.com/office/officeart/2005/8/layout/orgChart1"/>
    <dgm:cxn modelId="{3CFDDF48-67C5-F949-B889-E70AD850EF27}" type="presParOf" srcId="{4FA2CAC6-BA6E-4882-AEF6-38F1C5A5C853}" destId="{037CEEEC-A5B7-4F98-BF22-C8634E7B3729}" srcOrd="0" destOrd="0" presId="urn:microsoft.com/office/officeart/2005/8/layout/orgChart1"/>
    <dgm:cxn modelId="{D444EB28-1585-9A4B-B04C-7E4DDF0F6790}" type="presParOf" srcId="{4FA2CAC6-BA6E-4882-AEF6-38F1C5A5C853}" destId="{ABAAE977-44C2-4B15-8F7F-8230FFCD8EF4}" srcOrd="1" destOrd="0" presId="urn:microsoft.com/office/officeart/2005/8/layout/orgChart1"/>
    <dgm:cxn modelId="{D864B9E2-0B0B-434D-A13A-78B9B7D8E6C0}" type="presParOf" srcId="{7FEFEEFC-F3A4-47D8-BBEA-B4F55456ABEB}" destId="{0B2A4378-92D6-4C31-AD19-10E7A045BE46}" srcOrd="1" destOrd="0" presId="urn:microsoft.com/office/officeart/2005/8/layout/orgChart1"/>
    <dgm:cxn modelId="{839CD71D-BFC4-4140-9DC5-C1661C8D6633}" type="presParOf" srcId="{0B2A4378-92D6-4C31-AD19-10E7A045BE46}" destId="{4998D578-A2AA-4AF2-8226-EFEFCA6D1717}" srcOrd="0" destOrd="0" presId="urn:microsoft.com/office/officeart/2005/8/layout/orgChart1"/>
    <dgm:cxn modelId="{F0E6D71E-AE7F-494C-9E15-FABC800C125E}" type="presParOf" srcId="{0B2A4378-92D6-4C31-AD19-10E7A045BE46}" destId="{54F92175-17E1-482E-9532-A953F19A9BF3}" srcOrd="1" destOrd="0" presId="urn:microsoft.com/office/officeart/2005/8/layout/orgChart1"/>
    <dgm:cxn modelId="{C3D65241-A0EB-9F46-82AA-4ED487472445}" type="presParOf" srcId="{54F92175-17E1-482E-9532-A953F19A9BF3}" destId="{E1E0EE79-AAD0-4805-BC05-92EF29212FD9}" srcOrd="0" destOrd="0" presId="urn:microsoft.com/office/officeart/2005/8/layout/orgChart1"/>
    <dgm:cxn modelId="{21A61B37-ECFA-B147-8DC1-FC73672475BB}" type="presParOf" srcId="{E1E0EE79-AAD0-4805-BC05-92EF29212FD9}" destId="{EC872939-5103-48D1-B1C8-3D4C2ABD16A3}" srcOrd="0" destOrd="0" presId="urn:microsoft.com/office/officeart/2005/8/layout/orgChart1"/>
    <dgm:cxn modelId="{66EA9882-5223-524A-942D-1E78E4674CE4}" type="presParOf" srcId="{E1E0EE79-AAD0-4805-BC05-92EF29212FD9}" destId="{1611A485-1FA2-40D9-97FF-F3115DCC3A1D}" srcOrd="1" destOrd="0" presId="urn:microsoft.com/office/officeart/2005/8/layout/orgChart1"/>
    <dgm:cxn modelId="{FF0F1EA1-8A5E-7045-B08E-4EBEB2BB2095}" type="presParOf" srcId="{54F92175-17E1-482E-9532-A953F19A9BF3}" destId="{8AC4CA70-6D70-4369-A390-4A626A274C2F}" srcOrd="1" destOrd="0" presId="urn:microsoft.com/office/officeart/2005/8/layout/orgChart1"/>
    <dgm:cxn modelId="{940F6ED9-26F8-EC4D-8C27-C4DCA0F5589C}" type="presParOf" srcId="{54F92175-17E1-482E-9532-A953F19A9BF3}" destId="{39F339EC-46BD-43C8-87AA-E55ABEC8C887}" srcOrd="2" destOrd="0" presId="urn:microsoft.com/office/officeart/2005/8/layout/orgChart1"/>
    <dgm:cxn modelId="{7A6DC59D-EBAA-8347-9B3C-0DF4AF3FE417}" type="presParOf" srcId="{0B2A4378-92D6-4C31-AD19-10E7A045BE46}" destId="{2A00820D-6966-4551-9A94-B17AC38FE4E6}" srcOrd="2" destOrd="0" presId="urn:microsoft.com/office/officeart/2005/8/layout/orgChart1"/>
    <dgm:cxn modelId="{B8F9835A-B71B-8445-8825-472276C66428}" type="presParOf" srcId="{0B2A4378-92D6-4C31-AD19-10E7A045BE46}" destId="{A7FD8348-CF45-4D41-BE5B-C08231298F11}" srcOrd="3" destOrd="0" presId="urn:microsoft.com/office/officeart/2005/8/layout/orgChart1"/>
    <dgm:cxn modelId="{778FB038-4613-B24B-AAFE-AB859C54CAF9}" type="presParOf" srcId="{A7FD8348-CF45-4D41-BE5B-C08231298F11}" destId="{C83F4335-CC83-4570-96F0-D920E89065AC}" srcOrd="0" destOrd="0" presId="urn:microsoft.com/office/officeart/2005/8/layout/orgChart1"/>
    <dgm:cxn modelId="{40B3D7B4-23F1-3140-9F23-0ED2CDC690E5}" type="presParOf" srcId="{C83F4335-CC83-4570-96F0-D920E89065AC}" destId="{B9820973-81F7-49FC-8E78-BC4C10B1EA4B}" srcOrd="0" destOrd="0" presId="urn:microsoft.com/office/officeart/2005/8/layout/orgChart1"/>
    <dgm:cxn modelId="{397249DF-5045-3248-AB26-D4BA099D10AF}" type="presParOf" srcId="{C83F4335-CC83-4570-96F0-D920E89065AC}" destId="{1CC57D7D-138B-4642-9C18-88D1DA1863B4}" srcOrd="1" destOrd="0" presId="urn:microsoft.com/office/officeart/2005/8/layout/orgChart1"/>
    <dgm:cxn modelId="{5BF4403B-75FC-B84F-A9C0-FF007D121971}" type="presParOf" srcId="{A7FD8348-CF45-4D41-BE5B-C08231298F11}" destId="{202751DF-76FF-4554-8C6B-079E2A19914E}" srcOrd="1" destOrd="0" presId="urn:microsoft.com/office/officeart/2005/8/layout/orgChart1"/>
    <dgm:cxn modelId="{9AD28478-EC28-FF47-993D-037BB64413BD}" type="presParOf" srcId="{A7FD8348-CF45-4D41-BE5B-C08231298F11}" destId="{A038AEE7-1C5C-4D23-8EDD-E6D086719D09}" srcOrd="2" destOrd="0" presId="urn:microsoft.com/office/officeart/2005/8/layout/orgChart1"/>
    <dgm:cxn modelId="{5C456542-8E00-7141-8E88-117BB431DAA8}" type="presParOf" srcId="{7FEFEEFC-F3A4-47D8-BBEA-B4F55456ABEB}" destId="{C9B3C845-8023-4D32-912A-D49FA7E4BF8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C3E1F-D6DE-4FEA-883E-F82A54CD4A8B}">
      <dsp:nvSpPr>
        <dsp:cNvPr id="0" name=""/>
        <dsp:cNvSpPr/>
      </dsp:nvSpPr>
      <dsp:spPr>
        <a:xfrm>
          <a:off x="1049416" y="0"/>
          <a:ext cx="4566830" cy="4566830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rgbClr val="3A9C9C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8F995-16DC-4115-AB46-0E5B96B840A1}">
      <dsp:nvSpPr>
        <dsp:cNvPr id="0" name=""/>
        <dsp:cNvSpPr/>
      </dsp:nvSpPr>
      <dsp:spPr>
        <a:xfrm>
          <a:off x="1346259" y="296843"/>
          <a:ext cx="1826732" cy="182673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E00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>
              <a:latin typeface="Lato" panose="020F0502020204030203" pitchFamily="34" charset="0"/>
            </a:rPr>
            <a:t>Strenght</a:t>
          </a:r>
          <a:endParaRPr lang="es-ES" sz="1400" kern="1200" dirty="0">
            <a:latin typeface="Lato" panose="020F0502020204030203" pitchFamily="34" charset="0"/>
          </a:endParaRPr>
        </a:p>
      </dsp:txBody>
      <dsp:txXfrm>
        <a:off x="1435433" y="386017"/>
        <a:ext cx="1648384" cy="1648384"/>
      </dsp:txXfrm>
    </dsp:sp>
    <dsp:sp modelId="{A08A154E-0DBF-42D3-82C2-DE8B0A890669}">
      <dsp:nvSpPr>
        <dsp:cNvPr id="0" name=""/>
        <dsp:cNvSpPr/>
      </dsp:nvSpPr>
      <dsp:spPr>
        <a:xfrm>
          <a:off x="3492670" y="296843"/>
          <a:ext cx="1826732" cy="182673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rgbClr val="9E00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>
              <a:latin typeface="Lato" panose="020F0502020204030203" pitchFamily="34" charset="0"/>
            </a:rPr>
            <a:t>Opportunity</a:t>
          </a:r>
          <a:endParaRPr lang="es-ES" sz="2100" kern="1200" dirty="0">
            <a:latin typeface="Lato" panose="020F0502020204030203" pitchFamily="34" charset="0"/>
          </a:endParaRPr>
        </a:p>
      </dsp:txBody>
      <dsp:txXfrm>
        <a:off x="3581844" y="386017"/>
        <a:ext cx="1648384" cy="1648384"/>
      </dsp:txXfrm>
    </dsp:sp>
    <dsp:sp modelId="{9214218E-9FD9-427D-8389-38562E5DF641}">
      <dsp:nvSpPr>
        <dsp:cNvPr id="0" name=""/>
        <dsp:cNvSpPr/>
      </dsp:nvSpPr>
      <dsp:spPr>
        <a:xfrm>
          <a:off x="1346259" y="2443254"/>
          <a:ext cx="1826732" cy="1826732"/>
        </a:xfrm>
        <a:prstGeom prst="roundRect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rgbClr val="9E00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>
              <a:latin typeface="Lato" panose="020F0502020204030203" pitchFamily="34" charset="0"/>
            </a:rPr>
            <a:t>Weakness</a:t>
          </a:r>
          <a:endParaRPr lang="es-ES" sz="2100" kern="1200" dirty="0">
            <a:latin typeface="Lato" panose="020F0502020204030203" pitchFamily="34" charset="0"/>
          </a:endParaRPr>
        </a:p>
      </dsp:txBody>
      <dsp:txXfrm>
        <a:off x="1435433" y="2532428"/>
        <a:ext cx="1648384" cy="1648384"/>
      </dsp:txXfrm>
    </dsp:sp>
    <dsp:sp modelId="{4FE935EC-86CD-45A6-9FB7-9C05F5FA7A5A}">
      <dsp:nvSpPr>
        <dsp:cNvPr id="0" name=""/>
        <dsp:cNvSpPr/>
      </dsp:nvSpPr>
      <dsp:spPr>
        <a:xfrm>
          <a:off x="3492670" y="2443254"/>
          <a:ext cx="1826732" cy="1826732"/>
        </a:xfrm>
        <a:prstGeom prst="roundRect">
          <a:avLst/>
        </a:prstGeom>
        <a:solidFill>
          <a:schemeClr val="bg1">
            <a:lumMod val="85000"/>
          </a:schemeClr>
        </a:solidFill>
        <a:ln w="19050" cap="flat" cmpd="sng" algn="ctr">
          <a:solidFill>
            <a:srgbClr val="9E0038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 err="1">
              <a:latin typeface="Lato" panose="020F0502020204030203" pitchFamily="34" charset="0"/>
            </a:rPr>
            <a:t>Threat</a:t>
          </a:r>
          <a:endParaRPr lang="es-ES" sz="2100" kern="1200" dirty="0">
            <a:latin typeface="Lato" panose="020F0502020204030203" pitchFamily="34" charset="0"/>
          </a:endParaRPr>
        </a:p>
      </dsp:txBody>
      <dsp:txXfrm>
        <a:off x="3581844" y="2532428"/>
        <a:ext cx="1648384" cy="16483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00820D-6966-4551-9A94-B17AC38FE4E6}">
      <dsp:nvSpPr>
        <dsp:cNvPr id="0" name=""/>
        <dsp:cNvSpPr/>
      </dsp:nvSpPr>
      <dsp:spPr>
        <a:xfrm>
          <a:off x="1555372" y="887778"/>
          <a:ext cx="851923" cy="2954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7724"/>
              </a:lnTo>
              <a:lnTo>
                <a:pt x="851923" y="147724"/>
              </a:lnTo>
              <a:lnTo>
                <a:pt x="851923" y="295448"/>
              </a:lnTo>
            </a:path>
          </a:pathLst>
        </a:custGeom>
        <a:noFill/>
        <a:ln w="19050" cap="flat" cmpd="sng" algn="ctr">
          <a:solidFill>
            <a:srgbClr val="BA9D6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98D578-A2AA-4AF2-8226-EFEFCA6D1717}">
      <dsp:nvSpPr>
        <dsp:cNvPr id="0" name=""/>
        <dsp:cNvSpPr/>
      </dsp:nvSpPr>
      <dsp:spPr>
        <a:xfrm>
          <a:off x="703448" y="887778"/>
          <a:ext cx="851923" cy="295448"/>
        </a:xfrm>
        <a:custGeom>
          <a:avLst/>
          <a:gdLst/>
          <a:ahLst/>
          <a:cxnLst/>
          <a:rect l="0" t="0" r="0" b="0"/>
          <a:pathLst>
            <a:path>
              <a:moveTo>
                <a:pt x="851923" y="0"/>
              </a:moveTo>
              <a:lnTo>
                <a:pt x="851923" y="147724"/>
              </a:lnTo>
              <a:lnTo>
                <a:pt x="0" y="147724"/>
              </a:lnTo>
              <a:lnTo>
                <a:pt x="0" y="295448"/>
              </a:lnTo>
            </a:path>
          </a:pathLst>
        </a:custGeom>
        <a:noFill/>
        <a:ln w="19050" cap="flat" cmpd="sng" algn="ctr">
          <a:solidFill>
            <a:srgbClr val="BA9D6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7CEEEC-A5B7-4F98-BF22-C8634E7B3729}">
      <dsp:nvSpPr>
        <dsp:cNvPr id="0" name=""/>
        <dsp:cNvSpPr/>
      </dsp:nvSpPr>
      <dsp:spPr>
        <a:xfrm>
          <a:off x="851923" y="184329"/>
          <a:ext cx="1406897" cy="703448"/>
        </a:xfrm>
        <a:prstGeom prst="round2DiagRect">
          <a:avLst/>
        </a:prstGeom>
        <a:solidFill>
          <a:schemeClr val="tx1">
            <a:lumMod val="85000"/>
            <a:lumOff val="15000"/>
            <a:alpha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000" b="1" kern="1200" cap="none" spc="0">
              <a:ln w="0"/>
              <a:solidFill>
                <a:schemeClr val="bg1"/>
              </a:solidFill>
              <a:effectLst/>
              <a:latin typeface="Montserrat" panose="00000500000000000000" pitchFamily="2" charset="0"/>
            </a:rPr>
            <a:t>CEO</a:t>
          </a:r>
        </a:p>
      </dsp:txBody>
      <dsp:txXfrm>
        <a:off x="886263" y="218669"/>
        <a:ext cx="1338217" cy="634768"/>
      </dsp:txXfrm>
    </dsp:sp>
    <dsp:sp modelId="{EC872939-5103-48D1-B1C8-3D4C2ABD16A3}">
      <dsp:nvSpPr>
        <dsp:cNvPr id="0" name=""/>
        <dsp:cNvSpPr/>
      </dsp:nvSpPr>
      <dsp:spPr>
        <a:xfrm>
          <a:off x="0" y="1183227"/>
          <a:ext cx="1406897" cy="703448"/>
        </a:xfrm>
        <a:prstGeom prst="round2DiagRect">
          <a:avLst/>
        </a:prstGeom>
        <a:solidFill>
          <a:srgbClr val="00D090">
            <a:alpha val="7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000" b="1" kern="1200" cap="none" spc="0">
              <a:ln w="0"/>
              <a:solidFill>
                <a:schemeClr val="tx1"/>
              </a:solidFill>
              <a:effectLst/>
              <a:latin typeface="Montserrat" panose="00000500000000000000" pitchFamily="2" charset="0"/>
            </a:rPr>
            <a:t>A</a:t>
          </a:r>
        </a:p>
      </dsp:txBody>
      <dsp:txXfrm>
        <a:off x="34340" y="1217567"/>
        <a:ext cx="1338217" cy="634768"/>
      </dsp:txXfrm>
    </dsp:sp>
    <dsp:sp modelId="{B9820973-81F7-49FC-8E78-BC4C10B1EA4B}">
      <dsp:nvSpPr>
        <dsp:cNvPr id="0" name=""/>
        <dsp:cNvSpPr/>
      </dsp:nvSpPr>
      <dsp:spPr>
        <a:xfrm>
          <a:off x="1703846" y="1183227"/>
          <a:ext cx="1406897" cy="703448"/>
        </a:xfrm>
        <a:prstGeom prst="round2DiagRect">
          <a:avLst/>
        </a:prstGeom>
        <a:solidFill>
          <a:srgbClr val="00D090">
            <a:alpha val="70000"/>
          </a:srgb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2000" b="1" kern="1200" cap="none" spc="0" dirty="0">
              <a:ln w="0"/>
              <a:solidFill>
                <a:schemeClr val="tx1"/>
              </a:solidFill>
              <a:effectLst/>
              <a:latin typeface="Montserrat" panose="00000500000000000000" pitchFamily="2" charset="0"/>
            </a:rPr>
            <a:t>B</a:t>
          </a:r>
        </a:p>
      </dsp:txBody>
      <dsp:txXfrm>
        <a:off x="1738186" y="1217567"/>
        <a:ext cx="1338217" cy="634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DAD59-9EB0-496B-83DE-366E70EC5D86}" type="datetimeFigureOut">
              <a:t>09/02/2026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EB62F3-448D-4C94-96B6-DFFCD31B5B77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5955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6EB449-510F-2D48-BD92-9ADA8091F71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714375"/>
            <a:ext cx="3429000" cy="1928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>
                <a:latin typeface="Roboto Light" panose="02000000000000000000"/>
              </a:rPr>
              <a:t>El análisis interno y externo que hemos realizado nos llevará a entender las áreas que tenemos que fortalecer para poder desarrollar el proyecto, las fortalezas en las que nos apoyaremos y lo mismo con los factores externos. Es importante empezar la inmersión en países donde las oportunidades sean mayores que las amenazas, para reducir riesgos, especialmente en las primeras experiencias.</a:t>
            </a:r>
          </a:p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27F4D-8956-4250-939D-E5BF068EF58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0420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89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1288" y="765175"/>
            <a:ext cx="6816725" cy="3835400"/>
          </a:xfrm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en-US" sz="2500" i="1">
              <a:latin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99FA05-79BA-48ED-8C34-3192DFB98F64}" type="slidenum">
              <a:rPr lang="fr-FR" smtClean="0"/>
              <a:pPr>
                <a:defRPr/>
              </a:pPr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1262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691D3487-334A-4CB2-A1C4-77F12F62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9451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267406-4F3A-4C44-A900-7478CAB64A55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160E1C46-10EA-4ADF-BD97-198F4052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4247736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4449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2A8DD-FEE3-413B-8C9C-211F116063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2129" y="1253331"/>
            <a:ext cx="11402603" cy="4921438"/>
          </a:xfrm>
        </p:spPr>
        <p:txBody>
          <a:bodyPr/>
          <a:lstStyle>
            <a:lvl1pPr>
              <a:buClr>
                <a:srgbClr val="00DE9A"/>
              </a:buClr>
              <a:defRPr>
                <a:latin typeface="Montserrat Light" panose="00000400000000000000" pitchFamily="2" charset="0"/>
              </a:defRPr>
            </a:lvl1pPr>
            <a:lvl2pPr>
              <a:buClr>
                <a:srgbClr val="00DE9A"/>
              </a:buClr>
              <a:defRPr>
                <a:latin typeface="Montserrat Light" panose="00000400000000000000" pitchFamily="2" charset="0"/>
              </a:defRPr>
            </a:lvl2pPr>
            <a:lvl3pPr>
              <a:buClr>
                <a:srgbClr val="00DE9A"/>
              </a:buClr>
              <a:defRPr>
                <a:latin typeface="Montserrat Light" panose="00000400000000000000" pitchFamily="2" charset="0"/>
              </a:defRPr>
            </a:lvl3pPr>
            <a:lvl4pPr>
              <a:buClr>
                <a:srgbClr val="00DE9A"/>
              </a:buClr>
              <a:defRPr>
                <a:latin typeface="Montserrat Light" panose="00000400000000000000" pitchFamily="2" charset="0"/>
              </a:defRPr>
            </a:lvl4pPr>
            <a:lvl5pPr>
              <a:buClr>
                <a:srgbClr val="00DE9A"/>
              </a:buClr>
              <a:defRPr>
                <a:latin typeface="Montserrat Light" panose="00000400000000000000" pitchFamily="2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893D-BDC8-4C66-B20D-113FC9C6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A688E-1CA4-4E51-8836-D64DD81191CD}" type="datetime1">
              <a:rPr lang="fr-FR" smtClean="0"/>
              <a:pPr/>
              <a:t>09/02/2026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B99E3-17F9-470F-83A6-B177F6130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6C5DD-C712-4887-B8CD-2E33ADECE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58A69-62D8-438C-805C-AB4C319F5BE5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FBBAF0-28AE-4001-872B-3813B3CA3B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138" y="2"/>
            <a:ext cx="11408596" cy="991031"/>
          </a:xfrm>
        </p:spPr>
        <p:txBody>
          <a:bodyPr>
            <a:normAutofit/>
          </a:bodyPr>
          <a:lstStyle>
            <a:lvl1pPr>
              <a:defRPr sz="2520">
                <a:solidFill>
                  <a:schemeClr val="tx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9421931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09/02/2026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64" r:id="rId13"/>
    <p:sldLayoutId id="214748366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unctad.org/topic/commodities/state-of-commodity-dependence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62">
            <a:extLst>
              <a:ext uri="{FF2B5EF4-FFF2-40B4-BE49-F238E27FC236}">
                <a16:creationId xmlns:a16="http://schemas.microsoft.com/office/drawing/2014/main" id="{16C5FA50-8D52-4617-AF91-5C7B1C835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96A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0AC4A-46BB-497C-959B-7DC23739F89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093496" y="618681"/>
            <a:ext cx="2613872" cy="479456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endParaRPr kumimoji="0" lang="en-US" sz="2500" b="0" i="0" u="none" strike="noStrike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r>
              <a:rPr lang="en-US" sz="2500" b="1" baseline="30000" dirty="0">
                <a:solidFill>
                  <a:srgbClr val="FFFFFF"/>
                </a:solidFill>
              </a:rPr>
              <a:t>3 </a:t>
            </a:r>
            <a:r>
              <a:rPr lang="en-US" sz="2500" b="1" i="0" u="none" strike="noStrike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Business Strategies in International contexts</a:t>
            </a:r>
            <a:br>
              <a:rPr lang="en-US" sz="2500" b="1" i="0" u="none" strike="noStrike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lang="en-US" sz="2500" b="1" baseline="30000" dirty="0">
                <a:solidFill>
                  <a:srgbClr val="FFFFFF"/>
                </a:solidFill>
              </a:rPr>
            </a:br>
            <a:r>
              <a:rPr lang="en-US" sz="2500" b="1" baseline="30000" dirty="0">
                <a:solidFill>
                  <a:srgbClr val="FFFFFF"/>
                </a:solidFill>
              </a:rPr>
              <a:t>Prof. Dr. Geoffrey Ditta </a:t>
            </a:r>
            <a:br>
              <a:rPr lang="en-US" sz="2500" b="1" baseline="30000" dirty="0">
                <a:solidFill>
                  <a:srgbClr val="FFFFFF"/>
                </a:solidFill>
              </a:rPr>
            </a:br>
            <a:r>
              <a:rPr lang="en-US" sz="2500" b="1" baseline="30000" dirty="0">
                <a:solidFill>
                  <a:srgbClr val="FFFFFF"/>
                </a:solidFill>
              </a:rPr>
              <a:t>Complutense UNIVERSITY</a:t>
            </a:r>
            <a:br>
              <a:rPr lang="en-US" sz="2500" b="1" baseline="30000" dirty="0">
                <a:solidFill>
                  <a:srgbClr val="FFFFFF"/>
                </a:solidFill>
              </a:rPr>
            </a:br>
            <a:br>
              <a:rPr lang="en-US" sz="2500" b="1" i="0" u="none" strike="noStrike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lang="en-US" sz="2500" b="1" baseline="30000" dirty="0">
                <a:solidFill>
                  <a:srgbClr val="FFFFFF"/>
                </a:solidFill>
              </a:rPr>
            </a:br>
            <a:br>
              <a:rPr lang="en-US" sz="2500" i="1" dirty="0">
                <a:solidFill>
                  <a:srgbClr val="FFFFFF"/>
                </a:solidFill>
              </a:rPr>
            </a:br>
            <a:br>
              <a:rPr lang="en-US" sz="2500" i="1" dirty="0">
                <a:solidFill>
                  <a:srgbClr val="FFFFFF"/>
                </a:solidFill>
              </a:rPr>
            </a:br>
            <a:br>
              <a:rPr lang="en-US" sz="2500" i="1" dirty="0">
                <a:solidFill>
                  <a:srgbClr val="FFFFFF"/>
                </a:solidFill>
              </a:rPr>
            </a:br>
            <a:endParaRPr kumimoji="0" lang="en-US" sz="2500" b="1" i="0" u="none" strike="noStrike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endParaRPr kumimoji="0" lang="en-US" sz="2500" b="1" i="1" u="none" strike="noStrike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endParaRPr kumimoji="0" lang="en-US" sz="2500" b="1" i="1" u="none" strike="noStrike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fontAlgn="auto">
              <a:spcAft>
                <a:spcPts val="600"/>
              </a:spcAft>
              <a:buClrTx/>
              <a:buSzTx/>
              <a:tabLst/>
              <a:defRPr/>
            </a:pPr>
            <a:endParaRPr kumimoji="0" lang="en-US" sz="2500" b="0" i="0" u="none" strike="noStrike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72" name="Rounded Rectangle 9">
            <a:extLst>
              <a:ext uri="{FF2B5EF4-FFF2-40B4-BE49-F238E27FC236}">
                <a16:creationId xmlns:a16="http://schemas.microsoft.com/office/drawing/2014/main" id="{E223798C-12AD-4B0C-A50C-D676347D6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354" y="484632"/>
            <a:ext cx="8129016" cy="572414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069B78-728F-4E43-9792-6FC60C80C4F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" b="1"/>
          <a:stretch/>
        </p:blipFill>
        <p:spPr>
          <a:xfrm>
            <a:off x="976251" y="942538"/>
            <a:ext cx="7163222" cy="4808332"/>
          </a:xfrm>
          <a:prstGeom prst="rect">
            <a:avLst/>
          </a:prstGeom>
          <a:effectLst/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6B537A4-D389-ECA5-79EE-188BD1074FEC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6613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00AAC-FD89-20B1-6A65-CC0E94D3F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40" dirty="0"/>
              <a:t>The development of internationalization strategies</a:t>
            </a:r>
            <a:br>
              <a:rPr lang="en-US" dirty="0"/>
            </a:b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743356-E8A6-3C2B-52A2-C2BECCE509A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615440" y="2190751"/>
            <a:ext cx="8044126" cy="206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1680" dirty="0">
                <a:latin typeface="SimSun" panose="02010600030101010101" pitchFamily="2" charset="-122"/>
                <a:ea typeface="SimSun" panose="02010600030101010101" pitchFamily="2" charset="-122"/>
              </a:rPr>
              <a:t>Internationalization is emerging as one of the drivers of trade development, as local companies with the resources to internationalize their activities offer themselves significant opportunities for </a:t>
            </a:r>
            <a:r>
              <a:rPr lang="en-US" sz="1680" b="1" dirty="0">
                <a:latin typeface="SimSun" panose="02010600030101010101" pitchFamily="2" charset="-122"/>
                <a:ea typeface="SimSun" panose="02010600030101010101" pitchFamily="2" charset="-122"/>
              </a:rPr>
              <a:t>economic growth</a:t>
            </a:r>
            <a:endParaRPr lang="es-ES" sz="1680" b="1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18FAFE-9298-6590-F776-C20FAEFCC5D9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8933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37" name="Rectangle 622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6239" name="Rectangle 623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40" name="Rectangle 623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36" name="Rectangle 623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38" name="Rectangle 623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 Internationalization Vs Amount at Stake</a:t>
            </a:r>
          </a:p>
        </p:txBody>
      </p:sp>
      <p:pic>
        <p:nvPicPr>
          <p:cNvPr id="3" name="Imagen 2" descr="Diagrama&#10;&#10;Descripción generada automáticamente">
            <a:extLst>
              <a:ext uri="{FF2B5EF4-FFF2-40B4-BE49-F238E27FC236}">
                <a16:creationId xmlns:a16="http://schemas.microsoft.com/office/drawing/2014/main" id="{0A4EADD2-40BF-5EFC-F493-9CEF2ECBC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75" y="3235980"/>
            <a:ext cx="4471447" cy="221834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7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B6F15528-21DE-4FAA-801E-634DDDAF4B2B}" type="slidenum">
              <a:rPr lang="es-ES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D46516B-21A9-F483-6E5F-F1C6F02AFE1B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6149" name="Group 37"/>
          <p:cNvGrpSpPr>
            <a:grpSpLocks/>
          </p:cNvGrpSpPr>
          <p:nvPr/>
        </p:nvGrpSpPr>
        <p:grpSpPr bwMode="auto">
          <a:xfrm>
            <a:off x="5458061" y="2480750"/>
            <a:ext cx="6018191" cy="3153513"/>
            <a:chOff x="532885" y="1449388"/>
            <a:chExt cx="8116330" cy="4653995"/>
          </a:xfrm>
        </p:grpSpPr>
        <p:sp>
          <p:nvSpPr>
            <p:cNvPr id="6150" name="Rectangle 5"/>
            <p:cNvSpPr>
              <a:spLocks noChangeArrowheads="1"/>
            </p:cNvSpPr>
            <p:nvPr/>
          </p:nvSpPr>
          <p:spPr bwMode="auto">
            <a:xfrm>
              <a:off x="914400" y="1524001"/>
              <a:ext cx="7391400" cy="426720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Text Box 6"/>
            <p:cNvSpPr txBox="1">
              <a:spLocks noChangeArrowheads="1"/>
            </p:cNvSpPr>
            <p:nvPr/>
          </p:nvSpPr>
          <p:spPr bwMode="auto">
            <a:xfrm>
              <a:off x="1143000" y="2286001"/>
              <a:ext cx="13716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Phase 1 Conceive (C)</a:t>
              </a:r>
              <a:endParaRPr lang="en-US"/>
            </a:p>
          </p:txBody>
        </p:sp>
        <p:sp>
          <p:nvSpPr>
            <p:cNvPr id="6152" name="Text Box 7"/>
            <p:cNvSpPr txBox="1">
              <a:spLocks noChangeArrowheads="1"/>
            </p:cNvSpPr>
            <p:nvPr/>
          </p:nvSpPr>
          <p:spPr bwMode="auto">
            <a:xfrm>
              <a:off x="2895600" y="2286001"/>
              <a:ext cx="16002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Phase 2 Develop     (D)</a:t>
              </a:r>
              <a:endParaRPr lang="en-US"/>
            </a:p>
          </p:txBody>
        </p:sp>
        <p:sp>
          <p:nvSpPr>
            <p:cNvPr id="6153" name="Text Box 8"/>
            <p:cNvSpPr txBox="1">
              <a:spLocks noChangeArrowheads="1"/>
            </p:cNvSpPr>
            <p:nvPr/>
          </p:nvSpPr>
          <p:spPr bwMode="auto">
            <a:xfrm>
              <a:off x="4724399" y="2286001"/>
              <a:ext cx="17526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Phase 3 Execute       (E)</a:t>
              </a:r>
              <a:endParaRPr lang="en-US"/>
            </a:p>
          </p:txBody>
        </p:sp>
        <p:sp>
          <p:nvSpPr>
            <p:cNvPr id="6154" name="Text Box 9"/>
            <p:cNvSpPr txBox="1">
              <a:spLocks noChangeArrowheads="1"/>
            </p:cNvSpPr>
            <p:nvPr/>
          </p:nvSpPr>
          <p:spPr bwMode="auto">
            <a:xfrm>
              <a:off x="6629402" y="2286001"/>
              <a:ext cx="144780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Phase 4 Finish      (F)</a:t>
              </a:r>
              <a:endParaRPr lang="en-US"/>
            </a:p>
          </p:txBody>
        </p:sp>
        <p:sp>
          <p:nvSpPr>
            <p:cNvPr id="6155" name="Text Box 10"/>
            <p:cNvSpPr txBox="1">
              <a:spLocks noChangeArrowheads="1"/>
            </p:cNvSpPr>
            <p:nvPr/>
          </p:nvSpPr>
          <p:spPr bwMode="auto">
            <a:xfrm>
              <a:off x="4340728" y="5734051"/>
              <a:ext cx="838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Time</a:t>
              </a:r>
              <a:endParaRPr lang="en-US"/>
            </a:p>
          </p:txBody>
        </p:sp>
        <p:sp>
          <p:nvSpPr>
            <p:cNvPr id="6156" name="Text Box 11"/>
            <p:cNvSpPr txBox="1">
              <a:spLocks noChangeArrowheads="1"/>
            </p:cNvSpPr>
            <p:nvPr/>
          </p:nvSpPr>
          <p:spPr bwMode="auto">
            <a:xfrm rot="16200000">
              <a:off x="7816849" y="4178579"/>
              <a:ext cx="12954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$ Value</a:t>
              </a:r>
              <a:endParaRPr lang="en-US"/>
            </a:p>
          </p:txBody>
        </p:sp>
        <p:sp>
          <p:nvSpPr>
            <p:cNvPr id="6157" name="Text Box 12"/>
            <p:cNvSpPr txBox="1">
              <a:spLocks noChangeArrowheads="1"/>
            </p:cNvSpPr>
            <p:nvPr/>
          </p:nvSpPr>
          <p:spPr bwMode="auto">
            <a:xfrm rot="16200000">
              <a:off x="-234949" y="4119840"/>
              <a:ext cx="1905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Increasing Risk</a:t>
              </a:r>
              <a:endParaRPr lang="en-US"/>
            </a:p>
          </p:txBody>
        </p:sp>
        <p:sp>
          <p:nvSpPr>
            <p:cNvPr id="6159" name="Text Box 17"/>
            <p:cNvSpPr txBox="1">
              <a:spLocks noChangeArrowheads="1"/>
            </p:cNvSpPr>
            <p:nvPr/>
          </p:nvSpPr>
          <p:spPr bwMode="auto">
            <a:xfrm>
              <a:off x="884187" y="5291163"/>
              <a:ext cx="19812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Amount at stake</a:t>
              </a:r>
              <a:endParaRPr lang="en-US"/>
            </a:p>
          </p:txBody>
        </p:sp>
        <p:sp>
          <p:nvSpPr>
            <p:cNvPr id="6160" name="Line 19"/>
            <p:cNvSpPr>
              <a:spLocks noChangeShapeType="1"/>
            </p:cNvSpPr>
            <p:nvPr/>
          </p:nvSpPr>
          <p:spPr bwMode="auto">
            <a:xfrm>
              <a:off x="5140325" y="5970153"/>
              <a:ext cx="2895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1" name="Line 20"/>
            <p:cNvSpPr>
              <a:spLocks noChangeShapeType="1"/>
            </p:cNvSpPr>
            <p:nvPr/>
          </p:nvSpPr>
          <p:spPr bwMode="auto">
            <a:xfrm rot="-5400000">
              <a:off x="7551738" y="3184526"/>
              <a:ext cx="18161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2" name="Line 21"/>
            <p:cNvSpPr>
              <a:spLocks noChangeShapeType="1"/>
            </p:cNvSpPr>
            <p:nvPr/>
          </p:nvSpPr>
          <p:spPr bwMode="auto">
            <a:xfrm rot="16200000" flipV="1">
              <a:off x="-271462" y="2439988"/>
              <a:ext cx="1981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3" name="Line 22"/>
            <p:cNvSpPr>
              <a:spLocks noChangeShapeType="1"/>
            </p:cNvSpPr>
            <p:nvPr/>
          </p:nvSpPr>
          <p:spPr bwMode="auto">
            <a:xfrm>
              <a:off x="4572000" y="1844676"/>
              <a:ext cx="0" cy="3924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4" name="Line 25"/>
            <p:cNvSpPr>
              <a:spLocks noChangeShapeType="1"/>
            </p:cNvSpPr>
            <p:nvPr/>
          </p:nvSpPr>
          <p:spPr bwMode="auto">
            <a:xfrm>
              <a:off x="2700338" y="1881188"/>
              <a:ext cx="0" cy="3924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5" name="Line 26"/>
            <p:cNvSpPr>
              <a:spLocks noChangeShapeType="1"/>
            </p:cNvSpPr>
            <p:nvPr/>
          </p:nvSpPr>
          <p:spPr bwMode="auto">
            <a:xfrm>
              <a:off x="6588125" y="1881188"/>
              <a:ext cx="0" cy="3924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6" name="Line 27"/>
            <p:cNvSpPr>
              <a:spLocks noChangeShapeType="1"/>
            </p:cNvSpPr>
            <p:nvPr/>
          </p:nvSpPr>
          <p:spPr bwMode="auto">
            <a:xfrm>
              <a:off x="935038" y="2097088"/>
              <a:ext cx="360045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7" name="Text Box 13"/>
            <p:cNvSpPr txBox="1">
              <a:spLocks noChangeArrowheads="1"/>
            </p:cNvSpPr>
            <p:nvPr/>
          </p:nvSpPr>
          <p:spPr bwMode="auto">
            <a:xfrm>
              <a:off x="2362200" y="1905001"/>
              <a:ext cx="762000" cy="3306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endParaRPr lang="en-US" sz="850" b="1" dirty="0">
                <a:ln w="10160">
                  <a:solidFill>
                    <a:srgbClr val="A02B93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/>
                <a:cs typeface="Arial"/>
              </a:endParaRPr>
            </a:p>
          </p:txBody>
        </p:sp>
        <p:sp>
          <p:nvSpPr>
            <p:cNvPr id="6168" name="Line 29"/>
            <p:cNvSpPr>
              <a:spLocks noChangeShapeType="1"/>
            </p:cNvSpPr>
            <p:nvPr/>
          </p:nvSpPr>
          <p:spPr bwMode="auto">
            <a:xfrm>
              <a:off x="4608513" y="2097088"/>
              <a:ext cx="36353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69" name="Text Box 18"/>
            <p:cNvSpPr txBox="1">
              <a:spLocks noChangeArrowheads="1"/>
            </p:cNvSpPr>
            <p:nvPr/>
          </p:nvSpPr>
          <p:spPr bwMode="auto">
            <a:xfrm>
              <a:off x="5956980" y="1913509"/>
              <a:ext cx="1316121" cy="3306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endParaRPr lang="en-US" sz="850" b="1" dirty="0">
                <a:ln w="10160">
                  <a:solidFill>
                    <a:srgbClr val="A02B93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/>
                <a:cs typeface="Arial"/>
              </a:endParaRPr>
            </a:p>
          </p:txBody>
        </p:sp>
        <p:sp>
          <p:nvSpPr>
            <p:cNvPr id="6170" name="Text Box 15"/>
            <p:cNvSpPr txBox="1">
              <a:spLocks noChangeArrowheads="1"/>
            </p:cNvSpPr>
            <p:nvPr/>
          </p:nvSpPr>
          <p:spPr bwMode="auto">
            <a:xfrm>
              <a:off x="1008061" y="3392487"/>
              <a:ext cx="761711" cy="33063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endParaRPr lang="en-US" sz="850" b="1" dirty="0">
                <a:ln w="10160">
                  <a:solidFill>
                    <a:srgbClr val="A02B93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Arial"/>
                <a:ea typeface="Roboto Light"/>
                <a:cs typeface="Arial"/>
              </a:endParaRPr>
            </a:p>
          </p:txBody>
        </p:sp>
        <p:sp>
          <p:nvSpPr>
            <p:cNvPr id="6171" name="Freeform 30"/>
            <p:cNvSpPr>
              <a:spLocks/>
            </p:cNvSpPr>
            <p:nvPr/>
          </p:nvSpPr>
          <p:spPr bwMode="auto">
            <a:xfrm>
              <a:off x="900113" y="3249613"/>
              <a:ext cx="7343775" cy="2370138"/>
            </a:xfrm>
            <a:custGeom>
              <a:avLst/>
              <a:gdLst>
                <a:gd name="T0" fmla="*/ 0 w 4626"/>
                <a:gd name="T1" fmla="*/ 2339976 h 1493"/>
                <a:gd name="T2" fmla="*/ 3167062 w 4626"/>
                <a:gd name="T3" fmla="*/ 2197101 h 1493"/>
                <a:gd name="T4" fmla="*/ 4932362 w 4626"/>
                <a:gd name="T5" fmla="*/ 1296988 h 1493"/>
                <a:gd name="T6" fmla="*/ 5976937 w 4626"/>
                <a:gd name="T7" fmla="*/ 539750 h 1493"/>
                <a:gd name="T8" fmla="*/ 6840538 w 4626"/>
                <a:gd name="T9" fmla="*/ 107950 h 1493"/>
                <a:gd name="T10" fmla="*/ 7343775 w 4626"/>
                <a:gd name="T11" fmla="*/ 0 h 14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26"/>
                <a:gd name="T19" fmla="*/ 0 h 1493"/>
                <a:gd name="T20" fmla="*/ 4626 w 4626"/>
                <a:gd name="T21" fmla="*/ 1493 h 149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26" h="1493">
                  <a:moveTo>
                    <a:pt x="0" y="1474"/>
                  </a:moveTo>
                  <a:cubicBezTo>
                    <a:pt x="738" y="1483"/>
                    <a:pt x="1477" y="1493"/>
                    <a:pt x="1995" y="1384"/>
                  </a:cubicBezTo>
                  <a:cubicBezTo>
                    <a:pt x="2513" y="1275"/>
                    <a:pt x="2812" y="991"/>
                    <a:pt x="3107" y="817"/>
                  </a:cubicBezTo>
                  <a:cubicBezTo>
                    <a:pt x="3402" y="643"/>
                    <a:pt x="3565" y="465"/>
                    <a:pt x="3765" y="340"/>
                  </a:cubicBezTo>
                  <a:cubicBezTo>
                    <a:pt x="3965" y="215"/>
                    <a:pt x="4166" y="125"/>
                    <a:pt x="4309" y="68"/>
                  </a:cubicBezTo>
                  <a:cubicBezTo>
                    <a:pt x="4452" y="11"/>
                    <a:pt x="4539" y="5"/>
                    <a:pt x="4626" y="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2" name="Freeform 33"/>
            <p:cNvSpPr>
              <a:spLocks/>
            </p:cNvSpPr>
            <p:nvPr/>
          </p:nvSpPr>
          <p:spPr bwMode="auto">
            <a:xfrm>
              <a:off x="935038" y="3357563"/>
              <a:ext cx="7345363" cy="2376488"/>
            </a:xfrm>
            <a:custGeom>
              <a:avLst/>
              <a:gdLst>
                <a:gd name="T0" fmla="*/ 0 w 4626"/>
                <a:gd name="T1" fmla="*/ 98653 h 1349"/>
                <a:gd name="T2" fmla="*/ 2088014 w 4626"/>
                <a:gd name="T3" fmla="*/ 98653 h 1349"/>
                <a:gd name="T4" fmla="*/ 5473295 w 4626"/>
                <a:gd name="T5" fmla="*/ 378758 h 1349"/>
                <a:gd name="T6" fmla="*/ 7345363 w 4626"/>
                <a:gd name="T7" fmla="*/ 2376488 h 13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26"/>
                <a:gd name="T13" fmla="*/ 0 h 1349"/>
                <a:gd name="T14" fmla="*/ 4626 w 4626"/>
                <a:gd name="T15" fmla="*/ 1349 h 13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26" h="1349">
                  <a:moveTo>
                    <a:pt x="0" y="56"/>
                  </a:moveTo>
                  <a:cubicBezTo>
                    <a:pt x="370" y="43"/>
                    <a:pt x="741" y="30"/>
                    <a:pt x="1315" y="56"/>
                  </a:cubicBezTo>
                  <a:cubicBezTo>
                    <a:pt x="1889" y="82"/>
                    <a:pt x="2895" y="0"/>
                    <a:pt x="3447" y="215"/>
                  </a:cubicBezTo>
                  <a:cubicBezTo>
                    <a:pt x="3999" y="430"/>
                    <a:pt x="4312" y="889"/>
                    <a:pt x="4626" y="1349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3" name="Line 34"/>
            <p:cNvSpPr>
              <a:spLocks noChangeShapeType="1"/>
            </p:cNvSpPr>
            <p:nvPr/>
          </p:nvSpPr>
          <p:spPr bwMode="auto">
            <a:xfrm>
              <a:off x="5630877" y="3282949"/>
              <a:ext cx="0" cy="511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4" name="Line 36"/>
            <p:cNvSpPr>
              <a:spLocks noChangeShapeType="1"/>
            </p:cNvSpPr>
            <p:nvPr/>
          </p:nvSpPr>
          <p:spPr bwMode="auto">
            <a:xfrm>
              <a:off x="5630877" y="3502026"/>
              <a:ext cx="1752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5" name="Text Box 16"/>
            <p:cNvSpPr txBox="1">
              <a:spLocks noChangeArrowheads="1"/>
            </p:cNvSpPr>
            <p:nvPr/>
          </p:nvSpPr>
          <p:spPr bwMode="auto">
            <a:xfrm>
              <a:off x="5813443" y="3136896"/>
              <a:ext cx="1533543" cy="317955"/>
            </a:xfrm>
            <a:prstGeom prst="rect">
              <a:avLst/>
            </a:prstGeom>
            <a:solidFill>
              <a:schemeClr val="accent1">
                <a:alpha val="70195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 lIns="91440" tIns="45720" rIns="91440" bIns="45720" anchor="t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endParaRPr lang="en-US" sz="800" b="1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6176" name="Freeform 33"/>
            <p:cNvSpPr>
              <a:spLocks/>
            </p:cNvSpPr>
            <p:nvPr/>
          </p:nvSpPr>
          <p:spPr bwMode="auto">
            <a:xfrm>
              <a:off x="1011382" y="2990273"/>
              <a:ext cx="7135091" cy="2306782"/>
            </a:xfrm>
            <a:custGeom>
              <a:avLst/>
              <a:gdLst>
                <a:gd name="T0" fmla="*/ 0 w 7135091"/>
                <a:gd name="T1" fmla="*/ 2288308 h 2306782"/>
                <a:gd name="T2" fmla="*/ 1551711 w 7135091"/>
                <a:gd name="T3" fmla="*/ 2135908 h 2306782"/>
                <a:gd name="T4" fmla="*/ 3574476 w 7135091"/>
                <a:gd name="T5" fmla="*/ 1263072 h 2306782"/>
                <a:gd name="T6" fmla="*/ 4544291 w 7135091"/>
                <a:gd name="T7" fmla="*/ 528782 h 2306782"/>
                <a:gd name="T8" fmla="*/ 5569527 w 7135091"/>
                <a:gd name="T9" fmla="*/ 2309 h 2306782"/>
                <a:gd name="T10" fmla="*/ 6414655 w 7135091"/>
                <a:gd name="T11" fmla="*/ 514927 h 2306782"/>
                <a:gd name="T12" fmla="*/ 7135091 w 7135091"/>
                <a:gd name="T13" fmla="*/ 2205182 h 23067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135091"/>
                <a:gd name="T22" fmla="*/ 0 h 2306782"/>
                <a:gd name="T23" fmla="*/ 7135091 w 7135091"/>
                <a:gd name="T24" fmla="*/ 2306782 h 23067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135091" h="2306782">
                  <a:moveTo>
                    <a:pt x="0" y="2288309"/>
                  </a:moveTo>
                  <a:cubicBezTo>
                    <a:pt x="477982" y="2297545"/>
                    <a:pt x="955964" y="2306782"/>
                    <a:pt x="1551709" y="2135909"/>
                  </a:cubicBezTo>
                  <a:cubicBezTo>
                    <a:pt x="2147454" y="1965036"/>
                    <a:pt x="3075709" y="1530927"/>
                    <a:pt x="3574473" y="1263072"/>
                  </a:cubicBezTo>
                  <a:cubicBezTo>
                    <a:pt x="4073237" y="995218"/>
                    <a:pt x="4211782" y="738909"/>
                    <a:pt x="4544291" y="528782"/>
                  </a:cubicBezTo>
                  <a:cubicBezTo>
                    <a:pt x="4876800" y="318655"/>
                    <a:pt x="5257800" y="4618"/>
                    <a:pt x="5569527" y="2309"/>
                  </a:cubicBezTo>
                  <a:cubicBezTo>
                    <a:pt x="5881254" y="0"/>
                    <a:pt x="6153727" y="147782"/>
                    <a:pt x="6414654" y="514927"/>
                  </a:cubicBezTo>
                  <a:cubicBezTo>
                    <a:pt x="6675581" y="882072"/>
                    <a:pt x="6905336" y="1543627"/>
                    <a:pt x="7135091" y="2205182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6177" name="Text Box 17"/>
            <p:cNvSpPr txBox="1">
              <a:spLocks noChangeArrowheads="1"/>
            </p:cNvSpPr>
            <p:nvPr/>
          </p:nvSpPr>
          <p:spPr bwMode="auto">
            <a:xfrm rot="20381763">
              <a:off x="2113705" y="4462692"/>
              <a:ext cx="244637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434477" eaLnBrk="1" hangingPunct="1">
                <a:spcBef>
                  <a:spcPct val="50000"/>
                </a:spcBef>
              </a:pPr>
              <a:r>
                <a:rPr lang="en-US" sz="856" kern="1200">
                  <a:solidFill>
                    <a:schemeClr val="tx1"/>
                  </a:solidFill>
                  <a:latin typeface="Arial" charset="0"/>
                  <a:ea typeface="+mn-ea"/>
                  <a:cs typeface="+mn-cs"/>
                </a:rPr>
                <a:t>Combined risk impact</a:t>
              </a:r>
              <a:endParaRPr lang="en-US"/>
            </a:p>
          </p:txBody>
        </p:sp>
        <p:sp>
          <p:nvSpPr>
            <p:cNvPr id="6178" name="Line 34"/>
            <p:cNvSpPr>
              <a:spLocks noChangeShapeType="1"/>
            </p:cNvSpPr>
            <p:nvPr/>
          </p:nvSpPr>
          <p:spPr bwMode="auto">
            <a:xfrm>
              <a:off x="7383501" y="3282948"/>
              <a:ext cx="0" cy="51118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004152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CF5E92B-3F24-4B1C-85CF-940DEAD47D17}"/>
              </a:ext>
            </a:extLst>
          </p:cNvPr>
          <p:cNvSpPr txBox="1"/>
          <p:nvPr/>
        </p:nvSpPr>
        <p:spPr>
          <a:xfrm>
            <a:off x="1038226" y="630456"/>
            <a:ext cx="10115550" cy="80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Aft>
                <a:spcPts val="712"/>
              </a:spcAft>
            </a:pPr>
            <a:r>
              <a:rPr lang="es-ES" sz="3360" b="1" dirty="0">
                <a:ea typeface="Calisto MT" panose="02040603050505030304" pitchFamily="18" charset="0"/>
              </a:rPr>
              <a:t>International SWOT </a:t>
            </a:r>
            <a:r>
              <a:rPr lang="es-ES" sz="3360" b="1" dirty="0" err="1">
                <a:ea typeface="Calisto MT" panose="02040603050505030304" pitchFamily="18" charset="0"/>
              </a:rPr>
              <a:t>Analysis</a:t>
            </a:r>
            <a:r>
              <a:rPr lang="es-ES" sz="3360" b="1" dirty="0">
                <a:ea typeface="Calisto MT" panose="02040603050505030304" pitchFamily="18" charset="0"/>
              </a:rPr>
              <a:t> 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E611C7EA-95CA-42D7-97AC-913E011E666D}"/>
              </a:ext>
            </a:extLst>
          </p:cNvPr>
          <p:cNvGraphicFramePr/>
          <p:nvPr/>
        </p:nvGraphicFramePr>
        <p:xfrm>
          <a:off x="2763169" y="1480643"/>
          <a:ext cx="6665662" cy="4566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05EE6F49-BFB8-4597-AE38-03175F259269}"/>
              </a:ext>
            </a:extLst>
          </p:cNvPr>
          <p:cNvSpPr txBox="1"/>
          <p:nvPr/>
        </p:nvSpPr>
        <p:spPr>
          <a:xfrm>
            <a:off x="2059578" y="1480643"/>
            <a:ext cx="1832065" cy="4247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 err="1">
                <a:latin typeface="SF Pro Text"/>
              </a:rPr>
              <a:t>Personnel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speaks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languages</a:t>
            </a:r>
            <a:r>
              <a:rPr lang="es-ES" sz="1080" dirty="0">
                <a:latin typeface="SF Pro Text"/>
              </a:rPr>
              <a:t> &amp; open </a:t>
            </a:r>
            <a:r>
              <a:rPr lang="es-ES" sz="1080" dirty="0" err="1">
                <a:latin typeface="SF Pro Text"/>
              </a:rPr>
              <a:t>minded</a:t>
            </a:r>
            <a:endParaRPr lang="es-ES" sz="1080" dirty="0">
              <a:latin typeface="SF Pro Tex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0519E3C-B2E4-4E3E-A64C-95932814EA91}"/>
              </a:ext>
            </a:extLst>
          </p:cNvPr>
          <p:cNvSpPr txBox="1"/>
          <p:nvPr/>
        </p:nvSpPr>
        <p:spPr>
          <a:xfrm>
            <a:off x="1819692" y="2081177"/>
            <a:ext cx="2044506" cy="41549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50" dirty="0" err="1">
                <a:latin typeface="SF Pro Text"/>
              </a:rPr>
              <a:t>Participated</a:t>
            </a:r>
            <a:r>
              <a:rPr lang="es-ES" sz="1050" dirty="0">
                <a:latin typeface="SF Pro Text"/>
              </a:rPr>
              <a:t> in </a:t>
            </a:r>
            <a:r>
              <a:rPr lang="es-ES" sz="1050" dirty="0" err="1">
                <a:latin typeface="SF Pro Text"/>
              </a:rPr>
              <a:t>international</a:t>
            </a:r>
            <a:r>
              <a:rPr lang="es-ES" sz="1050" dirty="0">
                <a:latin typeface="SF Pro Text"/>
              </a:rPr>
              <a:t> Business</a:t>
            </a:r>
            <a:endParaRPr lang="es-ES" sz="1080" dirty="0">
              <a:latin typeface="SF Pro Text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B0DFBC-AB1F-4CC7-B7AD-D30126878E09}"/>
              </a:ext>
            </a:extLst>
          </p:cNvPr>
          <p:cNvSpPr txBox="1"/>
          <p:nvPr/>
        </p:nvSpPr>
        <p:spPr>
          <a:xfrm>
            <a:off x="1819578" y="2636139"/>
            <a:ext cx="2044506" cy="2585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 err="1">
                <a:latin typeface="SF Pro Text"/>
              </a:rPr>
              <a:t>Informed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about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foreign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markets</a:t>
            </a:r>
            <a:endParaRPr lang="es-ES" sz="1080" dirty="0">
              <a:latin typeface="SF Pro Text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90032EB-6407-4DD3-B704-A1AD6B902190}"/>
              </a:ext>
            </a:extLst>
          </p:cNvPr>
          <p:cNvSpPr txBox="1"/>
          <p:nvPr/>
        </p:nvSpPr>
        <p:spPr>
          <a:xfrm>
            <a:off x="8381187" y="1480643"/>
            <a:ext cx="2044506" cy="4247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 err="1">
                <a:latin typeface="SF Pro Text"/>
              </a:rPr>
              <a:t>Few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competitors</a:t>
            </a:r>
            <a:r>
              <a:rPr lang="es-ES" sz="1080" dirty="0">
                <a:latin typeface="SF Pro Text"/>
              </a:rPr>
              <a:t> in target </a:t>
            </a:r>
            <a:r>
              <a:rPr lang="es-ES" sz="1080" dirty="0" err="1">
                <a:latin typeface="SF Pro Text"/>
              </a:rPr>
              <a:t>market</a:t>
            </a:r>
            <a:endParaRPr lang="es-ES" sz="1080" dirty="0">
              <a:latin typeface="SF Pro Tex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22C101-1B22-4582-B22D-AD9AF42F376C}"/>
              </a:ext>
            </a:extLst>
          </p:cNvPr>
          <p:cNvSpPr txBox="1"/>
          <p:nvPr/>
        </p:nvSpPr>
        <p:spPr>
          <a:xfrm>
            <a:off x="8377935" y="2078443"/>
            <a:ext cx="2044506" cy="4247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Free </a:t>
            </a:r>
            <a:r>
              <a:rPr lang="es-ES" sz="1080" dirty="0" err="1">
                <a:latin typeface="SF Pro Text"/>
              </a:rPr>
              <a:t>trade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agreement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with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destination</a:t>
            </a:r>
            <a:r>
              <a:rPr lang="es-ES" sz="1080" dirty="0">
                <a:latin typeface="SF Pro Text"/>
              </a:rPr>
              <a:t> country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9653CCE-14A3-4A1B-9DA9-D28FDD65502E}"/>
              </a:ext>
            </a:extLst>
          </p:cNvPr>
          <p:cNvSpPr txBox="1"/>
          <p:nvPr/>
        </p:nvSpPr>
        <p:spPr>
          <a:xfrm>
            <a:off x="8393070" y="2686271"/>
            <a:ext cx="2044506" cy="4247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Target country </a:t>
            </a:r>
            <a:r>
              <a:rPr lang="es-ES" sz="1080" dirty="0" err="1">
                <a:latin typeface="SF Pro Text"/>
              </a:rPr>
              <a:t>with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high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demand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or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high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population</a:t>
            </a:r>
            <a:endParaRPr lang="es-ES" sz="1080" dirty="0">
              <a:latin typeface="SF Pro Text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73D2D66-FC19-4F2A-B6E4-D8AFF8B69B45}"/>
              </a:ext>
            </a:extLst>
          </p:cNvPr>
          <p:cNvSpPr txBox="1"/>
          <p:nvPr/>
        </p:nvSpPr>
        <p:spPr>
          <a:xfrm>
            <a:off x="8270967" y="4235665"/>
            <a:ext cx="2552155" cy="2585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High </a:t>
            </a:r>
            <a:r>
              <a:rPr lang="es-ES" sz="1080" dirty="0" err="1">
                <a:latin typeface="SF Pro Text"/>
              </a:rPr>
              <a:t>level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of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competitors</a:t>
            </a:r>
            <a:r>
              <a:rPr lang="es-ES" sz="1080" dirty="0">
                <a:latin typeface="SF Pro Text"/>
              </a:rPr>
              <a:t> in target </a:t>
            </a:r>
            <a:r>
              <a:rPr lang="es-ES" sz="1080" dirty="0" err="1">
                <a:latin typeface="SF Pro Text"/>
              </a:rPr>
              <a:t>market</a:t>
            </a:r>
            <a:r>
              <a:rPr lang="es-ES" sz="1080" dirty="0">
                <a:latin typeface="SF Pro Text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6A31C61-ADC9-4CA7-8799-965439590DAB}"/>
              </a:ext>
            </a:extLst>
          </p:cNvPr>
          <p:cNvSpPr txBox="1"/>
          <p:nvPr/>
        </p:nvSpPr>
        <p:spPr>
          <a:xfrm>
            <a:off x="1906678" y="4493809"/>
            <a:ext cx="1877309" cy="4247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 err="1">
                <a:latin typeface="SF Pro Text"/>
              </a:rPr>
              <a:t>Lack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of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education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of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personnel</a:t>
            </a:r>
            <a:endParaRPr lang="es-ES" sz="1080" dirty="0">
              <a:latin typeface="SF Pro Text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171F995-3850-4150-ABE8-4E2ADD4A29F0}"/>
              </a:ext>
            </a:extLst>
          </p:cNvPr>
          <p:cNvSpPr txBox="1"/>
          <p:nvPr/>
        </p:nvSpPr>
        <p:spPr>
          <a:xfrm>
            <a:off x="1278642" y="5091612"/>
            <a:ext cx="2504972" cy="2585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Poor </a:t>
            </a:r>
            <a:r>
              <a:rPr lang="es-ES" sz="1080" dirty="0" err="1">
                <a:latin typeface="SF Pro Text"/>
              </a:rPr>
              <a:t>coordination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between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departments</a:t>
            </a:r>
            <a:r>
              <a:rPr lang="es-ES" sz="1080" dirty="0">
                <a:latin typeface="SF Pro Text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8B93B04-C11B-4D46-8BD6-70C5ACB95DA7}"/>
              </a:ext>
            </a:extLst>
          </p:cNvPr>
          <p:cNvSpPr txBox="1"/>
          <p:nvPr/>
        </p:nvSpPr>
        <p:spPr>
          <a:xfrm>
            <a:off x="8267645" y="4667800"/>
            <a:ext cx="2605393" cy="4247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High </a:t>
            </a:r>
            <a:r>
              <a:rPr lang="es-ES" sz="1080" dirty="0" err="1">
                <a:latin typeface="SF Pro Text"/>
              </a:rPr>
              <a:t>import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taxes</a:t>
            </a:r>
            <a:r>
              <a:rPr lang="es-ES" sz="1080" dirty="0">
                <a:latin typeface="SF Pro Text"/>
              </a:rPr>
              <a:t> and </a:t>
            </a:r>
            <a:r>
              <a:rPr lang="es-ES" sz="1080" dirty="0" err="1">
                <a:latin typeface="SF Pro Text"/>
              </a:rPr>
              <a:t>duties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of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my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product</a:t>
            </a:r>
            <a:endParaRPr lang="es-ES" sz="1080" dirty="0">
              <a:latin typeface="SF Pro Text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4746686-4876-4F09-80F7-5040389F6866}"/>
              </a:ext>
            </a:extLst>
          </p:cNvPr>
          <p:cNvSpPr txBox="1"/>
          <p:nvPr/>
        </p:nvSpPr>
        <p:spPr>
          <a:xfrm>
            <a:off x="2284912" y="4098505"/>
            <a:ext cx="1498963" cy="2585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 err="1">
                <a:latin typeface="SF Pro Text"/>
              </a:rPr>
              <a:t>Distance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to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main</a:t>
            </a:r>
            <a:r>
              <a:rPr lang="es-ES" sz="1080" dirty="0">
                <a:latin typeface="SF Pro Text"/>
              </a:rPr>
              <a:t> </a:t>
            </a:r>
            <a:r>
              <a:rPr lang="es-ES" sz="1080" dirty="0" err="1">
                <a:latin typeface="SF Pro Text"/>
              </a:rPr>
              <a:t>ports</a:t>
            </a:r>
            <a:endParaRPr lang="es-ES" sz="1080" dirty="0">
              <a:latin typeface="SF Pro Tex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DA8FA0-6D47-4854-A749-2568CA5EDC92}"/>
              </a:ext>
            </a:extLst>
          </p:cNvPr>
          <p:cNvSpPr txBox="1"/>
          <p:nvPr/>
        </p:nvSpPr>
        <p:spPr>
          <a:xfrm>
            <a:off x="8263697" y="5218885"/>
            <a:ext cx="2034132" cy="42473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s-ES"/>
            </a:defPPr>
            <a:lvl1pPr marL="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86130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7226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58391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4452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3065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16782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0291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9043" algn="l" defTabSz="1172261" rtl="0" eaLnBrk="1" latinLnBrk="0" hangingPunct="1">
              <a:defRPr sz="23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080" dirty="0">
                <a:latin typeface="SF Pro Text"/>
              </a:rPr>
              <a:t>Excesive </a:t>
            </a:r>
            <a:r>
              <a:rPr lang="es-ES" sz="1080" dirty="0" err="1">
                <a:latin typeface="SF Pro Text"/>
              </a:rPr>
              <a:t>burocracy</a:t>
            </a:r>
            <a:r>
              <a:rPr lang="es-ES" sz="1080" dirty="0">
                <a:latin typeface="SF Pro Text"/>
              </a:rPr>
              <a:t> at </a:t>
            </a:r>
            <a:r>
              <a:rPr lang="es-ES" sz="1080" dirty="0" err="1">
                <a:latin typeface="SF Pro Text"/>
              </a:rPr>
              <a:t>destination</a:t>
            </a:r>
            <a:endParaRPr lang="es-ES" sz="1080" dirty="0">
              <a:latin typeface="SF Pro Text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747CB4A-44A2-0431-A6D8-1228DDACFFC7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4124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>
        <p:bldAsOne/>
      </p:bldGraphic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835288-C70A-F155-BBDB-4F1E2FCC1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GB" sz="3700" b="1">
                <a:latin typeface="+mn-lt"/>
              </a:rPr>
              <a:t>International Business Simulation: Market Entry - Overview</a:t>
            </a:r>
            <a:endParaRPr lang="en-AE" sz="3700" b="1">
              <a:latin typeface="+mn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map of the world&#10;&#10;Description automatically generated">
            <a:extLst>
              <a:ext uri="{FF2B5EF4-FFF2-40B4-BE49-F238E27FC236}">
                <a16:creationId xmlns:a16="http://schemas.microsoft.com/office/drawing/2014/main" id="{B130FA43-B9DE-EFED-D661-A9CD26BC8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6" r="4130" b="-2"/>
          <a:stretch/>
        </p:blipFill>
        <p:spPr>
          <a:xfrm>
            <a:off x="908304" y="2478024"/>
            <a:ext cx="6009855" cy="369417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9A3769F-8FE1-DEB5-F15E-DA525EBBF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1800"/>
              <a:t>In the Market Entry simulation, you are in charge of managing the international strategy and operations. You manage all of the company’s business </a:t>
            </a:r>
            <a:r>
              <a:rPr lang="en-GB" sz="1800" i="1"/>
              <a:t>outside</a:t>
            </a:r>
            <a:r>
              <a:rPr lang="en-GB" sz="1800"/>
              <a:t> your home country.</a:t>
            </a:r>
            <a:endParaRPr lang="es-ES" sz="1800"/>
          </a:p>
          <a:p>
            <a:r>
              <a:rPr lang="en-GB" sz="1800"/>
              <a:t>After choosing a home country, review the country information and news for the year before making decisions on:</a:t>
            </a:r>
          </a:p>
          <a:p>
            <a:pPr lvl="1"/>
            <a:r>
              <a:rPr lang="en-GB" sz="1800"/>
              <a:t>Countries to enter, grow or exit</a:t>
            </a:r>
          </a:p>
          <a:p>
            <a:pPr lvl="1"/>
            <a:r>
              <a:rPr lang="en-GB" sz="1800"/>
              <a:t>Entry Modes</a:t>
            </a:r>
          </a:p>
          <a:p>
            <a:pPr lvl="1"/>
            <a:r>
              <a:rPr lang="en-GB" sz="1800"/>
              <a:t>Local Marketing decisions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23566-8D63-75D1-08B4-1F9AF173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7346069-6608-46AA-810B-56AD7561D32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8097B7-D46C-8EC2-0F2F-AA5D693A995E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977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9" name="Rectangle 17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6227D3AB-0F26-D1A6-4188-18D1E6BBD5DE}"/>
              </a:ext>
            </a:extLst>
          </p:cNvPr>
          <p:cNvSpPr txBox="1">
            <a:spLocks/>
          </p:cNvSpPr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1138" lvl="1" indent="-2286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200" b="1" dirty="0"/>
              <a:t>Where to expand </a:t>
            </a:r>
          </a:p>
        </p:txBody>
      </p:sp>
      <p:pic>
        <p:nvPicPr>
          <p:cNvPr id="24" name="Gráfico 23">
            <a:extLst>
              <a:ext uri="{FF2B5EF4-FFF2-40B4-BE49-F238E27FC236}">
                <a16:creationId xmlns:a16="http://schemas.microsoft.com/office/drawing/2014/main" id="{DC9519DF-E02A-46B7-6293-DA7B47659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903" y="1691622"/>
            <a:ext cx="7828113" cy="3999411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78AE2137-80EC-B8BA-D59D-3643E2623DF7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09BDA81-E099-0537-0AFB-CE20EEA8A968}"/>
              </a:ext>
            </a:extLst>
          </p:cNvPr>
          <p:cNvCxnSpPr>
            <a:cxnSpLocks/>
          </p:cNvCxnSpPr>
          <p:nvPr/>
        </p:nvCxnSpPr>
        <p:spPr>
          <a:xfrm flipV="1">
            <a:off x="3986305" y="3260076"/>
            <a:ext cx="4029286" cy="739302"/>
          </a:xfrm>
          <a:prstGeom prst="straightConnector1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9C829007-6F8A-59BB-2D4E-FBC70532B55B}"/>
              </a:ext>
            </a:extLst>
          </p:cNvPr>
          <p:cNvCxnSpPr>
            <a:cxnSpLocks/>
          </p:cNvCxnSpPr>
          <p:nvPr/>
        </p:nvCxnSpPr>
        <p:spPr>
          <a:xfrm flipV="1">
            <a:off x="4063067" y="4213034"/>
            <a:ext cx="7501691" cy="78202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C4C846A-6542-AD6D-971B-B41B329A0EB6}"/>
              </a:ext>
            </a:extLst>
          </p:cNvPr>
          <p:cNvCxnSpPr>
            <a:cxnSpLocks/>
          </p:cNvCxnSpPr>
          <p:nvPr/>
        </p:nvCxnSpPr>
        <p:spPr>
          <a:xfrm>
            <a:off x="8015591" y="3260076"/>
            <a:ext cx="1284308" cy="1868701"/>
          </a:xfrm>
          <a:prstGeom prst="straightConnector1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1508445-6029-53D4-C64E-B0F80C76E691}"/>
              </a:ext>
            </a:extLst>
          </p:cNvPr>
          <p:cNvCxnSpPr>
            <a:cxnSpLocks/>
          </p:cNvCxnSpPr>
          <p:nvPr/>
        </p:nvCxnSpPr>
        <p:spPr>
          <a:xfrm flipV="1">
            <a:off x="4690872" y="1214708"/>
            <a:ext cx="4991050" cy="4592705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Diagrama de flujo: combinar 21">
            <a:extLst>
              <a:ext uri="{FF2B5EF4-FFF2-40B4-BE49-F238E27FC236}">
                <a16:creationId xmlns:a16="http://schemas.microsoft.com/office/drawing/2014/main" id="{FA275B62-C8F4-4BD0-3578-E78670F3975F}"/>
              </a:ext>
            </a:extLst>
          </p:cNvPr>
          <p:cNvSpPr/>
          <p:nvPr/>
        </p:nvSpPr>
        <p:spPr>
          <a:xfrm>
            <a:off x="7770640" y="3134836"/>
            <a:ext cx="3056245" cy="2253906"/>
          </a:xfrm>
          <a:prstGeom prst="flowChartMerg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41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3791F6-0FE3-4495-8759-44398FA7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C267406-4F3A-4C44-A900-7478CAB64A5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 descr="Mapa&#10;&#10;Descripción generada automáticamente">
            <a:extLst>
              <a:ext uri="{FF2B5EF4-FFF2-40B4-BE49-F238E27FC236}">
                <a16:creationId xmlns:a16="http://schemas.microsoft.com/office/drawing/2014/main" id="{48AF8E5A-FFE6-1849-6B3D-B667BB69C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811784"/>
            <a:ext cx="10905066" cy="5234430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76C7B4E-3C32-AC96-8E87-562AB57C3579}"/>
              </a:ext>
            </a:extLst>
          </p:cNvPr>
          <p:cNvSpPr txBox="1"/>
          <p:nvPr/>
        </p:nvSpPr>
        <p:spPr>
          <a:xfrm>
            <a:off x="2005" y="5446295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4"/>
              </a:rPr>
              <a:t>https://unctad.org/topic/commodities/state-of-commodity-dependence</a:t>
            </a:r>
            <a:endParaRPr lang="es-ES"/>
          </a:p>
          <a:p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CE1F0A-9D59-97A8-6B97-776DBF07586A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55054FA1-EF46-43DC-C5F5-D9D739F5FFED}"/>
              </a:ext>
            </a:extLst>
          </p:cNvPr>
          <p:cNvSpPr txBox="1">
            <a:spLocks/>
          </p:cNvSpPr>
          <p:nvPr/>
        </p:nvSpPr>
        <p:spPr>
          <a:xfrm>
            <a:off x="-38825" y="3769931"/>
            <a:ext cx="3418990" cy="141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1138" lvl="1" algn="l" rt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400" b="1" dirty="0">
                <a:latin typeface="+mj-lt"/>
                <a:ea typeface="+mj-ea"/>
                <a:cs typeface="+mj-cs"/>
              </a:rPr>
              <a:t>Reasons</a:t>
            </a:r>
            <a:r>
              <a:rPr lang="en-US" sz="4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to expand </a:t>
            </a:r>
          </a:p>
        </p:txBody>
      </p:sp>
    </p:spTree>
    <p:extLst>
      <p:ext uri="{BB962C8B-B14F-4D97-AF65-F5344CB8AC3E}">
        <p14:creationId xmlns:p14="http://schemas.microsoft.com/office/powerpoint/2010/main" val="4223705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D84A-8086-6AD0-FC84-AA15C61B9A80}"/>
              </a:ext>
            </a:extLst>
          </p:cNvPr>
          <p:cNvSpPr txBox="1">
            <a:spLocks/>
          </p:cNvSpPr>
          <p:nvPr/>
        </p:nvSpPr>
        <p:spPr>
          <a:xfrm>
            <a:off x="1363980" y="365124"/>
            <a:ext cx="9464040" cy="1325563"/>
          </a:xfrm>
          <a:prstGeom prst="rect">
            <a:avLst/>
          </a:prstGeom>
        </p:spPr>
        <p:txBody>
          <a:bodyPr vert="horz" lIns="109728" tIns="54864" rIns="109728" bIns="54864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97280">
              <a:spcAft>
                <a:spcPts val="720"/>
              </a:spcAft>
            </a:pPr>
            <a:r>
              <a:rPr lang="en-US" sz="3360" dirty="0"/>
              <a:t>Creating a Project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61FB3-2E94-8325-9B7F-41C5D89167FE}"/>
              </a:ext>
            </a:extLst>
          </p:cNvPr>
          <p:cNvSpPr txBox="1">
            <a:spLocks/>
          </p:cNvSpPr>
          <p:nvPr/>
        </p:nvSpPr>
        <p:spPr>
          <a:xfrm>
            <a:off x="1363980" y="1929384"/>
            <a:ext cx="9464040" cy="4251960"/>
          </a:xfrm>
          <a:prstGeom prst="rect">
            <a:avLst/>
          </a:prstGeom>
        </p:spPr>
        <p:txBody>
          <a:bodyPr vert="horz" lIns="109728" tIns="54864" rIns="109728" bIns="54864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74320" defTabSz="1097280"/>
            <a:r>
              <a:rPr lang="en-US" sz="2040" b="1" dirty="0"/>
              <a:t>Define who is going to do what</a:t>
            </a:r>
          </a:p>
          <a:p>
            <a:pPr lvl="1" indent="-274320" defTabSz="1097280"/>
            <a:r>
              <a:rPr lang="en-US" sz="2040" dirty="0"/>
              <a:t>Define roles and responsibilities</a:t>
            </a:r>
          </a:p>
          <a:p>
            <a:pPr lvl="1" indent="-274320" defTabSz="1097280"/>
            <a:r>
              <a:rPr lang="en-US" sz="2040" dirty="0"/>
              <a:t>Identify people and resources, ensure their commitment to the project</a:t>
            </a:r>
          </a:p>
          <a:p>
            <a:pPr lvl="1" indent="-274320" defTabSz="1097280"/>
            <a:r>
              <a:rPr lang="en-US" sz="2040" dirty="0"/>
              <a:t>Identify a project leader, specify their authority and responsibilities </a:t>
            </a:r>
          </a:p>
          <a:p>
            <a:pPr indent="-274320" defTabSz="1097280"/>
            <a:r>
              <a:rPr lang="en-US" sz="2040" b="1" dirty="0"/>
              <a:t>Important questions:</a:t>
            </a:r>
          </a:p>
          <a:p>
            <a:pPr lvl="1" indent="-274320" defTabSz="1097280"/>
            <a:r>
              <a:rPr lang="en-US" sz="2040" dirty="0"/>
              <a:t>Who is the project manager? What decisions are within the PM’s area of authority? Is this authority sufficient to carry out the project?</a:t>
            </a:r>
          </a:p>
          <a:p>
            <a:pPr lvl="1" indent="-274320" defTabSz="1097280"/>
            <a:r>
              <a:rPr lang="en-US" sz="2040" dirty="0"/>
              <a:t>Who is on the team? Fulltime or part-time? What are their areas of expertise? Their roles?</a:t>
            </a:r>
          </a:p>
          <a:p>
            <a:pPr lvl="1" indent="-274320" defTabSz="1097280"/>
            <a:r>
              <a:rPr lang="en-US" sz="2040" dirty="0"/>
              <a:t>Who is the project sponsor? Are they at a sufficiently high level in the organization to provide the project with the support it needs to have a good chance of success?</a:t>
            </a:r>
          </a:p>
          <a:p>
            <a:pPr marL="0" indent="-274320" defTabSz="1097280"/>
            <a:endParaRPr lang="en-US" sz="2040" dirty="0"/>
          </a:p>
          <a:p>
            <a:pPr marL="0" indent="-274320" defTabSz="1097280"/>
            <a:r>
              <a:rPr lang="en-US" sz="2040" dirty="0"/>
              <a:t>Create your own organization. 5 departments, finance, marketing, accounting, production … . 20 employees </a:t>
            </a:r>
          </a:p>
          <a:p>
            <a:pPr marL="0" indent="-274320" defTabSz="1097280"/>
            <a:endParaRPr lang="en-US" sz="2040" dirty="0"/>
          </a:p>
          <a:p>
            <a:pPr marL="0" indent="-274320" defTabSz="1097280"/>
            <a:endParaRPr lang="en-US" sz="2040" dirty="0"/>
          </a:p>
          <a:p>
            <a:pPr marL="0" indent="-274320" defTabSz="1097280"/>
            <a:endParaRPr lang="en-US" sz="204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EFBE140-E512-E231-5EF4-5B0667B17B37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196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AACE5A-3D69-4518-AD40-96DE55320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829" y="564962"/>
            <a:ext cx="10262342" cy="4921438"/>
          </a:xfrm>
        </p:spPr>
        <p:txBody>
          <a:bodyPr anchor="ctr">
            <a:normAutofit/>
          </a:bodyPr>
          <a:lstStyle/>
          <a:p>
            <a:pPr defTabSz="771440">
              <a:buClr>
                <a:srgbClr val="00B050"/>
              </a:buClr>
              <a:buSzPct val="110000"/>
              <a:buFont typeface="Arial" panose="020B0604020202020204" pitchFamily="34" charset="0"/>
              <a:buChar char="─"/>
              <a:defRPr/>
            </a:pPr>
            <a:r>
              <a:rPr lang="en-US" sz="2160" dirty="0">
                <a:latin typeface="Montserrat" panose="00000500000000000000" pitchFamily="2" charset="0"/>
              </a:rPr>
              <a:t>Master the impact of the most frequent business decisions on the 3 financial statements of a company:</a:t>
            </a:r>
            <a:r>
              <a:rPr lang="en-US" sz="2160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160" b="1" dirty="0">
                <a:highlight>
                  <a:srgbClr val="00D090"/>
                </a:highlight>
                <a:latin typeface="Montserrat" panose="00000500000000000000" pitchFamily="2" charset="0"/>
              </a:rPr>
              <a:t>Income Statement, Balance sheet, Cash flow statement</a:t>
            </a:r>
          </a:p>
          <a:p>
            <a:pPr defTabSz="771440">
              <a:buClr>
                <a:srgbClr val="00B050"/>
              </a:buClr>
              <a:buSzPct val="110000"/>
              <a:buFont typeface="Arial" panose="020B0604020202020204" pitchFamily="34" charset="0"/>
              <a:buChar char="─"/>
              <a:defRPr/>
            </a:pPr>
            <a:endParaRPr lang="en-US" sz="2160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defTabSz="771440">
              <a:buClr>
                <a:srgbClr val="00B050"/>
              </a:buClr>
              <a:buSzPct val="110000"/>
              <a:buFont typeface="Arial" panose="020B0604020202020204" pitchFamily="34" charset="0"/>
              <a:buChar char="─"/>
              <a:defRPr/>
            </a:pPr>
            <a:r>
              <a:rPr lang="en-US" sz="2160" dirty="0">
                <a:latin typeface="Montserrat" panose="00000500000000000000" pitchFamily="2" charset="0"/>
              </a:rPr>
              <a:t>Build up and use a comprehensive set of</a:t>
            </a:r>
            <a:r>
              <a:rPr lang="en-US" sz="2160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2160" b="1" dirty="0">
                <a:highlight>
                  <a:srgbClr val="00D090"/>
                </a:highlight>
                <a:latin typeface="Montserrat" panose="00000500000000000000" pitchFamily="2" charset="0"/>
              </a:rPr>
              <a:t>financial performance indicators </a:t>
            </a:r>
            <a:r>
              <a:rPr lang="en-US" sz="2160" dirty="0">
                <a:latin typeface="Montserrat" panose="00000500000000000000" pitchFamily="2" charset="0"/>
              </a:rPr>
              <a:t>to assess and improve a company’s performance</a:t>
            </a:r>
          </a:p>
          <a:p>
            <a:pPr defTabSz="771440">
              <a:buClr>
                <a:srgbClr val="00B050"/>
              </a:buClr>
              <a:buSzPct val="110000"/>
              <a:buFont typeface="Arial" panose="020B0604020202020204" pitchFamily="34" charset="0"/>
              <a:buChar char="─"/>
              <a:defRPr/>
            </a:pPr>
            <a:endParaRPr lang="en-US" sz="2160" dirty="0">
              <a:solidFill>
                <a:schemeClr val="accent1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pPr defTabSz="771440">
              <a:buClr>
                <a:srgbClr val="00B050"/>
              </a:buClr>
              <a:buSzPct val="110000"/>
              <a:buFont typeface="Arial" panose="020B0604020202020204" pitchFamily="34" charset="0"/>
              <a:buChar char="─"/>
              <a:defRPr/>
            </a:pPr>
            <a:r>
              <a:rPr lang="en-US" sz="2160" dirty="0">
                <a:latin typeface="Montserrat" panose="00000500000000000000" pitchFamily="2" charset="0"/>
              </a:rPr>
              <a:t>Make decisions to optimize </a:t>
            </a:r>
            <a:r>
              <a:rPr lang="en-US" sz="2160" b="1" dirty="0">
                <a:highlight>
                  <a:srgbClr val="00D090"/>
                </a:highlight>
                <a:latin typeface="Montserrat" panose="00000500000000000000" pitchFamily="2" charset="0"/>
              </a:rPr>
              <a:t>cash generation</a:t>
            </a:r>
          </a:p>
        </p:txBody>
      </p:sp>
    </p:spTree>
    <p:extLst>
      <p:ext uri="{BB962C8B-B14F-4D97-AF65-F5344CB8AC3E}">
        <p14:creationId xmlns:p14="http://schemas.microsoft.com/office/powerpoint/2010/main" val="923375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466798" y="1494273"/>
            <a:ext cx="7063984" cy="4073366"/>
          </a:xfrm>
          <a:prstGeom prst="rect">
            <a:avLst/>
          </a:prstGeom>
        </p:spPr>
        <p:txBody>
          <a:bodyPr>
            <a:noAutofit/>
          </a:bodyPr>
          <a:lstStyle>
            <a:lvl1pPr marL="339725" indent="-3397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5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2pPr>
            <a:lvl3pPr marL="11398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3pPr>
            <a:lvl4pPr marL="15970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4pPr>
            <a:lvl5pPr marL="20542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5pPr>
            <a:lvl6pPr marL="2513243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196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148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101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endParaRPr lang="en-GB" sz="1800">
              <a:solidFill>
                <a:schemeClr val="tx1"/>
              </a:solidFill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0DDF91-1EA3-4724-9278-77FA846B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Arial" charset="0"/>
              <a:buNone/>
            </a:pPr>
            <a:r>
              <a:rPr lang="en-GB" sz="3300" dirty="0">
                <a:latin typeface="Montserrat SemiBold" panose="00000700000000000000" pitchFamily="2" charset="0"/>
                <a:ea typeface="+mj-ea"/>
                <a:cs typeface="+mj-cs"/>
              </a:rPr>
              <a:t>The potential size of each market depends on</a:t>
            </a:r>
            <a:r>
              <a:rPr lang="en-GB" dirty="0">
                <a:latin typeface="Montserrat" panose="00000500000000000000" pitchFamily="2" charset="0"/>
              </a:rPr>
              <a:t>:</a:t>
            </a:r>
            <a:endParaRPr lang="en-GB" sz="1800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market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growth rate expected</a:t>
            </a:r>
            <a:r>
              <a:rPr lang="en-GB" dirty="0">
                <a:latin typeface="Montserrat" panose="00000500000000000000" pitchFamily="2" charset="0"/>
              </a:rPr>
              <a:t> in each industry</a:t>
            </a: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sz="1260" dirty="0">
              <a:latin typeface="Montserrat" panose="00000500000000000000" pitchFamily="2" charset="0"/>
            </a:endParaRP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economy (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Business index</a:t>
            </a:r>
            <a:r>
              <a:rPr lang="en-GB" dirty="0">
                <a:latin typeface="Montserrat" panose="00000500000000000000" pitchFamily="2" charset="0"/>
              </a:rPr>
              <a:t>)</a:t>
            </a: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prices</a:t>
            </a:r>
            <a:r>
              <a:rPr lang="en-GB" b="1" dirty="0">
                <a:latin typeface="Montserrat" panose="00000500000000000000" pitchFamily="2" charset="0"/>
              </a:rPr>
              <a:t> </a:t>
            </a:r>
            <a:r>
              <a:rPr lang="en-GB" dirty="0">
                <a:latin typeface="Montserrat" panose="00000500000000000000" pitchFamily="2" charset="0"/>
              </a:rPr>
              <a:t>offered by the different competing companies</a:t>
            </a: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quantities</a:t>
            </a:r>
            <a:r>
              <a:rPr lang="en-GB" b="1" dirty="0">
                <a:latin typeface="Montserrat" panose="00000500000000000000" pitchFamily="2" charset="0"/>
              </a:rPr>
              <a:t> </a:t>
            </a:r>
            <a:r>
              <a:rPr lang="en-GB" dirty="0">
                <a:latin typeface="Montserrat" panose="00000500000000000000" pitchFamily="2" charset="0"/>
              </a:rPr>
              <a:t>of products available for sale</a:t>
            </a: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administrative &amp; selling expenses</a:t>
            </a:r>
            <a:r>
              <a:rPr lang="en-GB" dirty="0">
                <a:latin typeface="Montserrat" panose="00000500000000000000" pitchFamily="2" charset="0"/>
              </a:rPr>
              <a:t>, i.e. sales &amp; marketing efforts</a:t>
            </a:r>
          </a:p>
          <a:p>
            <a:pPr lvl="2">
              <a:lnSpc>
                <a:spcPct val="150000"/>
              </a:lnSpc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The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Research &amp; Development expenses</a:t>
            </a:r>
            <a:r>
              <a:rPr lang="en-GB" b="1" dirty="0">
                <a:latin typeface="Montserrat" panose="00000500000000000000" pitchFamily="2" charset="0"/>
              </a:rPr>
              <a:t> </a:t>
            </a:r>
            <a:r>
              <a:rPr lang="en-GB" dirty="0">
                <a:latin typeface="Montserrat" panose="00000500000000000000" pitchFamily="2" charset="0"/>
              </a:rPr>
              <a:t>to create product appeal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74965" y="2219567"/>
            <a:ext cx="1425758" cy="712879"/>
          </a:xfrm>
          <a:prstGeom prst="rect">
            <a:avLst/>
          </a:prstGeom>
          <a:solidFill>
            <a:srgbClr val="BCF2C1"/>
          </a:solidFill>
          <a:ln>
            <a:solidFill>
              <a:srgbClr val="00D090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960" b="1" dirty="0">
                <a:solidFill>
                  <a:srgbClr val="00D090"/>
                </a:solidFill>
              </a:rPr>
              <a:t>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74965" y="3061435"/>
            <a:ext cx="1425758" cy="712879"/>
          </a:xfrm>
          <a:prstGeom prst="rect">
            <a:avLst/>
          </a:prstGeom>
          <a:solidFill>
            <a:srgbClr val="BCF2C1"/>
          </a:solidFill>
          <a:ln>
            <a:solidFill>
              <a:srgbClr val="00D090"/>
            </a:solidFill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960" b="1" dirty="0">
                <a:solidFill>
                  <a:srgbClr val="00D090"/>
                </a:solidFill>
              </a:rPr>
              <a:t>B</a:t>
            </a:r>
          </a:p>
        </p:txBody>
      </p:sp>
      <p:sp>
        <p:nvSpPr>
          <p:cNvPr id="16" name="Flèche droite 15"/>
          <p:cNvSpPr/>
          <p:nvPr/>
        </p:nvSpPr>
        <p:spPr>
          <a:xfrm rot="16200000" flipV="1">
            <a:off x="6366697" y="2413363"/>
            <a:ext cx="518458" cy="259229"/>
          </a:xfrm>
          <a:prstGeom prst="rightArrow">
            <a:avLst/>
          </a:prstGeom>
          <a:solidFill>
            <a:srgbClr val="00D090"/>
          </a:solidFill>
          <a:ln>
            <a:solidFill>
              <a:srgbClr val="00D0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20">
              <a:ln w="0"/>
              <a:solidFill>
                <a:srgbClr val="005A5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Flèche droite 16"/>
          <p:cNvSpPr/>
          <p:nvPr/>
        </p:nvSpPr>
        <p:spPr>
          <a:xfrm rot="5400000">
            <a:off x="6366697" y="3278591"/>
            <a:ext cx="518458" cy="259229"/>
          </a:xfrm>
          <a:prstGeom prst="rightArrow">
            <a:avLst/>
          </a:prstGeom>
          <a:solidFill>
            <a:srgbClr val="BD2B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2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6722896" y="2427204"/>
            <a:ext cx="1225015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40" dirty="0">
                <a:ln w="0"/>
                <a:latin typeface="Montserrat" panose="00000500000000000000" pitchFamily="2" charset="0"/>
              </a:rPr>
              <a:t>+10% </a:t>
            </a:r>
            <a:r>
              <a:rPr lang="fr-FR" sz="1440" dirty="0" err="1">
                <a:ln w="0"/>
                <a:latin typeface="Montserrat" panose="00000500000000000000" pitchFamily="2" charset="0"/>
              </a:rPr>
              <a:t>yearly</a:t>
            </a:r>
            <a:endParaRPr lang="fr-FR" sz="1440" dirty="0">
              <a:ln w="0"/>
              <a:latin typeface="Montserrat" panose="00000500000000000000" pitchFamily="2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6750818" y="3255857"/>
            <a:ext cx="1104790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40" dirty="0">
                <a:ln w="0"/>
                <a:solidFill>
                  <a:srgbClr val="FF0000"/>
                </a:solidFill>
                <a:latin typeface="Montserrat" panose="00000500000000000000" pitchFamily="2" charset="0"/>
              </a:rPr>
              <a:t>-5% </a:t>
            </a:r>
            <a:r>
              <a:rPr lang="fr-FR" sz="1440" dirty="0" err="1">
                <a:ln w="0"/>
                <a:solidFill>
                  <a:srgbClr val="FF0000"/>
                </a:solidFill>
                <a:latin typeface="Montserrat" panose="00000500000000000000" pitchFamily="2" charset="0"/>
              </a:rPr>
              <a:t>yearly</a:t>
            </a:r>
            <a:endParaRPr lang="fr-FR" sz="1440" dirty="0">
              <a:ln w="0"/>
              <a:solidFill>
                <a:srgbClr val="FF0000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7C370D1-0451-6B9D-856B-853650B02FDD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63652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Diagram 28"/>
          <p:cNvGraphicFramePr/>
          <p:nvPr/>
        </p:nvGraphicFramePr>
        <p:xfrm>
          <a:off x="4386628" y="2428437"/>
          <a:ext cx="3110744" cy="2071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re 2">
            <a:extLst>
              <a:ext uri="{FF2B5EF4-FFF2-40B4-BE49-F238E27FC236}">
                <a16:creationId xmlns:a16="http://schemas.microsoft.com/office/drawing/2014/main" id="{3230780C-5D61-4ED5-8F1A-0EF76AFE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281" y="925941"/>
            <a:ext cx="10267736" cy="991031"/>
          </a:xfrm>
        </p:spPr>
        <p:txBody>
          <a:bodyPr>
            <a:normAutofit/>
          </a:bodyPr>
          <a:lstStyle/>
          <a:p>
            <a:r>
              <a:rPr lang="en-US" dirty="0"/>
              <a:t>Decisions at business unit and CEO levels</a:t>
            </a:r>
          </a:p>
        </p:txBody>
      </p:sp>
      <p:sp>
        <p:nvSpPr>
          <p:cNvPr id="12" name="Bulle ronde 11"/>
          <p:cNvSpPr/>
          <p:nvPr/>
        </p:nvSpPr>
        <p:spPr>
          <a:xfrm>
            <a:off x="6836656" y="4499442"/>
            <a:ext cx="2629320" cy="1432618"/>
          </a:xfrm>
          <a:prstGeom prst="wedgeEllipseCallout">
            <a:avLst>
              <a:gd name="adj1" fmla="val -31262"/>
              <a:gd name="adj2" fmla="val -78727"/>
            </a:avLst>
          </a:prstGeom>
          <a:solidFill>
            <a:schemeClr val="bg1">
              <a:lumMod val="75000"/>
            </a:schemeClr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Production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Pricing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Adm. &amp; Selling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R&amp;D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Facility </a:t>
            </a:r>
            <a:r>
              <a:rPr lang="fr-FR" sz="1260" dirty="0" err="1">
                <a:solidFill>
                  <a:schemeClr val="tx1"/>
                </a:solidFill>
                <a:latin typeface="Montserrat" panose="00000500000000000000" pitchFamily="2" charset="0"/>
              </a:rPr>
              <a:t>investment</a:t>
            </a:r>
            <a:endParaRPr lang="fr-FR" sz="126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Bulle ronde 12"/>
          <p:cNvSpPr/>
          <p:nvPr/>
        </p:nvSpPr>
        <p:spPr>
          <a:xfrm flipH="1">
            <a:off x="2389346" y="4638740"/>
            <a:ext cx="2629320" cy="1432618"/>
          </a:xfrm>
          <a:prstGeom prst="wedgeEllipseCallout">
            <a:avLst>
              <a:gd name="adj1" fmla="val -31262"/>
              <a:gd name="adj2" fmla="val -78727"/>
            </a:avLst>
          </a:prstGeom>
          <a:solidFill>
            <a:schemeClr val="bg1">
              <a:lumMod val="75000"/>
            </a:schemeClr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Production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Pricing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Adm. &amp; Selling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R&amp;D</a:t>
            </a: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dirty="0">
                <a:solidFill>
                  <a:schemeClr val="tx1"/>
                </a:solidFill>
                <a:latin typeface="Montserrat" panose="00000500000000000000" pitchFamily="2" charset="0"/>
              </a:rPr>
              <a:t>Facility </a:t>
            </a:r>
            <a:r>
              <a:rPr lang="fr-FR" sz="1260" dirty="0" err="1">
                <a:solidFill>
                  <a:schemeClr val="tx1"/>
                </a:solidFill>
                <a:latin typeface="Montserrat" panose="00000500000000000000" pitchFamily="2" charset="0"/>
              </a:rPr>
              <a:t>investment</a:t>
            </a:r>
            <a:endParaRPr lang="fr-FR" sz="126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Bulle ronde 13"/>
          <p:cNvSpPr/>
          <p:nvPr/>
        </p:nvSpPr>
        <p:spPr>
          <a:xfrm>
            <a:off x="6601813" y="1916838"/>
            <a:ext cx="1879409" cy="865639"/>
          </a:xfrm>
          <a:prstGeom prst="wedgeEllipseCallout">
            <a:avLst>
              <a:gd name="adj1" fmla="val -57478"/>
              <a:gd name="adj2" fmla="val 54790"/>
            </a:avLst>
          </a:prstGeom>
          <a:solidFill>
            <a:schemeClr val="bg1">
              <a:lumMod val="75000"/>
            </a:schemeClr>
          </a:solidFill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>
                <a:solidFill>
                  <a:schemeClr val="tx1"/>
                </a:solidFill>
                <a:latin typeface="Montserrat" panose="00000500000000000000" pitchFamily="2" charset="0"/>
              </a:rPr>
              <a:t>HR &amp; </a:t>
            </a:r>
            <a:r>
              <a:rPr lang="fr-FR" sz="1260" err="1">
                <a:solidFill>
                  <a:schemeClr val="tx1"/>
                </a:solidFill>
                <a:latin typeface="Montserrat" panose="00000500000000000000" pitchFamily="2" charset="0"/>
              </a:rPr>
              <a:t>Quality</a:t>
            </a:r>
            <a:endParaRPr lang="fr-FR" sz="1260">
              <a:solidFill>
                <a:schemeClr val="tx1"/>
              </a:solidFill>
              <a:latin typeface="Montserrat" panose="00000500000000000000" pitchFamily="2" charset="0"/>
            </a:endParaRPr>
          </a:p>
          <a:p>
            <a:pPr marL="257176" indent="-257176">
              <a:buFont typeface="Arial" panose="020B0604020202020204" pitchFamily="34" charset="0"/>
              <a:buChar char="─"/>
            </a:pPr>
            <a:r>
              <a:rPr lang="fr-FR" sz="1260" err="1">
                <a:solidFill>
                  <a:schemeClr val="tx1"/>
                </a:solidFill>
                <a:latin typeface="Montserrat" panose="00000500000000000000" pitchFamily="2" charset="0"/>
              </a:rPr>
              <a:t>Financing</a:t>
            </a:r>
            <a:endParaRPr lang="fr-FR" sz="126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CC61E3F-2192-95D3-6228-1083DFF032B4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831510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4B52A92B-4A83-4034-B424-1BB18DE4F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2517" y="1470898"/>
            <a:ext cx="5407804" cy="4429295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Research &amp; Development relates to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Improving the </a:t>
            </a:r>
            <a:r>
              <a:rPr lang="en-GB" b="1" dirty="0">
                <a:latin typeface="Montserrat" panose="00000500000000000000" pitchFamily="2" charset="0"/>
              </a:rPr>
              <a:t>product attractiveness</a:t>
            </a:r>
            <a:r>
              <a:rPr lang="en-GB" dirty="0">
                <a:latin typeface="Montserrat" panose="00000500000000000000" pitchFamily="2" charset="0"/>
              </a:rPr>
              <a:t> to customers (intrinsic features)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Decreasing the </a:t>
            </a:r>
            <a:r>
              <a:rPr lang="en-GB" b="1" dirty="0">
                <a:latin typeface="Montserrat" panose="00000500000000000000" pitchFamily="2" charset="0"/>
              </a:rPr>
              <a:t>manufacturing costs</a:t>
            </a:r>
            <a:r>
              <a:rPr lang="en-GB" dirty="0">
                <a:latin typeface="Montserrat" panose="00000500000000000000" pitchFamily="2" charset="0"/>
              </a:rPr>
              <a:t>: “design-to-cost” &amp; “design for manufacturability”</a:t>
            </a:r>
          </a:p>
          <a:p>
            <a:pPr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sz="1800" dirty="0">
              <a:latin typeface="Montserrat" panose="00000500000000000000" pitchFamily="2" charset="0"/>
            </a:endParaRPr>
          </a:p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Money invested in R&amp;D has both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An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immediate</a:t>
            </a:r>
            <a:r>
              <a:rPr lang="en-GB" dirty="0">
                <a:latin typeface="Montserrat" panose="00000500000000000000" pitchFamily="2" charset="0"/>
              </a:rPr>
              <a:t> effect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A </a:t>
            </a:r>
            <a:r>
              <a:rPr lang="en-GB" b="1" dirty="0">
                <a:highlight>
                  <a:srgbClr val="00D090"/>
                </a:highlight>
                <a:latin typeface="Montserrat" panose="00000500000000000000" pitchFamily="2" charset="0"/>
              </a:rPr>
              <a:t>cumulative</a:t>
            </a:r>
            <a:r>
              <a:rPr lang="en-GB" dirty="0">
                <a:latin typeface="Montserrat" panose="00000500000000000000" pitchFamily="2" charset="0"/>
              </a:rPr>
              <a:t> effect</a:t>
            </a:r>
          </a:p>
          <a:p>
            <a:pPr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1E6EC2-A887-45F7-B006-E11AD2D05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642" y="975382"/>
            <a:ext cx="10267736" cy="991031"/>
          </a:xfrm>
        </p:spPr>
        <p:txBody>
          <a:bodyPr>
            <a:normAutofit/>
          </a:bodyPr>
          <a:lstStyle/>
          <a:p>
            <a:r>
              <a:rPr lang="en-US" dirty="0"/>
              <a:t>Research and development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F7B11A-5396-4B86-AA0E-7ED221C2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91" y="1470898"/>
            <a:ext cx="4946904" cy="494690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F2245E6-A654-FBF2-C765-BA644BBBD3CC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9979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2596413" y="1286171"/>
            <a:ext cx="7063986" cy="4346275"/>
          </a:xfrm>
          <a:prstGeom prst="rect">
            <a:avLst/>
          </a:prstGeom>
        </p:spPr>
        <p:txBody>
          <a:bodyPr>
            <a:noAutofit/>
          </a:bodyPr>
          <a:lstStyle>
            <a:lvl1pPr marL="339725" indent="-3397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9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5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2pPr>
            <a:lvl3pPr marL="11398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2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3pPr>
            <a:lvl4pPr marL="15970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4pPr>
            <a:lvl5pPr marL="2054225" indent="-225425" algn="l" defTabSz="911225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006600"/>
                </a:solidFill>
                <a:latin typeface="+mn-lt"/>
                <a:ea typeface="+mn-ea"/>
                <a:cs typeface="+mn-cs"/>
              </a:defRPr>
            </a:lvl5pPr>
            <a:lvl6pPr marL="2513243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196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148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101" indent="-228477" algn="l" defTabSz="91390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endParaRPr lang="en-GB" sz="2340">
              <a:solidFill>
                <a:schemeClr val="tx1"/>
              </a:solidFill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A8C608D-D492-4971-8960-FCAA268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121" y="1508760"/>
            <a:ext cx="10262342" cy="4921438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HR &amp; Quality relates to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highlight>
                  <a:srgbClr val="00D090"/>
                </a:highlight>
                <a:latin typeface="Montserrat" panose="00000500000000000000" pitchFamily="2" charset="0"/>
              </a:rPr>
              <a:t>People</a:t>
            </a:r>
            <a:r>
              <a:rPr lang="en-GB" dirty="0">
                <a:latin typeface="Montserrat" panose="00000500000000000000" pitchFamily="2" charset="0"/>
              </a:rPr>
              <a:t> – Selection, Training, Career Development Plan...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highlight>
                  <a:srgbClr val="00D090"/>
                </a:highlight>
                <a:latin typeface="Montserrat" panose="00000500000000000000" pitchFamily="2" charset="0"/>
              </a:rPr>
              <a:t>Tools</a:t>
            </a:r>
            <a:r>
              <a:rPr lang="en-GB" dirty="0">
                <a:latin typeface="Montserrat" panose="00000500000000000000" pitchFamily="2" charset="0"/>
              </a:rPr>
              <a:t> – IT &amp; Telecom</a:t>
            </a:r>
          </a:p>
          <a:p>
            <a:pPr marL="0" indent="0">
              <a:buClr>
                <a:srgbClr val="00D090"/>
              </a:buClr>
              <a:buNone/>
            </a:pPr>
            <a:endParaRPr lang="en-GB" sz="1800" dirty="0">
              <a:latin typeface="Montserrat" panose="00000500000000000000" pitchFamily="2" charset="0"/>
            </a:endParaRPr>
          </a:p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It has a positive </a:t>
            </a:r>
            <a:r>
              <a:rPr lang="en-GB" sz="1800" b="1" dirty="0">
                <a:latin typeface="Montserrat" panose="00000500000000000000" pitchFamily="2" charset="0"/>
              </a:rPr>
              <a:t>impact on Employee Morale </a:t>
            </a:r>
            <a:r>
              <a:rPr lang="en-GB" sz="1800" dirty="0">
                <a:latin typeface="Montserrat" panose="00000500000000000000" pitchFamily="2" charset="0"/>
              </a:rPr>
              <a:t>by improving employee’s confidence in their company</a:t>
            </a:r>
          </a:p>
          <a:p>
            <a:pPr marL="0" indent="0">
              <a:buClr>
                <a:srgbClr val="00D090"/>
              </a:buClr>
              <a:buNone/>
            </a:pPr>
            <a:endParaRPr lang="en-GB" sz="1800" dirty="0">
              <a:latin typeface="Montserrat" panose="00000500000000000000" pitchFamily="2" charset="0"/>
            </a:endParaRPr>
          </a:p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It </a:t>
            </a:r>
            <a:r>
              <a:rPr lang="en-GB" sz="1800" b="1" dirty="0">
                <a:latin typeface="Montserrat" panose="00000500000000000000" pitchFamily="2" charset="0"/>
              </a:rPr>
              <a:t>improves effectiveness </a:t>
            </a:r>
            <a:r>
              <a:rPr lang="en-GB" sz="1800" dirty="0">
                <a:latin typeface="Montserrat" panose="00000500000000000000" pitchFamily="2" charset="0"/>
              </a:rPr>
              <a:t>of </a:t>
            </a:r>
            <a:r>
              <a:rPr lang="en-GB" sz="1800" i="1" dirty="0">
                <a:latin typeface="Montserrat" panose="00000500000000000000" pitchFamily="2" charset="0"/>
              </a:rPr>
              <a:t>all</a:t>
            </a:r>
            <a:r>
              <a:rPr lang="en-GB" sz="1800" dirty="0">
                <a:latin typeface="Montserrat" panose="00000500000000000000" pitchFamily="2" charset="0"/>
              </a:rPr>
              <a:t> business processes, thus enhancing the effectiveness of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Marketing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Research &amp; Development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r>
              <a:rPr lang="en-GB" dirty="0">
                <a:latin typeface="Montserrat" panose="00000500000000000000" pitchFamily="2" charset="0"/>
              </a:rPr>
              <a:t>Production</a:t>
            </a:r>
          </a:p>
          <a:p>
            <a:pPr marL="557213" lvl="3" indent="-308610">
              <a:buClr>
                <a:srgbClr val="00D090"/>
              </a:buClr>
              <a:buFont typeface="Arial" panose="020B0604020202020204" pitchFamily="34" charset="0"/>
              <a:buChar char="─"/>
            </a:pPr>
            <a:endParaRPr lang="en-GB" dirty="0">
              <a:latin typeface="Montserrat" panose="00000500000000000000" pitchFamily="2" charset="0"/>
            </a:endParaRPr>
          </a:p>
          <a:p>
            <a:pPr marL="0" indent="0">
              <a:buClr>
                <a:srgbClr val="00D090"/>
              </a:buClr>
              <a:buNone/>
            </a:pPr>
            <a:r>
              <a:rPr lang="en-GB" sz="1800" dirty="0">
                <a:latin typeface="Montserrat" panose="00000500000000000000" pitchFamily="2" charset="0"/>
              </a:rPr>
              <a:t>Money spent in HR &amp; Quality takes </a:t>
            </a:r>
            <a:r>
              <a:rPr lang="en-GB" sz="1800" b="1" dirty="0">
                <a:latin typeface="Montserrat" panose="00000500000000000000" pitchFamily="2" charset="0"/>
              </a:rPr>
              <a:t>one period to be effective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DF12CDB-7589-4539-8745-00BA5320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123" y="779581"/>
            <a:ext cx="10267736" cy="991031"/>
          </a:xfrm>
        </p:spPr>
        <p:txBody>
          <a:bodyPr>
            <a:normAutofit/>
          </a:bodyPr>
          <a:lstStyle/>
          <a:p>
            <a:r>
              <a:rPr lang="en-US" dirty="0"/>
              <a:t>Human resources and quality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52AC14C-7166-6C0B-2710-4A45DE46051F}"/>
              </a:ext>
            </a:extLst>
          </p:cNvPr>
          <p:cNvSpPr/>
          <p:nvPr/>
        </p:nvSpPr>
        <p:spPr>
          <a:xfrm>
            <a:off x="0" y="6643991"/>
            <a:ext cx="12192000" cy="214009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2053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739</Words>
  <Application>Microsoft Office PowerPoint</Application>
  <PresentationFormat>Panorámica</PresentationFormat>
  <Paragraphs>119</Paragraphs>
  <Slides>13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6" baseType="lpstr">
      <vt:lpstr>SimSun</vt:lpstr>
      <vt:lpstr>Aptos</vt:lpstr>
      <vt:lpstr>Aptos Display</vt:lpstr>
      <vt:lpstr>Arial</vt:lpstr>
      <vt:lpstr>Calibri</vt:lpstr>
      <vt:lpstr>Calisto MT</vt:lpstr>
      <vt:lpstr>Lato</vt:lpstr>
      <vt:lpstr>Montserrat</vt:lpstr>
      <vt:lpstr>Montserrat Light</vt:lpstr>
      <vt:lpstr>Montserrat SemiBold</vt:lpstr>
      <vt:lpstr>Roboto Light</vt:lpstr>
      <vt:lpstr>SF Pro Text</vt:lpstr>
      <vt:lpstr>Tema de Office</vt:lpstr>
      <vt:lpstr> 3 Business Strategies in International contexts  Prof. Dr. Geoffrey Ditta  Complutense UNIVERSITY         </vt:lpstr>
      <vt:lpstr>The development of internationalization strategies </vt:lpstr>
      <vt:lpstr> Internationalization Vs Amount at Stake</vt:lpstr>
      <vt:lpstr>Presentación de PowerPoint</vt:lpstr>
      <vt:lpstr>International Business Simulation: Market Entry - Overview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Decisions at business unit and CEO levels</vt:lpstr>
      <vt:lpstr>Research and development</vt:lpstr>
      <vt:lpstr>Human resources and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Business Simulation:  Market Entry  Prof. Dr. Geoffrey Ditta  Complutense UNIVERSITY</dc:title>
  <dc:creator>Pr. Geoffrey Ditta</dc:creator>
  <cp:lastModifiedBy>Pr. Geoffrey Ditta</cp:lastModifiedBy>
  <cp:revision>526</cp:revision>
  <dcterms:created xsi:type="dcterms:W3CDTF">2024-11-15T11:57:02Z</dcterms:created>
  <dcterms:modified xsi:type="dcterms:W3CDTF">2026-02-09T09:16:27Z</dcterms:modified>
</cp:coreProperties>
</file>
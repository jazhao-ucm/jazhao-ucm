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638" r:id="rId2"/>
    <p:sldId id="639" r:id="rId3"/>
    <p:sldId id="652" r:id="rId4"/>
    <p:sldId id="661" r:id="rId5"/>
    <p:sldId id="640" r:id="rId6"/>
    <p:sldId id="665" r:id="rId7"/>
    <p:sldId id="267" r:id="rId8"/>
    <p:sldId id="666" r:id="rId9"/>
    <p:sldId id="642" r:id="rId10"/>
    <p:sldId id="654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03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2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A7F586D-94B3-4D93-B0C7-26EF4484DF26}" type="doc">
      <dgm:prSet loTypeId="urn:microsoft.com/office/officeart/2005/8/layout/process4" loCatId="process" qsTypeId="urn:microsoft.com/office/officeart/2005/8/quickstyle/simple1" qsCatId="simple" csTypeId="urn:microsoft.com/office/officeart/2005/8/colors/accent0_1" csCatId="mainScheme" phldr="1"/>
      <dgm:spPr/>
    </dgm:pt>
    <dgm:pt modelId="{8361FCBB-93EA-4F29-9250-5B73AD512B66}">
      <dgm:prSet phldrT="[Texto]" phldr="0" custT="1"/>
      <dgm:spPr/>
      <dgm:t>
        <a:bodyPr/>
        <a:lstStyle/>
        <a:p>
          <a:pPr rtl="0"/>
          <a:r>
            <a:rPr lang="es-ES" sz="1300" kern="1200" dirty="0">
              <a:latin typeface="Aptos Display" panose="020F0302020204030204"/>
            </a:rPr>
            <a:t> </a:t>
          </a:r>
          <a:r>
            <a:rPr lang="es-ES" sz="1400" kern="1200" dirty="0" err="1">
              <a:solidFill>
                <a:schemeClr val="tx1"/>
              </a:solidFill>
              <a:latin typeface="+mn-lt"/>
              <a:ea typeface="+mn-ea"/>
              <a:cs typeface="+mn-cs"/>
            </a:rPr>
            <a:t>With</a:t>
          </a:r>
          <a:r>
            <a:rPr lang="es-ES" sz="1400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 GDP and </a:t>
          </a:r>
          <a:r>
            <a:rPr lang="es-ES" sz="1400" kern="1200" dirty="0" err="1">
              <a:solidFill>
                <a:schemeClr val="tx1"/>
              </a:solidFill>
              <a:latin typeface="+mn-lt"/>
              <a:ea typeface="+mn-ea"/>
              <a:cs typeface="+mn-cs"/>
            </a:rPr>
            <a:t>Export</a:t>
          </a:r>
          <a:r>
            <a:rPr lang="es-ES" sz="1400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 </a:t>
          </a:r>
          <a:r>
            <a:rPr lang="es-ES" sz="1400" kern="1200" dirty="0" err="1">
              <a:solidFill>
                <a:schemeClr val="tx1"/>
              </a:solidFill>
              <a:latin typeface="+mn-lt"/>
              <a:ea typeface="+mn-ea"/>
              <a:cs typeface="+mn-cs"/>
            </a:rPr>
            <a:t>information</a:t>
          </a:r>
          <a:endParaRPr lang="es-ES" sz="1400" kern="1200" dirty="0">
            <a:solidFill>
              <a:schemeClr val="tx1"/>
            </a:solidFill>
            <a:latin typeface="+mn-lt"/>
            <a:ea typeface="+mn-ea"/>
            <a:cs typeface="+mn-cs"/>
          </a:endParaRPr>
        </a:p>
      </dgm:t>
    </dgm:pt>
    <dgm:pt modelId="{85D3D2A6-56DC-4260-97DA-75EAEF252660}" type="parTrans" cxnId="{AE398669-C91F-4576-A358-A5115173338F}">
      <dgm:prSet/>
      <dgm:spPr/>
      <dgm:t>
        <a:bodyPr/>
        <a:lstStyle/>
        <a:p>
          <a:endParaRPr lang="es-ES"/>
        </a:p>
      </dgm:t>
    </dgm:pt>
    <dgm:pt modelId="{AEB1F252-ABD9-4D38-A96E-8028A1E458A2}" type="sibTrans" cxnId="{AE398669-C91F-4576-A358-A5115173338F}">
      <dgm:prSet/>
      <dgm:spPr/>
      <dgm:t>
        <a:bodyPr/>
        <a:lstStyle/>
        <a:p>
          <a:endParaRPr lang="es-ES"/>
        </a:p>
      </dgm:t>
    </dgm:pt>
    <dgm:pt modelId="{D944A743-EAD6-4C57-9CD1-CCB232B36381}">
      <dgm:prSet phldrT="[Texto]" phldr="0" custT="1"/>
      <dgm:spPr/>
      <dgm:t>
        <a:bodyPr/>
        <a:lstStyle/>
        <a:p>
          <a:pPr rtl="0"/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Population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above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1,000,000</a:t>
          </a:r>
        </a:p>
      </dgm:t>
    </dgm:pt>
    <dgm:pt modelId="{4B281D3B-9CA2-4E75-967E-C3DA4B896EEA}" type="parTrans" cxnId="{EA6D087D-5B71-4BCD-86D8-ADAD39F75769}">
      <dgm:prSet/>
      <dgm:spPr/>
      <dgm:t>
        <a:bodyPr/>
        <a:lstStyle/>
        <a:p>
          <a:endParaRPr lang="es-ES"/>
        </a:p>
      </dgm:t>
    </dgm:pt>
    <dgm:pt modelId="{3DD8A2BF-9F65-40E2-8A29-9D3E30245291}" type="sibTrans" cxnId="{EA6D087D-5B71-4BCD-86D8-ADAD39F75769}">
      <dgm:prSet/>
      <dgm:spPr/>
      <dgm:t>
        <a:bodyPr/>
        <a:lstStyle/>
        <a:p>
          <a:endParaRPr lang="es-ES"/>
        </a:p>
      </dgm:t>
    </dgm:pt>
    <dgm:pt modelId="{9B275F48-CA12-4EBC-93E3-C9AB7777164D}">
      <dgm:prSet phldrT="[Texto]" phldr="0" custT="1"/>
      <dgm:spPr/>
      <dgm:t>
        <a:bodyPr/>
        <a:lstStyle/>
        <a:p>
          <a:pPr rtl="0"/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Average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trade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above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$1</a:t>
          </a:r>
          <a:r>
            <a:rPr lang="es-ES" sz="1300" kern="1200" dirty="0">
              <a:latin typeface="Aptos Display" panose="020F0302020204030204"/>
            </a:rPr>
            <a:t>B</a:t>
          </a:r>
          <a:endParaRPr lang="es-ES" sz="1300" kern="1200" dirty="0"/>
        </a:p>
      </dgm:t>
    </dgm:pt>
    <dgm:pt modelId="{64569F80-C42A-4BD6-9E12-2871A2C2A47B}" type="parTrans" cxnId="{4B204FE3-5F57-4C9E-8498-1CC05454ABEB}">
      <dgm:prSet/>
      <dgm:spPr/>
      <dgm:t>
        <a:bodyPr/>
        <a:lstStyle/>
        <a:p>
          <a:endParaRPr lang="es-ES"/>
        </a:p>
      </dgm:t>
    </dgm:pt>
    <dgm:pt modelId="{9ABD2729-9270-4044-9BFE-629336C37B74}" type="sibTrans" cxnId="{4B204FE3-5F57-4C9E-8498-1CC05454ABEB}">
      <dgm:prSet/>
      <dgm:spPr/>
      <dgm:t>
        <a:bodyPr/>
        <a:lstStyle/>
        <a:p>
          <a:endParaRPr lang="es-ES"/>
        </a:p>
      </dgm:t>
    </dgm:pt>
    <dgm:pt modelId="{263DD62E-0B51-4C26-9FAD-716F8BA5C1D5}">
      <dgm:prSet phldr="0" custT="1"/>
      <dgm:spPr/>
      <dgm:t>
        <a:bodyPr/>
        <a:lstStyle/>
        <a:p>
          <a:pPr rtl="0"/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Reliable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data</a:t>
          </a:r>
        </a:p>
      </dgm:t>
    </dgm:pt>
    <dgm:pt modelId="{37E0D8F9-225C-4986-A437-A5C43387B9B2}" type="parTrans" cxnId="{920DAB25-459B-4580-A296-9615178AD3B9}">
      <dgm:prSet/>
      <dgm:spPr/>
      <dgm:t>
        <a:bodyPr/>
        <a:lstStyle/>
        <a:p>
          <a:endParaRPr lang="es-ES"/>
        </a:p>
      </dgm:t>
    </dgm:pt>
    <dgm:pt modelId="{495B99AF-CE01-4930-AA8D-997A2A956BCF}" type="sibTrans" cxnId="{920DAB25-459B-4580-A296-9615178AD3B9}">
      <dgm:prSet/>
      <dgm:spPr/>
      <dgm:t>
        <a:bodyPr/>
        <a:lstStyle/>
        <a:p>
          <a:endParaRPr lang="es-ES"/>
        </a:p>
      </dgm:t>
    </dgm:pt>
    <dgm:pt modelId="{97829AF1-931B-4A98-8001-E85C3C490C46}">
      <dgm:prSet phldr="0" custT="1"/>
      <dgm:spPr/>
      <dgm:t>
        <a:bodyPr/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Countries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in Rankings</a:t>
          </a:r>
        </a:p>
      </dgm:t>
    </dgm:pt>
    <dgm:pt modelId="{D2465BE6-61F1-437A-8498-27B8DBD4F057}" type="parTrans" cxnId="{CF406695-DAFE-4248-9515-600580215BAE}">
      <dgm:prSet/>
      <dgm:spPr/>
      <dgm:t>
        <a:bodyPr/>
        <a:lstStyle/>
        <a:p>
          <a:endParaRPr lang="es-ES"/>
        </a:p>
      </dgm:t>
    </dgm:pt>
    <dgm:pt modelId="{7A9C7C27-14EC-44D6-A47C-3FB8C16239AE}" type="sibTrans" cxnId="{CF406695-DAFE-4248-9515-600580215BAE}">
      <dgm:prSet/>
      <dgm:spPr/>
      <dgm:t>
        <a:bodyPr/>
        <a:lstStyle/>
        <a:p>
          <a:endParaRPr lang="es-ES"/>
        </a:p>
      </dgm:t>
    </dgm:pt>
    <dgm:pt modelId="{705E512C-AA86-4A45-9BC6-F3582F826ED6}" type="pres">
      <dgm:prSet presAssocID="{4A7F586D-94B3-4D93-B0C7-26EF4484DF26}" presName="Name0" presStyleCnt="0">
        <dgm:presLayoutVars>
          <dgm:dir/>
          <dgm:animLvl val="lvl"/>
          <dgm:resizeHandles val="exact"/>
        </dgm:presLayoutVars>
      </dgm:prSet>
      <dgm:spPr/>
    </dgm:pt>
    <dgm:pt modelId="{8E1F209D-2298-441D-814C-AACCB8C7D02D}" type="pres">
      <dgm:prSet presAssocID="{97829AF1-931B-4A98-8001-E85C3C490C46}" presName="boxAndChildren" presStyleCnt="0"/>
      <dgm:spPr/>
    </dgm:pt>
    <dgm:pt modelId="{5DC16015-4102-46BB-8B8C-A5D786156177}" type="pres">
      <dgm:prSet presAssocID="{97829AF1-931B-4A98-8001-E85C3C490C46}" presName="parentTextBox" presStyleLbl="node1" presStyleIdx="0" presStyleCnt="5"/>
      <dgm:spPr/>
    </dgm:pt>
    <dgm:pt modelId="{52B69AA8-789A-4C20-B705-72E5F6A39C87}" type="pres">
      <dgm:prSet presAssocID="{495B99AF-CE01-4930-AA8D-997A2A956BCF}" presName="sp" presStyleCnt="0"/>
      <dgm:spPr/>
    </dgm:pt>
    <dgm:pt modelId="{BDFFEE2C-894C-4EB1-8762-03EA5B65E006}" type="pres">
      <dgm:prSet presAssocID="{263DD62E-0B51-4C26-9FAD-716F8BA5C1D5}" presName="arrowAndChildren" presStyleCnt="0"/>
      <dgm:spPr/>
    </dgm:pt>
    <dgm:pt modelId="{36FC5C8C-FB64-4DF4-9258-BD37753CC8FE}" type="pres">
      <dgm:prSet presAssocID="{263DD62E-0B51-4C26-9FAD-716F8BA5C1D5}" presName="parentTextArrow" presStyleLbl="node1" presStyleIdx="1" presStyleCnt="5"/>
      <dgm:spPr/>
    </dgm:pt>
    <dgm:pt modelId="{1CF98F52-F392-4F7B-B7B3-8C7F75B11FD2}" type="pres">
      <dgm:prSet presAssocID="{9ABD2729-9270-4044-9BFE-629336C37B74}" presName="sp" presStyleCnt="0"/>
      <dgm:spPr/>
    </dgm:pt>
    <dgm:pt modelId="{5F5A0293-C8A4-4EFA-B15F-71B2126DC4C2}" type="pres">
      <dgm:prSet presAssocID="{9B275F48-CA12-4EBC-93E3-C9AB7777164D}" presName="arrowAndChildren" presStyleCnt="0"/>
      <dgm:spPr/>
    </dgm:pt>
    <dgm:pt modelId="{D088659A-EF3F-489F-AF99-21C5AC03D577}" type="pres">
      <dgm:prSet presAssocID="{9B275F48-CA12-4EBC-93E3-C9AB7777164D}" presName="parentTextArrow" presStyleLbl="node1" presStyleIdx="2" presStyleCnt="5"/>
      <dgm:spPr/>
    </dgm:pt>
    <dgm:pt modelId="{63CE512A-01AC-409C-8AFA-0392118B1A00}" type="pres">
      <dgm:prSet presAssocID="{3DD8A2BF-9F65-40E2-8A29-9D3E30245291}" presName="sp" presStyleCnt="0"/>
      <dgm:spPr/>
    </dgm:pt>
    <dgm:pt modelId="{2CC628C3-18CE-4F46-9CD0-9E4AF7B3021C}" type="pres">
      <dgm:prSet presAssocID="{D944A743-EAD6-4C57-9CD1-CCB232B36381}" presName="arrowAndChildren" presStyleCnt="0"/>
      <dgm:spPr/>
    </dgm:pt>
    <dgm:pt modelId="{1B24B050-D3F6-4493-9F86-603B53DB58E1}" type="pres">
      <dgm:prSet presAssocID="{D944A743-EAD6-4C57-9CD1-CCB232B36381}" presName="parentTextArrow" presStyleLbl="node1" presStyleIdx="3" presStyleCnt="5"/>
      <dgm:spPr/>
    </dgm:pt>
    <dgm:pt modelId="{35D9A970-BACF-4AD7-8B77-DE7014E63E34}" type="pres">
      <dgm:prSet presAssocID="{AEB1F252-ABD9-4D38-A96E-8028A1E458A2}" presName="sp" presStyleCnt="0"/>
      <dgm:spPr/>
    </dgm:pt>
    <dgm:pt modelId="{721F3198-EEDA-43FC-9BB4-857924F09F18}" type="pres">
      <dgm:prSet presAssocID="{8361FCBB-93EA-4F29-9250-5B73AD512B66}" presName="arrowAndChildren" presStyleCnt="0"/>
      <dgm:spPr/>
    </dgm:pt>
    <dgm:pt modelId="{6C013BA1-C913-44B6-814C-3FC1D2595E5F}" type="pres">
      <dgm:prSet presAssocID="{8361FCBB-93EA-4F29-9250-5B73AD512B66}" presName="parentTextArrow" presStyleLbl="node1" presStyleIdx="4" presStyleCnt="5"/>
      <dgm:spPr/>
    </dgm:pt>
  </dgm:ptLst>
  <dgm:cxnLst>
    <dgm:cxn modelId="{920DAB25-459B-4580-A296-9615178AD3B9}" srcId="{4A7F586D-94B3-4D93-B0C7-26EF4484DF26}" destId="{263DD62E-0B51-4C26-9FAD-716F8BA5C1D5}" srcOrd="3" destOrd="0" parTransId="{37E0D8F9-225C-4986-A437-A5C43387B9B2}" sibTransId="{495B99AF-CE01-4930-AA8D-997A2A956BCF}"/>
    <dgm:cxn modelId="{4635F62B-F2D4-4F51-ADD2-D8CE6BF5ACF7}" type="presOf" srcId="{97829AF1-931B-4A98-8001-E85C3C490C46}" destId="{5DC16015-4102-46BB-8B8C-A5D786156177}" srcOrd="0" destOrd="0" presId="urn:microsoft.com/office/officeart/2005/8/layout/process4"/>
    <dgm:cxn modelId="{85A8E83B-953F-4520-9921-6F96E19B0980}" type="presOf" srcId="{D944A743-EAD6-4C57-9CD1-CCB232B36381}" destId="{1B24B050-D3F6-4493-9F86-603B53DB58E1}" srcOrd="0" destOrd="0" presId="urn:microsoft.com/office/officeart/2005/8/layout/process4"/>
    <dgm:cxn modelId="{61A88B44-61D3-4717-B589-915FF684623A}" type="presOf" srcId="{8361FCBB-93EA-4F29-9250-5B73AD512B66}" destId="{6C013BA1-C913-44B6-814C-3FC1D2595E5F}" srcOrd="0" destOrd="0" presId="urn:microsoft.com/office/officeart/2005/8/layout/process4"/>
    <dgm:cxn modelId="{AE398669-C91F-4576-A358-A5115173338F}" srcId="{4A7F586D-94B3-4D93-B0C7-26EF4484DF26}" destId="{8361FCBB-93EA-4F29-9250-5B73AD512B66}" srcOrd="0" destOrd="0" parTransId="{85D3D2A6-56DC-4260-97DA-75EAEF252660}" sibTransId="{AEB1F252-ABD9-4D38-A96E-8028A1E458A2}"/>
    <dgm:cxn modelId="{EA6D087D-5B71-4BCD-86D8-ADAD39F75769}" srcId="{4A7F586D-94B3-4D93-B0C7-26EF4484DF26}" destId="{D944A743-EAD6-4C57-9CD1-CCB232B36381}" srcOrd="1" destOrd="0" parTransId="{4B281D3B-9CA2-4E75-967E-C3DA4B896EEA}" sibTransId="{3DD8A2BF-9F65-40E2-8A29-9D3E30245291}"/>
    <dgm:cxn modelId="{A239D285-C990-40E4-A499-EE05D068D4FB}" type="presOf" srcId="{9B275F48-CA12-4EBC-93E3-C9AB7777164D}" destId="{D088659A-EF3F-489F-AF99-21C5AC03D577}" srcOrd="0" destOrd="0" presId="urn:microsoft.com/office/officeart/2005/8/layout/process4"/>
    <dgm:cxn modelId="{CF406695-DAFE-4248-9515-600580215BAE}" srcId="{4A7F586D-94B3-4D93-B0C7-26EF4484DF26}" destId="{97829AF1-931B-4A98-8001-E85C3C490C46}" srcOrd="4" destOrd="0" parTransId="{D2465BE6-61F1-437A-8498-27B8DBD4F057}" sibTransId="{7A9C7C27-14EC-44D6-A47C-3FB8C16239AE}"/>
    <dgm:cxn modelId="{3E6666A9-93B9-4770-82CA-68FAEEBEA84A}" type="presOf" srcId="{4A7F586D-94B3-4D93-B0C7-26EF4484DF26}" destId="{705E512C-AA86-4A45-9BC6-F3582F826ED6}" srcOrd="0" destOrd="0" presId="urn:microsoft.com/office/officeart/2005/8/layout/process4"/>
    <dgm:cxn modelId="{81472CC4-0401-49F1-BFDE-0F89A5A15F65}" type="presOf" srcId="{263DD62E-0B51-4C26-9FAD-716F8BA5C1D5}" destId="{36FC5C8C-FB64-4DF4-9258-BD37753CC8FE}" srcOrd="0" destOrd="0" presId="urn:microsoft.com/office/officeart/2005/8/layout/process4"/>
    <dgm:cxn modelId="{4B204FE3-5F57-4C9E-8498-1CC05454ABEB}" srcId="{4A7F586D-94B3-4D93-B0C7-26EF4484DF26}" destId="{9B275F48-CA12-4EBC-93E3-C9AB7777164D}" srcOrd="2" destOrd="0" parTransId="{64569F80-C42A-4BD6-9E12-2871A2C2A47B}" sibTransId="{9ABD2729-9270-4044-9BFE-629336C37B74}"/>
    <dgm:cxn modelId="{986CCCE1-BDD3-40D4-87B4-8A49103E2BA9}" type="presParOf" srcId="{705E512C-AA86-4A45-9BC6-F3582F826ED6}" destId="{8E1F209D-2298-441D-814C-AACCB8C7D02D}" srcOrd="0" destOrd="0" presId="urn:microsoft.com/office/officeart/2005/8/layout/process4"/>
    <dgm:cxn modelId="{A5866890-8BFB-4B75-A673-388DB6E6F8F1}" type="presParOf" srcId="{8E1F209D-2298-441D-814C-AACCB8C7D02D}" destId="{5DC16015-4102-46BB-8B8C-A5D786156177}" srcOrd="0" destOrd="0" presId="urn:microsoft.com/office/officeart/2005/8/layout/process4"/>
    <dgm:cxn modelId="{AD00555D-49F5-4D30-88AF-D526C1816CAB}" type="presParOf" srcId="{705E512C-AA86-4A45-9BC6-F3582F826ED6}" destId="{52B69AA8-789A-4C20-B705-72E5F6A39C87}" srcOrd="1" destOrd="0" presId="urn:microsoft.com/office/officeart/2005/8/layout/process4"/>
    <dgm:cxn modelId="{CAD8E6B6-9D38-4CC0-BCC8-33E17D8DF798}" type="presParOf" srcId="{705E512C-AA86-4A45-9BC6-F3582F826ED6}" destId="{BDFFEE2C-894C-4EB1-8762-03EA5B65E006}" srcOrd="2" destOrd="0" presId="urn:microsoft.com/office/officeart/2005/8/layout/process4"/>
    <dgm:cxn modelId="{5C37B2D7-08A2-4155-B0FC-92A68D4002AE}" type="presParOf" srcId="{BDFFEE2C-894C-4EB1-8762-03EA5B65E006}" destId="{36FC5C8C-FB64-4DF4-9258-BD37753CC8FE}" srcOrd="0" destOrd="0" presId="urn:microsoft.com/office/officeart/2005/8/layout/process4"/>
    <dgm:cxn modelId="{3008FC9A-A57C-447C-A0C7-9BBA627D64E4}" type="presParOf" srcId="{705E512C-AA86-4A45-9BC6-F3582F826ED6}" destId="{1CF98F52-F392-4F7B-B7B3-8C7F75B11FD2}" srcOrd="3" destOrd="0" presId="urn:microsoft.com/office/officeart/2005/8/layout/process4"/>
    <dgm:cxn modelId="{D4718321-3F4E-4DCD-A75F-E2DC3FF85520}" type="presParOf" srcId="{705E512C-AA86-4A45-9BC6-F3582F826ED6}" destId="{5F5A0293-C8A4-4EFA-B15F-71B2126DC4C2}" srcOrd="4" destOrd="0" presId="urn:microsoft.com/office/officeart/2005/8/layout/process4"/>
    <dgm:cxn modelId="{67B965A6-505B-4D3F-B9B8-3873B16E0586}" type="presParOf" srcId="{5F5A0293-C8A4-4EFA-B15F-71B2126DC4C2}" destId="{D088659A-EF3F-489F-AF99-21C5AC03D577}" srcOrd="0" destOrd="0" presId="urn:microsoft.com/office/officeart/2005/8/layout/process4"/>
    <dgm:cxn modelId="{A55CAF51-92E3-46C2-92A7-8E0EF58FFB21}" type="presParOf" srcId="{705E512C-AA86-4A45-9BC6-F3582F826ED6}" destId="{63CE512A-01AC-409C-8AFA-0392118B1A00}" srcOrd="5" destOrd="0" presId="urn:microsoft.com/office/officeart/2005/8/layout/process4"/>
    <dgm:cxn modelId="{84628222-66E1-4F37-BE9D-17727783AD17}" type="presParOf" srcId="{705E512C-AA86-4A45-9BC6-F3582F826ED6}" destId="{2CC628C3-18CE-4F46-9CD0-9E4AF7B3021C}" srcOrd="6" destOrd="0" presId="urn:microsoft.com/office/officeart/2005/8/layout/process4"/>
    <dgm:cxn modelId="{C61B9FDB-D5CF-4ABF-B696-B90A6F12960C}" type="presParOf" srcId="{2CC628C3-18CE-4F46-9CD0-9E4AF7B3021C}" destId="{1B24B050-D3F6-4493-9F86-603B53DB58E1}" srcOrd="0" destOrd="0" presId="urn:microsoft.com/office/officeart/2005/8/layout/process4"/>
    <dgm:cxn modelId="{FD4C0A50-7D59-45AF-82FD-BE9F9AB3CFEA}" type="presParOf" srcId="{705E512C-AA86-4A45-9BC6-F3582F826ED6}" destId="{35D9A970-BACF-4AD7-8B77-DE7014E63E34}" srcOrd="7" destOrd="0" presId="urn:microsoft.com/office/officeart/2005/8/layout/process4"/>
    <dgm:cxn modelId="{15579AE3-0691-444A-9A24-D754CE773BF4}" type="presParOf" srcId="{705E512C-AA86-4A45-9BC6-F3582F826ED6}" destId="{721F3198-EEDA-43FC-9BB4-857924F09F18}" srcOrd="8" destOrd="0" presId="urn:microsoft.com/office/officeart/2005/8/layout/process4"/>
    <dgm:cxn modelId="{4DCBB20D-FB56-4339-967F-98ADC99D1F7D}" type="presParOf" srcId="{721F3198-EEDA-43FC-9BB4-857924F09F18}" destId="{6C013BA1-C913-44B6-814C-3FC1D2595E5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C16015-4102-46BB-8B8C-A5D786156177}">
      <dsp:nvSpPr>
        <dsp:cNvPr id="0" name=""/>
        <dsp:cNvSpPr/>
      </dsp:nvSpPr>
      <dsp:spPr>
        <a:xfrm>
          <a:off x="0" y="2501678"/>
          <a:ext cx="2973247" cy="41042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Countries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in Rankings</a:t>
          </a:r>
        </a:p>
      </dsp:txBody>
      <dsp:txXfrm>
        <a:off x="0" y="2501678"/>
        <a:ext cx="2973247" cy="410421"/>
      </dsp:txXfrm>
    </dsp:sp>
    <dsp:sp modelId="{36FC5C8C-FB64-4DF4-9258-BD37753CC8FE}">
      <dsp:nvSpPr>
        <dsp:cNvPr id="0" name=""/>
        <dsp:cNvSpPr/>
      </dsp:nvSpPr>
      <dsp:spPr>
        <a:xfrm rot="10800000">
          <a:off x="0" y="1876606"/>
          <a:ext cx="2973247" cy="631227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Reliable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data</a:t>
          </a:r>
        </a:p>
      </dsp:txBody>
      <dsp:txXfrm rot="10800000">
        <a:off x="0" y="1876606"/>
        <a:ext cx="2973247" cy="410152"/>
      </dsp:txXfrm>
    </dsp:sp>
    <dsp:sp modelId="{D088659A-EF3F-489F-AF99-21C5AC03D577}">
      <dsp:nvSpPr>
        <dsp:cNvPr id="0" name=""/>
        <dsp:cNvSpPr/>
      </dsp:nvSpPr>
      <dsp:spPr>
        <a:xfrm rot="10800000">
          <a:off x="0" y="1251535"/>
          <a:ext cx="2973247" cy="631227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Average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trade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above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$1</a:t>
          </a:r>
          <a:r>
            <a:rPr lang="es-ES" sz="1300" kern="1200" dirty="0">
              <a:latin typeface="Aptos Display" panose="020F0302020204030204"/>
            </a:rPr>
            <a:t>B</a:t>
          </a:r>
          <a:endParaRPr lang="es-ES" sz="1300" kern="1200" dirty="0"/>
        </a:p>
      </dsp:txBody>
      <dsp:txXfrm rot="10800000">
        <a:off x="0" y="1251535"/>
        <a:ext cx="2973247" cy="410152"/>
      </dsp:txXfrm>
    </dsp:sp>
    <dsp:sp modelId="{1B24B050-D3F6-4493-9F86-603B53DB58E1}">
      <dsp:nvSpPr>
        <dsp:cNvPr id="0" name=""/>
        <dsp:cNvSpPr/>
      </dsp:nvSpPr>
      <dsp:spPr>
        <a:xfrm rot="10800000">
          <a:off x="0" y="626464"/>
          <a:ext cx="2973247" cy="631227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Population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</a:t>
          </a:r>
          <a:r>
            <a:rPr lang="es-ES" sz="1400" kern="1200" dirty="0" err="1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above</a:t>
          </a:r>
          <a:r>
            <a:rPr lang="es-ES" sz="1400" kern="1200" dirty="0">
              <a:solidFill>
                <a:prstClr val="black"/>
              </a:solidFill>
              <a:latin typeface="Aptos" panose="020B0004020202020204"/>
              <a:ea typeface="+mn-ea"/>
              <a:cs typeface="+mn-cs"/>
            </a:rPr>
            <a:t> 1,000,000</a:t>
          </a:r>
        </a:p>
      </dsp:txBody>
      <dsp:txXfrm rot="10800000">
        <a:off x="0" y="626464"/>
        <a:ext cx="2973247" cy="410152"/>
      </dsp:txXfrm>
    </dsp:sp>
    <dsp:sp modelId="{6C013BA1-C913-44B6-814C-3FC1D2595E5F}">
      <dsp:nvSpPr>
        <dsp:cNvPr id="0" name=""/>
        <dsp:cNvSpPr/>
      </dsp:nvSpPr>
      <dsp:spPr>
        <a:xfrm rot="10800000">
          <a:off x="0" y="1392"/>
          <a:ext cx="2973247" cy="631227"/>
        </a:xfrm>
        <a:prstGeom prst="upArrowCallou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300" kern="1200" dirty="0">
              <a:latin typeface="Aptos Display" panose="020F0302020204030204"/>
            </a:rPr>
            <a:t> </a:t>
          </a:r>
          <a:r>
            <a:rPr lang="es-ES" sz="1400" kern="1200" dirty="0" err="1">
              <a:solidFill>
                <a:schemeClr val="tx1"/>
              </a:solidFill>
              <a:latin typeface="+mn-lt"/>
              <a:ea typeface="+mn-ea"/>
              <a:cs typeface="+mn-cs"/>
            </a:rPr>
            <a:t>With</a:t>
          </a:r>
          <a:r>
            <a:rPr lang="es-ES" sz="1400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 GDP and </a:t>
          </a:r>
          <a:r>
            <a:rPr lang="es-ES" sz="1400" kern="1200" dirty="0" err="1">
              <a:solidFill>
                <a:schemeClr val="tx1"/>
              </a:solidFill>
              <a:latin typeface="+mn-lt"/>
              <a:ea typeface="+mn-ea"/>
              <a:cs typeface="+mn-cs"/>
            </a:rPr>
            <a:t>Export</a:t>
          </a:r>
          <a:r>
            <a:rPr lang="es-ES" sz="1400" kern="1200" dirty="0">
              <a:solidFill>
                <a:schemeClr val="tx1"/>
              </a:solidFill>
              <a:latin typeface="+mn-lt"/>
              <a:ea typeface="+mn-ea"/>
              <a:cs typeface="+mn-cs"/>
            </a:rPr>
            <a:t> </a:t>
          </a:r>
          <a:r>
            <a:rPr lang="es-ES" sz="1400" kern="1200" dirty="0" err="1">
              <a:solidFill>
                <a:schemeClr val="tx1"/>
              </a:solidFill>
              <a:latin typeface="+mn-lt"/>
              <a:ea typeface="+mn-ea"/>
              <a:cs typeface="+mn-cs"/>
            </a:rPr>
            <a:t>information</a:t>
          </a:r>
          <a:endParaRPr lang="es-ES" sz="1400" kern="1200" dirty="0">
            <a:solidFill>
              <a:schemeClr val="tx1"/>
            </a:solidFill>
            <a:latin typeface="+mn-lt"/>
            <a:ea typeface="+mn-ea"/>
            <a:cs typeface="+mn-cs"/>
          </a:endParaRPr>
        </a:p>
      </dsp:txBody>
      <dsp:txXfrm rot="10800000">
        <a:off x="0" y="1392"/>
        <a:ext cx="2973247" cy="410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E094A-607D-44B3-8FAB-A3A1A849A790}" type="datetimeFigureOut">
              <a:t>16/02/2026</a:t>
            </a:fld>
            <a:endParaRPr lang="es-E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Click to edit Master text styles</a:t>
            </a:r>
          </a:p>
          <a:p>
            <a:pPr lvl="1"/>
            <a:r>
              <a:rPr lang="es-ES"/>
              <a:t>Second level</a:t>
            </a:r>
          </a:p>
          <a:p>
            <a:pPr lvl="2"/>
            <a:r>
              <a:rPr lang="es-ES"/>
              <a:t>Third level</a:t>
            </a:r>
          </a:p>
          <a:p>
            <a:pPr lvl="3"/>
            <a:r>
              <a:rPr lang="es-ES"/>
              <a:t>Fourth level</a:t>
            </a:r>
          </a:p>
          <a:p>
            <a:pPr lvl="4"/>
            <a:r>
              <a:rPr lang="es-E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5EA01-0753-474C-A687-7BEBFFDC0BE2}" type="slidenum"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503159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191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9817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9700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9029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2394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06586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23756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0449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03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863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50962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F3632-DE4F-4582-B508-9FABA84D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DA85CDD0-B6E2-4366-AA18-3062FEBFFD6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5413" y="18448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30CDC541-E356-4B2D-A7F7-FF6650478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9451" y="6397917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9C267406-4F3A-4C44-A900-7478CAB64A5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28061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F3632-DE4F-4582-B508-9FABA84D5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DA85CDD0-B6E2-4366-AA18-3062FEBFFD6A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15413" y="18448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C31250E1-2FE8-43A9-9C8D-E29082715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9451" y="6397917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fld id="{9C267406-4F3A-4C44-A900-7478CAB64A55}" type="slidenum">
              <a:rPr lang="es-ES" smtClean="0"/>
              <a:pPr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370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1E8B-6CA5-40B2-8038-0E112F3DAC1C}" type="datetimeFigureOut">
              <a:rPr lang="es-ES" smtClean="0"/>
              <a:t>16/02/2026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1556C4-DFC3-4611-A7CC-780699185E2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3118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C20CE451-818C-E63D-258B-234B6C543D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7AE41A-D07E-6151-CD3D-3A497DC0B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4361686" cy="1527048"/>
          </a:xfrm>
        </p:spPr>
        <p:txBody>
          <a:bodyPr anchor="b">
            <a:normAutofit/>
          </a:bodyPr>
          <a:lstStyle/>
          <a:p>
            <a:r>
              <a:rPr lang="en-US" sz="3200" b="1" dirty="0"/>
              <a:t>Global Politics and the Architecture of Economic Complexity.</a:t>
            </a:r>
            <a:endParaRPr lang="es-ES" sz="3200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0D8BBFC9-7B44-F3EA-1BBF-00A3F9248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7" y="2463057"/>
            <a:ext cx="4361687" cy="409651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s-ES" dirty="0"/>
              <a:t>📑 </a:t>
            </a:r>
            <a:r>
              <a:rPr lang="es-ES" b="1" dirty="0"/>
              <a:t>Content:</a:t>
            </a:r>
            <a:endParaRPr lang="es-ES" dirty="0"/>
          </a:p>
          <a:p>
            <a:pPr>
              <a:buFont typeface="Arial"/>
              <a:buChar char="•"/>
            </a:pPr>
            <a:r>
              <a:rPr lang="es-ES" sz="1600" dirty="0" err="1">
                <a:ea typeface="+mn-lt"/>
                <a:cs typeface="+mn-lt"/>
              </a:rPr>
              <a:t>Introduction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to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Global </a:t>
            </a:r>
            <a:r>
              <a:rPr lang="es-ES" sz="1600" dirty="0" err="1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Politics</a:t>
            </a:r>
            <a:r>
              <a:rPr lang="es-ES" sz="1600" dirty="0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.</a:t>
            </a:r>
            <a:endParaRPr lang="es-ES" sz="16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>
              <a:buFont typeface="Arial"/>
              <a:buChar char="•"/>
            </a:pPr>
            <a:r>
              <a:rPr lang="es-ES" sz="1600" dirty="0" err="1">
                <a:ea typeface="+mn-lt"/>
                <a:cs typeface="+mn-lt"/>
              </a:rPr>
              <a:t>Introduction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to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Economic</a:t>
            </a:r>
            <a:r>
              <a:rPr lang="es-ES" sz="1600" dirty="0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s-ES" sz="1600" dirty="0" err="1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Complexity</a:t>
            </a:r>
            <a:r>
              <a:rPr lang="es-ES" sz="1600" dirty="0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.</a:t>
            </a:r>
          </a:p>
          <a:p>
            <a:pPr>
              <a:buFont typeface="Arial"/>
              <a:buChar char="•"/>
            </a:pPr>
            <a:r>
              <a:rPr lang="es-ES" sz="1600" dirty="0" err="1">
                <a:ea typeface="+mn-lt"/>
                <a:cs typeface="+mn-lt"/>
              </a:rPr>
              <a:t>Goal</a:t>
            </a:r>
            <a:r>
              <a:rPr lang="es-ES" sz="1600" dirty="0">
                <a:ea typeface="+mn-lt"/>
                <a:cs typeface="+mn-lt"/>
              </a:rPr>
              <a:t> and </a:t>
            </a:r>
            <a:r>
              <a:rPr lang="es-ES" sz="1600" dirty="0" err="1">
                <a:ea typeface="+mn-lt"/>
                <a:cs typeface="+mn-lt"/>
              </a:rPr>
              <a:t>Research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Methodology</a:t>
            </a:r>
            <a:r>
              <a:rPr lang="es-ES" sz="1600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s-ES" sz="1600" dirty="0"/>
          </a:p>
          <a:p>
            <a:pPr>
              <a:buFont typeface="Arial"/>
              <a:buChar char="•"/>
            </a:pPr>
            <a:r>
              <a:rPr lang="es-ES" sz="1600" dirty="0" err="1">
                <a:ea typeface="+mn-lt"/>
                <a:cs typeface="+mn-lt"/>
              </a:rPr>
              <a:t>Production</a:t>
            </a:r>
            <a:r>
              <a:rPr lang="es-ES" sz="1600" dirty="0">
                <a:ea typeface="+mn-lt"/>
                <a:cs typeface="+mn-lt"/>
              </a:rPr>
              <a:t> and </a:t>
            </a:r>
            <a:r>
              <a:rPr lang="es-ES" sz="1600" dirty="0" err="1">
                <a:ea typeface="+mn-lt"/>
                <a:cs typeface="+mn-lt"/>
              </a:rPr>
              <a:t>Population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Projections</a:t>
            </a:r>
            <a:r>
              <a:rPr lang="es-ES" sz="1600" dirty="0">
                <a:ea typeface="+mn-lt"/>
                <a:cs typeface="+mn-lt"/>
              </a:rPr>
              <a:t>.</a:t>
            </a:r>
            <a:r>
              <a:rPr lang="pt-BR" sz="1600" dirty="0">
                <a:ea typeface="+mn-lt"/>
                <a:cs typeface="+mn-lt"/>
              </a:rPr>
              <a:t> </a:t>
            </a:r>
          </a:p>
          <a:p>
            <a:pPr>
              <a:buFont typeface="Arial"/>
              <a:buChar char="•"/>
            </a:pPr>
            <a:endParaRPr lang="pt-BR" sz="16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pt-BR" sz="1600" dirty="0">
              <a:ea typeface="+mn-lt"/>
              <a:cs typeface="+mn-lt"/>
            </a:endParaRPr>
          </a:p>
          <a:p>
            <a:pPr marL="0" indent="0">
              <a:buNone/>
            </a:pPr>
            <a:endParaRPr lang="es-ES" sz="16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s-ES" sz="16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s-ES" sz="16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s-ES" sz="1600" dirty="0"/>
          </a:p>
          <a:p>
            <a:pPr marL="0" indent="0">
              <a:buNone/>
            </a:pPr>
            <a:endParaRPr lang="es-ES" sz="1800" b="1" dirty="0"/>
          </a:p>
          <a:p>
            <a:pPr>
              <a:buFont typeface="Arial"/>
              <a:buChar char="•"/>
            </a:pPr>
            <a:endParaRPr lang="es-ES" sz="1800" b="1" dirty="0"/>
          </a:p>
          <a:p>
            <a:pPr>
              <a:buFont typeface="Arial"/>
              <a:buChar char="•"/>
            </a:pPr>
            <a:endParaRPr lang="es-ES" sz="1800" b="1" dirty="0"/>
          </a:p>
          <a:p>
            <a:pPr marL="0" indent="0">
              <a:buNone/>
            </a:pPr>
            <a:endParaRPr lang="es-ES" sz="1800" dirty="0"/>
          </a:p>
        </p:txBody>
      </p:sp>
      <p:pic>
        <p:nvPicPr>
          <p:cNvPr id="27" name="Picture 9" descr="Rascacielos de líneas de arte abstracto">
            <a:extLst>
              <a:ext uri="{FF2B5EF4-FFF2-40B4-BE49-F238E27FC236}">
                <a16:creationId xmlns:a16="http://schemas.microsoft.com/office/drawing/2014/main" id="{0B7537B3-C049-2C6E-9C6A-28DC5D4EBF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590" r="21911" b="-2"/>
          <a:stretch>
            <a:fillRect/>
          </a:stretch>
        </p:blipFill>
        <p:spPr>
          <a:xfrm>
            <a:off x="7957410" y="2301411"/>
            <a:ext cx="4234589" cy="4556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5076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0F53EF-EF70-7282-9D4F-8A8D979C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7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58330-60B1-A1E1-37BF-EAB9135CD7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3504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sz="3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Global Politics</a:t>
            </a:r>
            <a:r>
              <a:rPr lang="en-US" sz="3400" b="1" dirty="0"/>
              <a:t> and the Architecture of Economic Complexity.</a:t>
            </a:r>
            <a:endParaRPr lang="es-ES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48AA3-DA11-BC67-A849-99D17C5E7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446020"/>
            <a:ext cx="5862396" cy="4096512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>
                <a:ea typeface="+mn-lt"/>
                <a:cs typeface="+mn-lt"/>
              </a:rPr>
              <a:t>Geopolitics and politics, though related, are not identical.</a:t>
            </a:r>
            <a:endParaRPr lang="es-ES" sz="16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Geopolitics increasingly influences corporate decision-making.</a:t>
            </a:r>
          </a:p>
          <a:p>
            <a:pPr marL="0" indent="0">
              <a:buNone/>
            </a:pPr>
            <a:endParaRPr lang="en-US" sz="1600" dirty="0">
              <a:latin typeface="Aptos"/>
              <a:ea typeface="Calibri"/>
              <a:cs typeface="Calibri"/>
            </a:endParaRPr>
          </a:p>
          <a:p>
            <a:r>
              <a:rPr lang="en-US" sz="1600" dirty="0">
                <a:latin typeface="Aptos"/>
                <a:ea typeface="Calibri"/>
                <a:cs typeface="Calibri"/>
              </a:rPr>
              <a:t>Global</a:t>
            </a:r>
            <a:r>
              <a:rPr lang="en-US" sz="1600" dirty="0">
                <a:ea typeface="+mn-lt"/>
                <a:cs typeface="+mn-lt"/>
              </a:rPr>
              <a:t> politics focused on external (international) affairs, not domestic politics.</a:t>
            </a:r>
          </a:p>
          <a:p>
            <a:pPr marL="0" indent="0">
              <a:buNone/>
            </a:pPr>
            <a:endParaRPr lang="en-U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Understanding the factors that drive economic development: Why did some countries catch up, while others got stuck in the middle?</a:t>
            </a:r>
            <a:endParaRPr lang="en-US" sz="1600" dirty="0">
              <a:latin typeface="Aptos" panose="020B0004020202020204"/>
              <a:ea typeface="Calibri"/>
              <a:cs typeface="Calibri"/>
            </a:endParaRPr>
          </a:p>
          <a:p>
            <a:endParaRPr lang="en-US" sz="1500" b="1" dirty="0">
              <a:latin typeface="Calibri"/>
              <a:ea typeface="Calibri"/>
              <a:cs typeface="Calibri"/>
            </a:endParaRPr>
          </a:p>
        </p:txBody>
      </p:sp>
      <p:pic>
        <p:nvPicPr>
          <p:cNvPr id="23" name="Picture 10" descr="Un mapa mundial hecho de alfileres y cadenas">
            <a:extLst>
              <a:ext uri="{FF2B5EF4-FFF2-40B4-BE49-F238E27FC236}">
                <a16:creationId xmlns:a16="http://schemas.microsoft.com/office/drawing/2014/main" id="{18861AD7-7C71-AE4F-A5DA-5DE24E3BA7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644" r="19413" b="-3"/>
          <a:stretch>
            <a:fillRect/>
          </a:stretch>
        </p:blipFill>
        <p:spPr>
          <a:xfrm>
            <a:off x="7659522" y="2130552"/>
            <a:ext cx="3348000" cy="360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56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AF08A-BFCC-CD7B-8125-AA08598E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D604798-51EB-98E7-55E7-1B23DA2A0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8C867-1FC5-D315-BC13-2F001753C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508005" cy="1529932"/>
          </a:xfrm>
        </p:spPr>
        <p:txBody>
          <a:bodyPr anchor="b">
            <a:normAutofit/>
          </a:bodyPr>
          <a:lstStyle/>
          <a:p>
            <a:r>
              <a:rPr lang="en-US" sz="3400" b="1" dirty="0"/>
              <a:t>Global Politics and the Architecture of </a:t>
            </a:r>
            <a:r>
              <a:rPr lang="en-US" sz="3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Economic Complexity.</a:t>
            </a:r>
            <a:endParaRPr lang="es-ES" sz="3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C9510-78BC-E238-ECD1-9A74847A3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722314"/>
            <a:ext cx="6514252" cy="538402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1600" dirty="0">
                <a:ea typeface="+mn-lt"/>
                <a:cs typeface="+mn-lt"/>
              </a:rPr>
              <a:t>Economic complexity measures how advanced and diverse a </a:t>
            </a: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country's economy is, based on the types of products it makes and exports. (diversity)</a:t>
            </a:r>
            <a:endParaRPr lang="es-ES" sz="1600" dirty="0">
              <a:solidFill>
                <a:schemeClr val="tx2">
                  <a:lumMod val="50000"/>
                  <a:lumOff val="50000"/>
                </a:schemeClr>
              </a:solidFill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1600" dirty="0">
                <a:ea typeface="+mn-lt"/>
                <a:cs typeface="+mn-lt"/>
              </a:rPr>
              <a:t>📌 Example: A country that exports only raw materials is less complex than one that exports cars, electronics, and medical equipment.</a:t>
            </a:r>
          </a:p>
          <a:p>
            <a:pPr marL="0" indent="0" algn="just">
              <a:buNone/>
            </a:pPr>
            <a:endParaRPr lang="en-US" sz="1600" dirty="0">
              <a:ea typeface="+mn-lt"/>
              <a:cs typeface="+mn-lt"/>
            </a:endParaRPr>
          </a:p>
          <a:p>
            <a:pPr algn="just"/>
            <a:r>
              <a:rPr lang="en-US" sz="1600" dirty="0">
                <a:ea typeface="+mn-lt"/>
                <a:cs typeface="+mn-lt"/>
              </a:rPr>
              <a:t>The most attractive and competitive products tend to have a </a:t>
            </a:r>
            <a:r>
              <a:rPr lang="en-US" sz="1600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higher economic complexity index.</a:t>
            </a:r>
          </a:p>
          <a:p>
            <a:pPr marL="0" indent="0" algn="just">
              <a:buNone/>
            </a:pPr>
            <a:r>
              <a:rPr lang="en-US" sz="1600" dirty="0">
                <a:ea typeface="+mn-lt"/>
                <a:cs typeface="+mn-lt"/>
              </a:rPr>
              <a:t>📌 Example: Semiconductors require advanced knowledge, skilled labor making them high in both competitiveness and economic complexity.</a:t>
            </a:r>
          </a:p>
          <a:p>
            <a:pPr marL="285750" indent="-285750" algn="just"/>
            <a:endParaRPr lang="en-US" sz="1500" dirty="0">
              <a:latin typeface="Aptos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1500" dirty="0">
              <a:latin typeface="Aptos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1500" dirty="0">
              <a:latin typeface="Aptos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1500" dirty="0">
              <a:latin typeface="Aptos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1500" dirty="0">
              <a:latin typeface="Calibri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1500" dirty="0">
              <a:latin typeface="Calibri"/>
              <a:ea typeface="Calibri"/>
              <a:cs typeface="Calibri"/>
            </a:endParaRPr>
          </a:p>
          <a:p>
            <a:endParaRPr lang="en-US" sz="1500" b="1" dirty="0">
              <a:latin typeface="Calibri"/>
              <a:ea typeface="Calibri"/>
              <a:cs typeface="Calibri"/>
            </a:endParaRPr>
          </a:p>
          <a:p>
            <a:endParaRPr lang="en-US" sz="1500" b="1" dirty="0">
              <a:latin typeface="Calibri"/>
              <a:ea typeface="Calibri"/>
              <a:cs typeface="Calibri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B62F89C-E574-9AA5-839D-45709BABEE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180" y="1616771"/>
            <a:ext cx="3081707" cy="473175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A50FB9B3-FF71-095B-A655-BFF1EF18A8E2}"/>
              </a:ext>
            </a:extLst>
          </p:cNvPr>
          <p:cNvSpPr txBox="1"/>
          <p:nvPr/>
        </p:nvSpPr>
        <p:spPr>
          <a:xfrm>
            <a:off x="8104785" y="6348525"/>
            <a:ext cx="479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The Atlas of Economic Complexity.</a:t>
            </a:r>
            <a:endParaRPr lang="es-ES" sz="140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43E20BC-3158-EB92-66ED-E1E01EA4D00B}"/>
              </a:ext>
            </a:extLst>
          </p:cNvPr>
          <p:cNvSpPr txBox="1"/>
          <p:nvPr/>
        </p:nvSpPr>
        <p:spPr>
          <a:xfrm>
            <a:off x="8554416" y="1308994"/>
            <a:ext cx="479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Product Diversity.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2965686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0AF08A-BFCC-CD7B-8125-AA08598E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D604798-51EB-98E7-55E7-1B23DA2A0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98C867-1FC5-D315-BC13-2F001753C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00074"/>
            <a:ext cx="6508005" cy="1529932"/>
          </a:xfrm>
        </p:spPr>
        <p:txBody>
          <a:bodyPr anchor="b">
            <a:normAutofit/>
          </a:bodyPr>
          <a:lstStyle/>
          <a:p>
            <a:r>
              <a:rPr lang="en-US" sz="3400" b="1" dirty="0"/>
              <a:t>Global Politics and the Architecture of </a:t>
            </a:r>
            <a:r>
              <a:rPr lang="en-US" sz="3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Economic Complexity.</a:t>
            </a:r>
            <a:endParaRPr lang="es-ES" sz="3400" b="1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C9510-78BC-E238-ECD1-9A74847A3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3057935"/>
            <a:ext cx="6514252" cy="224251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en-US" sz="1600" dirty="0">
                <a:ea typeface="+mn-lt"/>
                <a:cs typeface="+mn-lt"/>
              </a:rPr>
              <a:t>The </a:t>
            </a: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Economic Complexity </a:t>
            </a:r>
            <a:r>
              <a:rPr lang="en-US" sz="1600" b="1" dirty="0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Index</a:t>
            </a: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n-US" sz="1600" dirty="0">
                <a:ea typeface="+mn-lt"/>
                <a:cs typeface="+mn-lt"/>
              </a:rPr>
              <a:t>is a ranking of countries based on the diversity and complexity of their export basket. </a:t>
            </a:r>
          </a:p>
          <a:p>
            <a:pPr marL="0" indent="0" algn="just">
              <a:buNone/>
            </a:pPr>
            <a:endParaRPr lang="en-US" sz="1600" dirty="0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1600" dirty="0">
                <a:ea typeface="+mn-lt"/>
                <a:cs typeface="+mn-lt"/>
              </a:rPr>
              <a:t>High complexity countries are home to a range of sophisticated, specialized capabilities and are therefore able to produce a highly diversified set of complex products.</a:t>
            </a:r>
          </a:p>
          <a:p>
            <a:pPr marL="0" indent="0" algn="just">
              <a:buNone/>
            </a:pPr>
            <a:endParaRPr lang="en-US" sz="1500" dirty="0">
              <a:latin typeface="Aptos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1500" dirty="0">
              <a:latin typeface="Aptos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1500" dirty="0">
              <a:latin typeface="Aptos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1500" dirty="0">
              <a:latin typeface="Calibri"/>
              <a:ea typeface="Calibri"/>
              <a:cs typeface="Calibri"/>
            </a:endParaRPr>
          </a:p>
          <a:p>
            <a:pPr marL="0" indent="0" algn="just">
              <a:buNone/>
            </a:pPr>
            <a:endParaRPr lang="en-US" sz="1500" dirty="0">
              <a:latin typeface="Calibri"/>
              <a:ea typeface="Calibri"/>
              <a:cs typeface="Calibri"/>
            </a:endParaRPr>
          </a:p>
          <a:p>
            <a:endParaRPr lang="en-US" sz="1500" b="1" dirty="0">
              <a:latin typeface="Calibri"/>
              <a:ea typeface="Calibri"/>
              <a:cs typeface="Calibri"/>
            </a:endParaRPr>
          </a:p>
          <a:p>
            <a:endParaRPr lang="en-US" sz="1500" b="1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24A15DC-CFBE-C09B-9537-201084A86FF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4773169"/>
              </p:ext>
            </p:extLst>
          </p:nvPr>
        </p:nvGraphicFramePr>
        <p:xfrm>
          <a:off x="8135148" y="2722449"/>
          <a:ext cx="2973247" cy="29134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775EE30-A63D-E203-D246-A7C86990BAA3}"/>
              </a:ext>
            </a:extLst>
          </p:cNvPr>
          <p:cNvSpPr txBox="1"/>
          <p:nvPr/>
        </p:nvSpPr>
        <p:spPr>
          <a:xfrm>
            <a:off x="8456566" y="2211561"/>
            <a:ext cx="479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Atlas Rankings Methodology.</a:t>
            </a:r>
            <a:endParaRPr lang="es-ES" sz="1400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5AC5B66-E338-BDEC-3532-95834E0AE594}"/>
              </a:ext>
            </a:extLst>
          </p:cNvPr>
          <p:cNvSpPr txBox="1"/>
          <p:nvPr/>
        </p:nvSpPr>
        <p:spPr>
          <a:xfrm>
            <a:off x="8205095" y="5839052"/>
            <a:ext cx="479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Atlas of Economic Complexity.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1292926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645BDA-0EC2-A36C-0A33-8B5E46F50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2">
            <a:extLst>
              <a:ext uri="{FF2B5EF4-FFF2-40B4-BE49-F238E27FC236}">
                <a16:creationId xmlns:a16="http://schemas.microsoft.com/office/drawing/2014/main" id="{37B65277-82C6-6D08-6DCA-4A7DCC3B71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59B58-B943-BCB9-7E9F-6F93E2846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223028"/>
            <a:ext cx="5862396" cy="1527048"/>
          </a:xfrm>
        </p:spPr>
        <p:txBody>
          <a:bodyPr anchor="b">
            <a:normAutofit/>
          </a:bodyPr>
          <a:lstStyle/>
          <a:p>
            <a:r>
              <a:rPr lang="en-US" sz="34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Goal</a:t>
            </a:r>
            <a:r>
              <a:rPr lang="en-US" sz="3400" b="1" dirty="0"/>
              <a:t> = What we want to achieve.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C8F11-BBB2-0970-81DB-2C60F9A29D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2051828"/>
            <a:ext cx="6282809" cy="450000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600" dirty="0">
                <a:latin typeface="Aptos"/>
                <a:ea typeface="Calibri"/>
                <a:cs typeface="Calibri"/>
              </a:rPr>
              <a:t>From a theoretical perspective, a link can be drawn between economic complexity, export flows, and foreign direct investment (FDI) location decisions.</a:t>
            </a:r>
          </a:p>
          <a:p>
            <a:endParaRPr lang="en-US" sz="1600" dirty="0">
              <a:latin typeface="Aptos"/>
              <a:ea typeface="Calibri"/>
              <a:cs typeface="Calibri"/>
            </a:endParaRPr>
          </a:p>
          <a:p>
            <a:r>
              <a:rPr lang="en-US" sz="1600" dirty="0">
                <a:latin typeface="Aptos"/>
                <a:ea typeface="Calibri"/>
                <a:cs typeface="Calibri"/>
              </a:rPr>
              <a:t>What does economic complexity offer us? It provides strategic guidance: it tells us </a:t>
            </a:r>
            <a:r>
              <a:rPr lang="en-US" sz="1600" dirty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where to go.</a:t>
            </a:r>
            <a:endParaRPr lang="en-US" sz="1600" dirty="0">
              <a:latin typeface="Aptos"/>
              <a:ea typeface="Calibri"/>
              <a:cs typeface="Calibri"/>
            </a:endParaRPr>
          </a:p>
          <a:p>
            <a:endParaRPr lang="en-US" sz="1600" dirty="0">
              <a:latin typeface="Aptos"/>
              <a:ea typeface="Calibri"/>
              <a:cs typeface="Calibri"/>
            </a:endParaRPr>
          </a:p>
          <a:p>
            <a:r>
              <a:rPr lang="en-US" sz="1600" dirty="0">
                <a:ea typeface="+mn-lt"/>
                <a:cs typeface="+mn-lt"/>
              </a:rPr>
              <a:t>To suggest that, according to this study, </a:t>
            </a:r>
            <a:r>
              <a:rPr lang="en-US" sz="1600" dirty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the destination </a:t>
            </a:r>
            <a:r>
              <a:rPr lang="en-US" sz="1600" dirty="0">
                <a:ea typeface="+mn-lt"/>
                <a:cs typeface="+mn-lt"/>
              </a:rPr>
              <a:t>of firms is important, as well as </a:t>
            </a:r>
            <a:r>
              <a:rPr lang="en-US" sz="1600" dirty="0">
                <a:latin typeface="Aptos"/>
                <a:ea typeface="Calibri"/>
                <a:cs typeface="Calibri"/>
              </a:rPr>
              <a:t>the complex process of internationalization.</a:t>
            </a:r>
          </a:p>
          <a:p>
            <a:pPr marL="0" indent="0">
              <a:buNone/>
            </a:pPr>
            <a:endParaRPr lang="en-US" sz="1600" dirty="0">
              <a:latin typeface="Aptos"/>
              <a:ea typeface="Calibri"/>
              <a:cs typeface="Calibri"/>
            </a:endParaRPr>
          </a:p>
          <a:p>
            <a:r>
              <a:rPr lang="en-US" sz="1600" dirty="0">
                <a:latin typeface="Aptos"/>
                <a:ea typeface="Calibri"/>
                <a:cs typeface="Calibri"/>
              </a:rPr>
              <a:t>Links</a:t>
            </a:r>
            <a:r>
              <a:rPr lang="en-US" sz="1600" b="1" dirty="0">
                <a:ea typeface="+mn-lt"/>
                <a:cs typeface="+mn-lt"/>
              </a:rPr>
              <a:t> </a:t>
            </a:r>
            <a:r>
              <a:rPr lang="en-US" sz="1600" b="1" dirty="0">
                <a:solidFill>
                  <a:schemeClr val="tx2">
                    <a:lumMod val="49000"/>
                    <a:lumOff val="51000"/>
                  </a:schemeClr>
                </a:solidFill>
                <a:latin typeface="Aptos"/>
                <a:ea typeface="Calibri"/>
                <a:cs typeface="Calibri"/>
              </a:rPr>
              <a:t>internationalization </a:t>
            </a:r>
            <a:r>
              <a:rPr lang="en-US" sz="1600" dirty="0">
                <a:ea typeface="+mn-lt"/>
                <a:cs typeface="+mn-lt"/>
              </a:rPr>
              <a:t>with Economic Complexity through shared </a:t>
            </a:r>
            <a:r>
              <a:rPr lang="en-US" sz="1600" dirty="0">
                <a:solidFill>
                  <a:schemeClr val="tx2">
                    <a:lumMod val="49000"/>
                    <a:lumOff val="51000"/>
                  </a:schemeClr>
                </a:solidFill>
                <a:ea typeface="+mn-lt"/>
                <a:cs typeface="+mn-lt"/>
              </a:rPr>
              <a:t>clusters</a:t>
            </a:r>
            <a:r>
              <a:rPr lang="en-US" sz="1600" dirty="0">
                <a:ea typeface="+mn-lt"/>
                <a:cs typeface="+mn-lt"/>
              </a:rPr>
              <a:t> and keywords.</a:t>
            </a:r>
          </a:p>
          <a:p>
            <a:endParaRPr lang="en-US" sz="1300" dirty="0">
              <a:latin typeface="Aptos" panose="020B0004020202020204"/>
              <a:ea typeface="Calibri"/>
              <a:cs typeface="Calibri"/>
            </a:endParaRPr>
          </a:p>
          <a:p>
            <a:endParaRPr lang="en-US" sz="1300" dirty="0">
              <a:latin typeface="Aptos" panose="020B0004020202020204"/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dirty="0">
              <a:latin typeface="Calibri"/>
              <a:ea typeface="Calibri"/>
              <a:cs typeface="Calibri"/>
            </a:endParaRPr>
          </a:p>
          <a:p>
            <a:pPr marL="285750" indent="-285750"/>
            <a:endParaRPr lang="en-US" sz="1300" dirty="0">
              <a:latin typeface="Aptos" panose="020B0004020202020204"/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dirty="0">
              <a:latin typeface="Aptos" panose="020B0004020202020204"/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dirty="0">
              <a:latin typeface="Aptos" panose="020B0004020202020204"/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dirty="0">
              <a:latin typeface="Aptos" panose="020B0004020202020204"/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dirty="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endParaRPr lang="en-US" sz="1300" dirty="0">
              <a:latin typeface="Calibri"/>
              <a:ea typeface="Calibri"/>
              <a:cs typeface="Calibri"/>
            </a:endParaRPr>
          </a:p>
          <a:p>
            <a:endParaRPr lang="en-US" sz="1300" b="1" dirty="0">
              <a:latin typeface="Calibri"/>
              <a:ea typeface="Calibri"/>
              <a:cs typeface="Calibri"/>
            </a:endParaRPr>
          </a:p>
          <a:p>
            <a:endParaRPr lang="en-US" sz="1300" b="1" dirty="0">
              <a:latin typeface="Calibri"/>
              <a:ea typeface="Calibri"/>
              <a:cs typeface="Calibri"/>
            </a:endParaRPr>
          </a:p>
        </p:txBody>
      </p:sp>
      <p:pic>
        <p:nvPicPr>
          <p:cNvPr id="6" name="Picture 4" descr="Mapa mundial con rutas de vuelo">
            <a:extLst>
              <a:ext uri="{FF2B5EF4-FFF2-40B4-BE49-F238E27FC236}">
                <a16:creationId xmlns:a16="http://schemas.microsoft.com/office/drawing/2014/main" id="{128C35DE-0155-ABE0-81E2-B88F18B2C9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03" r="21674" b="9"/>
          <a:stretch>
            <a:fillRect/>
          </a:stretch>
        </p:blipFill>
        <p:spPr>
          <a:xfrm>
            <a:off x="7508105" y="2051828"/>
            <a:ext cx="3350954" cy="3600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A8C9BD89-C272-C1CC-EB8E-DF6479ABCF23}"/>
              </a:ext>
            </a:extLst>
          </p:cNvPr>
          <p:cNvSpPr txBox="1">
            <a:spLocks/>
          </p:cNvSpPr>
          <p:nvPr/>
        </p:nvSpPr>
        <p:spPr>
          <a:xfrm>
            <a:off x="612648" y="603504"/>
            <a:ext cx="5862396" cy="15270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s-ES" sz="3400" dirty="0"/>
          </a:p>
        </p:txBody>
      </p:sp>
    </p:spTree>
    <p:extLst>
      <p:ext uri="{BB962C8B-B14F-4D97-AF65-F5344CB8AC3E}">
        <p14:creationId xmlns:p14="http://schemas.microsoft.com/office/powerpoint/2010/main" val="4223828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E466DA1-8064-1A6F-CF55-CD2D9D562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523" y="1309873"/>
            <a:ext cx="9298954" cy="5078272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B1738D9-0216-7FA8-95DE-D344D6E2EF62}"/>
              </a:ext>
            </a:extLst>
          </p:cNvPr>
          <p:cNvSpPr txBox="1">
            <a:spLocks/>
          </p:cNvSpPr>
          <p:nvPr/>
        </p:nvSpPr>
        <p:spPr>
          <a:xfrm>
            <a:off x="612648" y="223028"/>
            <a:ext cx="5862396" cy="751913"/>
          </a:xfrm>
          <a:prstGeom prst="rect">
            <a:avLst/>
          </a:prstGeom>
        </p:spPr>
        <p:txBody>
          <a:bodyPr anchor="b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400" b="1">
                <a:solidFill>
                  <a:schemeClr val="tx2">
                    <a:lumMod val="50000"/>
                    <a:lumOff val="50000"/>
                  </a:schemeClr>
                </a:solidFill>
              </a:rPr>
              <a:t>Economic Complexity</a:t>
            </a:r>
            <a:r>
              <a:rPr lang="en-US" sz="3400" b="1"/>
              <a:t> = What to do</a:t>
            </a:r>
            <a:endParaRPr lang="en-US" sz="3400" b="1" dirty="0"/>
          </a:p>
        </p:txBody>
      </p:sp>
    </p:spTree>
    <p:extLst>
      <p:ext uri="{BB962C8B-B14F-4D97-AF65-F5344CB8AC3E}">
        <p14:creationId xmlns:p14="http://schemas.microsoft.com/office/powerpoint/2010/main" val="903051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CC1E4F-F1F0-B945-BE50-C72A7103E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23558E-E98A-0403-DEFC-F32A4406E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84" y="469937"/>
            <a:ext cx="5745016" cy="1550495"/>
          </a:xfrm>
        </p:spPr>
        <p:txBody>
          <a:bodyPr anchor="b">
            <a:normAutofit/>
          </a:bodyPr>
          <a:lstStyle/>
          <a:p>
            <a:r>
              <a:rPr lang="es-ES" sz="2400" b="1" dirty="0" err="1"/>
              <a:t>Why</a:t>
            </a:r>
            <a:r>
              <a:rPr lang="es-ES" sz="2400" b="1" dirty="0"/>
              <a:t> </a:t>
            </a:r>
            <a:r>
              <a:rPr lang="es-ES" sz="2400" b="1" dirty="0" err="1"/>
              <a:t>did</a:t>
            </a:r>
            <a:r>
              <a:rPr lang="es-ES" sz="2400" b="1" dirty="0"/>
              <a:t> </a:t>
            </a:r>
            <a:r>
              <a:rPr lang="es-ES" sz="2400" b="1" dirty="0" err="1"/>
              <a:t>some</a:t>
            </a:r>
            <a:r>
              <a:rPr lang="es-ES" sz="2400" b="1" dirty="0"/>
              <a:t> </a:t>
            </a:r>
            <a:r>
              <a:rPr lang="es-ES" sz="2400" b="1" dirty="0" err="1"/>
              <a:t>countries</a:t>
            </a:r>
            <a:r>
              <a:rPr lang="es-ES" sz="2400" b="1" dirty="0"/>
              <a:t> catch up in </a:t>
            </a:r>
            <a:r>
              <a:rPr lang="es-ES" sz="2400" b="1" dirty="0" err="1"/>
              <a:t>terms</a:t>
            </a:r>
            <a:r>
              <a:rPr lang="es-ES" sz="2400" b="1" dirty="0"/>
              <a:t> </a:t>
            </a:r>
            <a:r>
              <a:rPr lang="es-ES" sz="2400" b="1" dirty="0" err="1"/>
              <a:t>of</a:t>
            </a:r>
            <a:r>
              <a:rPr lang="es-ES" sz="2400" b="1" dirty="0"/>
              <a:t> </a:t>
            </a:r>
            <a:r>
              <a:rPr lang="es-ES" sz="2400" b="1" dirty="0" err="1">
                <a:solidFill>
                  <a:schemeClr val="tx2">
                    <a:lumMod val="49000"/>
                    <a:lumOff val="51000"/>
                  </a:schemeClr>
                </a:solidFill>
              </a:rPr>
              <a:t>Economic</a:t>
            </a:r>
            <a:r>
              <a:rPr lang="es-ES" sz="2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 </a:t>
            </a:r>
            <a:r>
              <a:rPr lang="es-ES" sz="2400" b="1" dirty="0" err="1">
                <a:solidFill>
                  <a:schemeClr val="tx2">
                    <a:lumMod val="49000"/>
                    <a:lumOff val="51000"/>
                  </a:schemeClr>
                </a:solidFill>
              </a:rPr>
              <a:t>Complexity</a:t>
            </a:r>
            <a:r>
              <a:rPr lang="es-ES" sz="2400" b="1" dirty="0"/>
              <a:t>, </a:t>
            </a:r>
            <a:r>
              <a:rPr lang="es-ES" sz="2400" b="1" dirty="0" err="1"/>
              <a:t>while</a:t>
            </a:r>
            <a:r>
              <a:rPr lang="es-ES" sz="2400" b="1" dirty="0"/>
              <a:t> </a:t>
            </a:r>
            <a:r>
              <a:rPr lang="es-ES" sz="2400" b="1" dirty="0" err="1"/>
              <a:t>others</a:t>
            </a:r>
            <a:r>
              <a:rPr lang="es-ES" sz="2400" b="1" dirty="0"/>
              <a:t> </a:t>
            </a:r>
            <a:r>
              <a:rPr lang="es-ES" sz="2400" b="1" dirty="0" err="1"/>
              <a:t>got</a:t>
            </a:r>
            <a:r>
              <a:rPr lang="es-ES" sz="2400" b="1" dirty="0"/>
              <a:t> </a:t>
            </a:r>
            <a:r>
              <a:rPr lang="es-ES" sz="2400" b="1" dirty="0" err="1"/>
              <a:t>stuck</a:t>
            </a:r>
            <a:r>
              <a:rPr lang="es-ES" sz="2400" b="1" dirty="0"/>
              <a:t> in </a:t>
            </a:r>
            <a:r>
              <a:rPr lang="es-ES" sz="2400" b="1" dirty="0" err="1"/>
              <a:t>the</a:t>
            </a:r>
            <a:r>
              <a:rPr lang="es-ES" sz="2400" b="1" dirty="0"/>
              <a:t> </a:t>
            </a:r>
            <a:r>
              <a:rPr lang="es-ES" sz="2400" b="1" dirty="0" err="1"/>
              <a:t>middle</a:t>
            </a:r>
            <a:r>
              <a:rPr lang="es-ES" sz="2400" b="1" dirty="0"/>
              <a:t>?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FC3E6-9916-E38B-FF4C-ED43F05520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984" y="2244657"/>
            <a:ext cx="5909139" cy="414340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s-ES" sz="1500" dirty="0">
              <a:ea typeface="+mn-lt"/>
              <a:cs typeface="+mn-lt"/>
            </a:endParaRPr>
          </a:p>
          <a:p>
            <a:r>
              <a:rPr lang="es-ES" sz="1600" dirty="0" err="1">
                <a:ea typeface="+mn-lt"/>
                <a:cs typeface="+mn-lt"/>
              </a:rPr>
              <a:t>Geographic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location</a:t>
            </a:r>
            <a:r>
              <a:rPr lang="es-ES" sz="1600" dirty="0">
                <a:ea typeface="+mn-lt"/>
                <a:cs typeface="+mn-lt"/>
              </a:rPr>
              <a:t> can </a:t>
            </a:r>
            <a:r>
              <a:rPr lang="es-ES" sz="1600" dirty="0" err="1">
                <a:ea typeface="+mn-lt"/>
                <a:cs typeface="+mn-lt"/>
              </a:rPr>
              <a:t>shape</a:t>
            </a:r>
            <a:r>
              <a:rPr lang="es-ES" sz="1600" dirty="0">
                <a:ea typeface="+mn-lt"/>
                <a:cs typeface="+mn-lt"/>
              </a:rPr>
              <a:t> a </a:t>
            </a:r>
            <a:r>
              <a:rPr lang="es-ES" sz="1600" dirty="0" err="1">
                <a:ea typeface="+mn-lt"/>
                <a:cs typeface="+mn-lt"/>
              </a:rPr>
              <a:t>country's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access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to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resources</a:t>
            </a:r>
            <a:r>
              <a:rPr lang="es-ES" sz="1600" dirty="0">
                <a:ea typeface="+mn-lt"/>
                <a:cs typeface="+mn-lt"/>
              </a:rPr>
              <a:t>, </a:t>
            </a:r>
            <a:r>
              <a:rPr lang="es-ES" sz="1600" dirty="0" err="1">
                <a:ea typeface="+mn-lt"/>
                <a:cs typeface="+mn-lt"/>
              </a:rPr>
              <a:t>trade</a:t>
            </a:r>
            <a:r>
              <a:rPr lang="es-ES" sz="1600" dirty="0">
                <a:ea typeface="+mn-lt"/>
                <a:cs typeface="+mn-lt"/>
              </a:rPr>
              <a:t>, and </a:t>
            </a:r>
            <a:r>
              <a:rPr lang="es-ES" sz="1600" dirty="0" err="1">
                <a:ea typeface="+mn-lt"/>
                <a:cs typeface="+mn-lt"/>
              </a:rPr>
              <a:t>development</a:t>
            </a:r>
            <a:r>
              <a:rPr lang="es-ES" sz="1600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s-ES" sz="1600" dirty="0">
              <a:ea typeface="+mn-lt"/>
              <a:cs typeface="+mn-lt"/>
            </a:endParaRPr>
          </a:p>
          <a:p>
            <a:r>
              <a:rPr lang="es-ES" sz="1600" dirty="0" err="1">
                <a:ea typeface="+mn-lt"/>
                <a:cs typeface="+mn-lt"/>
              </a:rPr>
              <a:t>Countries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that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invest</a:t>
            </a:r>
            <a:r>
              <a:rPr lang="es-ES" sz="1600" dirty="0">
                <a:ea typeface="+mn-lt"/>
                <a:cs typeface="+mn-lt"/>
              </a:rPr>
              <a:t> in R&amp;D, </a:t>
            </a:r>
            <a:r>
              <a:rPr lang="es-ES" sz="1600" dirty="0" err="1">
                <a:ea typeface="+mn-lt"/>
                <a:cs typeface="+mn-lt"/>
              </a:rPr>
              <a:t>education</a:t>
            </a:r>
            <a:r>
              <a:rPr lang="es-ES" sz="1600" dirty="0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, Culture, </a:t>
            </a:r>
            <a:r>
              <a:rPr lang="es-ES" sz="1600" dirty="0" err="1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Institutions</a:t>
            </a:r>
            <a:r>
              <a:rPr lang="es-ES" sz="1600" dirty="0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 </a:t>
            </a:r>
            <a:r>
              <a:rPr lang="es-ES" sz="1600" dirty="0">
                <a:ea typeface="+mn-lt"/>
                <a:cs typeface="+mn-lt"/>
              </a:rPr>
              <a:t>and </a:t>
            </a:r>
            <a:r>
              <a:rPr lang="es-ES" sz="1600" dirty="0" err="1">
                <a:ea typeface="+mn-lt"/>
                <a:cs typeface="+mn-lt"/>
              </a:rPr>
              <a:t>technological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adoption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tend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to</a:t>
            </a:r>
            <a:r>
              <a:rPr lang="es-ES" sz="1600" dirty="0">
                <a:ea typeface="+mn-lt"/>
                <a:cs typeface="+mn-lt"/>
              </a:rPr>
              <a:t> escape </a:t>
            </a:r>
            <a:r>
              <a:rPr lang="es-ES" sz="1600" dirty="0" err="1">
                <a:ea typeface="+mn-lt"/>
                <a:cs typeface="+mn-lt"/>
              </a:rPr>
              <a:t>the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poverty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trap</a:t>
            </a:r>
            <a:r>
              <a:rPr lang="es-ES" sz="1600" dirty="0">
                <a:ea typeface="+mn-lt"/>
                <a:cs typeface="+mn-lt"/>
              </a:rPr>
              <a:t>.</a:t>
            </a:r>
          </a:p>
          <a:p>
            <a:endParaRPr lang="es-ES" sz="1600" dirty="0">
              <a:ea typeface="+mn-lt"/>
              <a:cs typeface="+mn-lt"/>
            </a:endParaRPr>
          </a:p>
          <a:p>
            <a:r>
              <a:rPr lang="es-ES" sz="1600" dirty="0" err="1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Corruption</a:t>
            </a:r>
            <a:r>
              <a:rPr lang="es-ES" sz="1600" dirty="0">
                <a:ea typeface="+mn-lt"/>
                <a:cs typeface="+mn-lt"/>
              </a:rPr>
              <a:t>, </a:t>
            </a:r>
            <a:r>
              <a:rPr lang="es-ES" sz="1600" dirty="0" err="1">
                <a:ea typeface="+mn-lt"/>
                <a:cs typeface="+mn-lt"/>
              </a:rPr>
              <a:t>weak</a:t>
            </a:r>
            <a:r>
              <a:rPr lang="es-ES" sz="1600" dirty="0">
                <a:ea typeface="+mn-lt"/>
                <a:cs typeface="+mn-lt"/>
              </a:rPr>
              <a:t> legal </a:t>
            </a:r>
            <a:r>
              <a:rPr lang="es-ES" sz="1600" dirty="0" err="1">
                <a:ea typeface="+mn-lt"/>
                <a:cs typeface="+mn-lt"/>
              </a:rPr>
              <a:t>systems</a:t>
            </a:r>
            <a:r>
              <a:rPr lang="es-ES" sz="1600" dirty="0">
                <a:ea typeface="+mn-lt"/>
                <a:cs typeface="+mn-lt"/>
              </a:rPr>
              <a:t>, and </a:t>
            </a:r>
            <a:r>
              <a:rPr lang="es-ES" sz="1600" dirty="0" err="1">
                <a:ea typeface="+mn-lt"/>
                <a:cs typeface="+mn-lt"/>
              </a:rPr>
              <a:t>poor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infrastructure</a:t>
            </a:r>
            <a:r>
              <a:rPr lang="es-ES" sz="1600" dirty="0">
                <a:ea typeface="+mn-lt"/>
                <a:cs typeface="+mn-lt"/>
              </a:rPr>
              <a:t> can </a:t>
            </a:r>
            <a:r>
              <a:rPr lang="es-ES" sz="1600" dirty="0" err="1">
                <a:ea typeface="+mn-lt"/>
                <a:cs typeface="+mn-lt"/>
              </a:rPr>
              <a:t>slow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down</a:t>
            </a:r>
            <a:r>
              <a:rPr lang="es-ES" sz="1600" dirty="0">
                <a:ea typeface="+mn-lt"/>
                <a:cs typeface="+mn-lt"/>
              </a:rPr>
              <a:t> </a:t>
            </a:r>
            <a:r>
              <a:rPr lang="es-ES" sz="1600" dirty="0" err="1">
                <a:ea typeface="+mn-lt"/>
                <a:cs typeface="+mn-lt"/>
              </a:rPr>
              <a:t>progress</a:t>
            </a:r>
            <a:r>
              <a:rPr lang="es-ES" sz="1600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endParaRPr lang="es-ES" sz="1600" dirty="0">
              <a:ea typeface="+mn-lt"/>
              <a:cs typeface="+mn-lt"/>
            </a:endParaRPr>
          </a:p>
          <a:p>
            <a:r>
              <a:rPr lang="en-US" sz="1600" dirty="0">
                <a:ea typeface="+mn-lt"/>
                <a:cs typeface="+mn-lt"/>
              </a:rPr>
              <a:t>After African independence, many countries maintained that extractive model, without </a:t>
            </a: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  <a:ea typeface="+mn-lt"/>
                <a:cs typeface="+mn-lt"/>
              </a:rPr>
              <a:t>productive diversification.</a:t>
            </a:r>
            <a:endParaRPr lang="es-ES" sz="1600" dirty="0">
              <a:solidFill>
                <a:schemeClr val="tx2">
                  <a:lumMod val="50000"/>
                  <a:lumOff val="50000"/>
                </a:schemeClr>
              </a:solidFill>
              <a:ea typeface="+mn-lt"/>
              <a:cs typeface="+mn-lt"/>
            </a:endParaRPr>
          </a:p>
          <a:p>
            <a:endParaRPr lang="es-ES" sz="1500" dirty="0">
              <a:ea typeface="+mn-lt"/>
              <a:cs typeface="+mn-lt"/>
            </a:endParaRPr>
          </a:p>
          <a:p>
            <a:endParaRPr lang="es-ES" sz="1500" dirty="0">
              <a:ea typeface="+mn-lt"/>
              <a:cs typeface="+mn-lt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A9C88F3-C3C5-5252-389B-1AB5F24B956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984" y="1876039"/>
            <a:ext cx="5517806" cy="435110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BD67E2-2A0D-E5B0-82EF-AD39090F2153}"/>
              </a:ext>
            </a:extLst>
          </p:cNvPr>
          <p:cNvSpPr txBox="1"/>
          <p:nvPr/>
        </p:nvSpPr>
        <p:spPr>
          <a:xfrm>
            <a:off x="7885463" y="1487803"/>
            <a:ext cx="39555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Country </a:t>
            </a:r>
            <a:r>
              <a:rPr lang="es-ES" sz="1400" dirty="0" err="1"/>
              <a:t>Complexity</a:t>
            </a:r>
            <a:r>
              <a:rPr lang="es-ES" sz="1400" dirty="0"/>
              <a:t> Rankings.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639A56A-056C-C29B-E066-FEB2780B8716}"/>
              </a:ext>
            </a:extLst>
          </p:cNvPr>
          <p:cNvSpPr txBox="1"/>
          <p:nvPr/>
        </p:nvSpPr>
        <p:spPr>
          <a:xfrm>
            <a:off x="7048073" y="6388063"/>
            <a:ext cx="47929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Source: Harvard Growth Lab, Atlas of Economic Complexity.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3570202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34D48B9C-8CB2-A7E7-82BD-75BD863A8A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741434"/>
              </p:ext>
            </p:extLst>
          </p:nvPr>
        </p:nvGraphicFramePr>
        <p:xfrm>
          <a:off x="1684962" y="1004652"/>
          <a:ext cx="8116583" cy="484869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72479">
                  <a:extLst>
                    <a:ext uri="{9D8B030D-6E8A-4147-A177-3AD203B41FA5}">
                      <a16:colId xmlns:a16="http://schemas.microsoft.com/office/drawing/2014/main" val="814721829"/>
                    </a:ext>
                  </a:extLst>
                </a:gridCol>
                <a:gridCol w="5544104">
                  <a:extLst>
                    <a:ext uri="{9D8B030D-6E8A-4147-A177-3AD203B41FA5}">
                      <a16:colId xmlns:a16="http://schemas.microsoft.com/office/drawing/2014/main" val="3462149787"/>
                    </a:ext>
                  </a:extLst>
                </a:gridCol>
              </a:tblGrid>
              <a:tr h="186041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Concept</a:t>
                      </a:r>
                      <a:endParaRPr lang="es-ES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5" marR="5890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Keywords</a:t>
                      </a:r>
                      <a:endParaRPr lang="es-ES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5" marR="58905" marT="0" marB="0"/>
                </a:tc>
                <a:extLst>
                  <a:ext uri="{0D108BD9-81ED-4DB2-BD59-A6C34878D82A}">
                    <a16:rowId xmlns:a16="http://schemas.microsoft.com/office/drawing/2014/main" val="3639386392"/>
                  </a:ext>
                </a:extLst>
              </a:tr>
              <a:tr h="139066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Economic Complexity</a:t>
                      </a:r>
                      <a:endParaRPr lang="es-ES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5" marR="5890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economic complexity</a:t>
                      </a:r>
                      <a:endParaRPr lang="es-ES" sz="1000" kern="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product space</a:t>
                      </a:r>
                      <a:endParaRPr lang="es-ES" sz="1000" kern="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product sophistication</a:t>
                      </a:r>
                      <a:endParaRPr lang="es-ES" sz="1000" kern="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product relatedness</a:t>
                      </a:r>
                      <a:endParaRPr lang="es-ES" sz="1000" kern="10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product complexity</a:t>
                      </a:r>
                      <a:endParaRPr lang="es-ES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5" marR="58905" marT="0" marB="0"/>
                </a:tc>
                <a:extLst>
                  <a:ext uri="{0D108BD9-81ED-4DB2-BD59-A6C34878D82A}">
                    <a16:rowId xmlns:a16="http://schemas.microsoft.com/office/drawing/2014/main" val="1310539835"/>
                  </a:ext>
                </a:extLst>
              </a:tr>
              <a:tr h="229725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Internationalization</a:t>
                      </a:r>
                      <a:endParaRPr lang="es-ES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5" marR="58905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foreign direct investment</a:t>
                      </a:r>
                      <a:endParaRPr lang="es-ES" sz="10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global* (global, globalization …)</a:t>
                      </a:r>
                      <a:endParaRPr lang="es-ES" sz="10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internation* (international, internationalization …)</a:t>
                      </a:r>
                      <a:endParaRPr lang="es-ES" sz="10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export* (exportation, exports, …)</a:t>
                      </a:r>
                      <a:endParaRPr lang="es-ES" sz="10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location</a:t>
                      </a:r>
                      <a:endParaRPr lang="es-ES" sz="10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multinational* (</a:t>
                      </a:r>
                      <a:r>
                        <a:rPr lang="en-US" sz="1000" kern="100" dirty="0" err="1">
                          <a:effectLst/>
                        </a:rPr>
                        <a:t>multionational</a:t>
                      </a:r>
                      <a:r>
                        <a:rPr lang="en-US" sz="1000" kern="100" dirty="0">
                          <a:effectLst/>
                        </a:rPr>
                        <a:t>, multinationals)</a:t>
                      </a:r>
                      <a:endParaRPr lang="es-ES" sz="1000" kern="100" dirty="0">
                        <a:effectLst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 err="1">
                          <a:effectLst/>
                        </a:rPr>
                        <a:t>subsidiar</a:t>
                      </a:r>
                      <a:r>
                        <a:rPr lang="en-US" sz="1000" kern="100" dirty="0">
                          <a:effectLst/>
                        </a:rPr>
                        <a:t>* (subsidiary, subsidiaries)</a:t>
                      </a:r>
                      <a:endParaRPr lang="es-ES" sz="1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5" marR="58905" marT="0" marB="0"/>
                </a:tc>
                <a:extLst>
                  <a:ext uri="{0D108BD9-81ED-4DB2-BD59-A6C34878D82A}">
                    <a16:rowId xmlns:a16="http://schemas.microsoft.com/office/drawing/2014/main" val="2625371150"/>
                  </a:ext>
                </a:extLst>
              </a:tr>
              <a:tr h="974737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>
                          <a:effectLst/>
                        </a:rPr>
                        <a:t>Search string</a:t>
                      </a:r>
                      <a:endParaRPr lang="es-ES" sz="1000" kern="10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5" marR="58905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000" kern="100" dirty="0">
                          <a:effectLst/>
                        </a:rPr>
                        <a:t>TS=("economic complexity" OR "product space" OR "product sophistication" OR "product relatedness" or "product complexity") AND TS= (</a:t>
                      </a:r>
                      <a:r>
                        <a:rPr lang="en-US" sz="1000" kern="100" dirty="0" err="1">
                          <a:effectLst/>
                        </a:rPr>
                        <a:t>fdi</a:t>
                      </a:r>
                      <a:r>
                        <a:rPr lang="en-US" sz="1000" kern="100" dirty="0">
                          <a:effectLst/>
                        </a:rPr>
                        <a:t> OR "foreign direct investment" OR global* OR internation* OR export* OR location OR multinational* OR </a:t>
                      </a:r>
                      <a:r>
                        <a:rPr lang="en-US" sz="1000" kern="100" dirty="0" err="1">
                          <a:effectLst/>
                        </a:rPr>
                        <a:t>subsidiar</a:t>
                      </a:r>
                      <a:r>
                        <a:rPr lang="en-US" sz="1000" kern="100" dirty="0">
                          <a:effectLst/>
                        </a:rPr>
                        <a:t>*)</a:t>
                      </a:r>
                      <a:endParaRPr lang="es-ES" sz="1000" kern="100" dirty="0">
                        <a:effectLst/>
                        <a:latin typeface="Aptos" panose="020B00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8905" marR="58905" marT="0" marB="0"/>
                </a:tc>
                <a:extLst>
                  <a:ext uri="{0D108BD9-81ED-4DB2-BD59-A6C34878D82A}">
                    <a16:rowId xmlns:a16="http://schemas.microsoft.com/office/drawing/2014/main" val="1858514293"/>
                  </a:ext>
                </a:extLst>
              </a:tr>
            </a:tbl>
          </a:graphicData>
        </a:graphic>
      </p:graphicFrame>
      <p:sp>
        <p:nvSpPr>
          <p:cNvPr id="4" name="CuadroTexto 3">
            <a:extLst>
              <a:ext uri="{FF2B5EF4-FFF2-40B4-BE49-F238E27FC236}">
                <a16:creationId xmlns:a16="http://schemas.microsoft.com/office/drawing/2014/main" id="{1D46C2AE-7613-24F0-2FE0-1CAFBB19B50B}"/>
              </a:ext>
            </a:extLst>
          </p:cNvPr>
          <p:cNvSpPr txBox="1"/>
          <p:nvPr/>
        </p:nvSpPr>
        <p:spPr>
          <a:xfrm>
            <a:off x="3613935" y="421509"/>
            <a:ext cx="60977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Table x . Keywords and search string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79260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12">
            <a:extLst>
              <a:ext uri="{FF2B5EF4-FFF2-40B4-BE49-F238E27FC236}">
                <a16:creationId xmlns:a16="http://schemas.microsoft.com/office/drawing/2014/main" id="{095B79CA-1CB8-A133-67D7-E2B7AC1F94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18CB7A9-E001-68BC-D143-77D725CA1AEC}"/>
              </a:ext>
            </a:extLst>
          </p:cNvPr>
          <p:cNvSpPr txBox="1"/>
          <p:nvPr/>
        </p:nvSpPr>
        <p:spPr>
          <a:xfrm>
            <a:off x="5681998" y="2229189"/>
            <a:ext cx="5681358" cy="4818068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t" anchorCtr="0" forceAA="0" compatLnSpc="1">
            <a:prstTxWarp prst="textNoShape">
              <a:avLst/>
            </a:prstTxWarp>
            <a:normAutofit/>
          </a:bodyPr>
          <a:lstStyle/>
          <a:p>
            <a:pPr algn="just">
              <a:lnSpc>
                <a:spcPct val="120000"/>
              </a:lnSpc>
              <a:spcAft>
                <a:spcPts val="600"/>
              </a:spcAft>
            </a:pPr>
            <a:r>
              <a:rPr lang="en-US" sz="1600" dirty="0"/>
              <a:t>Growth, </a:t>
            </a:r>
            <a:r>
              <a:rPr lang="en-US" sz="16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Economic growth</a:t>
            </a:r>
            <a:r>
              <a:rPr lang="en-US" sz="1600" dirty="0"/>
              <a:t>, Trade, Countries, Innovation, Globalization, Quality, Spillovers, </a:t>
            </a:r>
            <a:r>
              <a:rPr lang="en-US" sz="16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China</a:t>
            </a:r>
            <a:r>
              <a:rPr lang="en-US" sz="1600" dirty="0"/>
              <a:t>, </a:t>
            </a:r>
            <a:r>
              <a:rPr lang="en-US" sz="16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Export</a:t>
            </a:r>
            <a:r>
              <a:rPr lang="en-US" sz="1600" dirty="0"/>
              <a:t> diversification, Diversity, Impact, Regression, Energy, International trade, Liberalization, Income inequality, Foreign Direct Investment (FDI), Sophistication, </a:t>
            </a:r>
            <a:r>
              <a:rPr lang="en-US" sz="16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Developing countries</a:t>
            </a:r>
            <a:r>
              <a:rPr lang="en-US" sz="1600" dirty="0"/>
              <a:t>, Productivity, Knowledge, Development, </a:t>
            </a:r>
            <a:r>
              <a:rPr lang="en-US" sz="16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Institutional quality</a:t>
            </a:r>
            <a:r>
              <a:rPr lang="en-US" sz="1600" dirty="0"/>
              <a:t>, Empirical evidence, Investment, Global value chains, Renewable energy, Cointegration, </a:t>
            </a:r>
            <a:r>
              <a:rPr lang="en-US" sz="1600" dirty="0">
                <a:solidFill>
                  <a:schemeClr val="tx2">
                    <a:lumMod val="49000"/>
                    <a:lumOff val="51000"/>
                  </a:schemeClr>
                </a:solidFill>
              </a:rPr>
              <a:t>Africa</a:t>
            </a:r>
            <a:r>
              <a:rPr lang="en-US" sz="1600" dirty="0"/>
              <a:t>, Economic complexity index, Institutions, Volatility, Specialization, Comparative advantage, Determinants, Internet, Education, Governance, Inequality, Urbanization, Impact.</a:t>
            </a:r>
            <a:endParaRPr lang="es-ES" sz="1600" dirty="0"/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D48AE64-7A30-E226-F062-78D0EE00632A}"/>
              </a:ext>
            </a:extLst>
          </p:cNvPr>
          <p:cNvSpPr txBox="1">
            <a:spLocks/>
          </p:cNvSpPr>
          <p:nvPr/>
        </p:nvSpPr>
        <p:spPr>
          <a:xfrm>
            <a:off x="609601" y="1043569"/>
            <a:ext cx="4243753" cy="2371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r>
              <a:rPr lang="en-US" sz="3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Term</a:t>
            </a:r>
            <a:r>
              <a:rPr lang="en-US" sz="3400" b="1" dirty="0">
                <a:solidFill>
                  <a:srgbClr val="000000"/>
                </a:solidFill>
              </a:rPr>
              <a:t> frequency. VOSviewer Analysis of Selected Literature (n = </a:t>
            </a:r>
            <a:r>
              <a:rPr lang="en-US" sz="3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400</a:t>
            </a:r>
            <a:r>
              <a:rPr lang="en-US" sz="3400" b="1" dirty="0">
                <a:solidFill>
                  <a:srgbClr val="000000"/>
                </a:solidFill>
              </a:rPr>
              <a:t>): First Insights.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1089841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7A9BBD7-2ED8-6363-6355-0031E9BED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7606" y="1330447"/>
            <a:ext cx="5654793" cy="5040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DE3F3A-69DB-BF84-0F90-11FA39EAB007}"/>
              </a:ext>
            </a:extLst>
          </p:cNvPr>
          <p:cNvSpPr>
            <a:spLocks noGrp="1"/>
          </p:cNvSpPr>
          <p:nvPr/>
        </p:nvSpPr>
        <p:spPr>
          <a:xfrm>
            <a:off x="460004" y="1848358"/>
            <a:ext cx="3917443" cy="213025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2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2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B0FB0BC-3203-13CD-1499-93F5CA7B1F08}"/>
              </a:ext>
            </a:extLst>
          </p:cNvPr>
          <p:cNvSpPr txBox="1">
            <a:spLocks/>
          </p:cNvSpPr>
          <p:nvPr/>
        </p:nvSpPr>
        <p:spPr>
          <a:xfrm>
            <a:off x="609601" y="1043569"/>
            <a:ext cx="4243753" cy="2371241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400" b="1" dirty="0">
              <a:solidFill>
                <a:schemeClr val="tx2">
                  <a:lumMod val="49000"/>
                  <a:lumOff val="51000"/>
                </a:schemeClr>
              </a:solidFill>
            </a:endParaRPr>
          </a:p>
          <a:p>
            <a:r>
              <a:rPr lang="en-US" sz="3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Term</a:t>
            </a:r>
            <a:r>
              <a:rPr lang="en-US" sz="3400" b="1" dirty="0">
                <a:solidFill>
                  <a:srgbClr val="000000"/>
                </a:solidFill>
              </a:rPr>
              <a:t> frequency. VOSviewer Analysis of Selected Literature (n = </a:t>
            </a:r>
            <a:r>
              <a:rPr lang="en-US" sz="3400" b="1" dirty="0">
                <a:solidFill>
                  <a:schemeClr val="tx2">
                    <a:lumMod val="49000"/>
                    <a:lumOff val="51000"/>
                  </a:schemeClr>
                </a:solidFill>
              </a:rPr>
              <a:t>400</a:t>
            </a:r>
            <a:r>
              <a:rPr lang="en-US" sz="3400" b="1" dirty="0">
                <a:solidFill>
                  <a:srgbClr val="000000"/>
                </a:solidFill>
              </a:rPr>
              <a:t>): First Insights.</a:t>
            </a:r>
          </a:p>
          <a:p>
            <a:endParaRPr 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20568817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5043</TotalTime>
  <Words>738</Words>
  <Application>Microsoft Office PowerPoint</Application>
  <PresentationFormat>Panorámica</PresentationFormat>
  <Paragraphs>107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Neue Haas Grotesk Text Pro</vt:lpstr>
      <vt:lpstr>Tema de Office</vt:lpstr>
      <vt:lpstr>Global Politics and the Architecture of Economic Complexity.</vt:lpstr>
      <vt:lpstr>Global Politics and the Architecture of Economic Complexity.</vt:lpstr>
      <vt:lpstr>Global Politics and the Architecture of Economic Complexity.</vt:lpstr>
      <vt:lpstr>Global Politics and the Architecture of Economic Complexity.</vt:lpstr>
      <vt:lpstr>Goal = What we want to achieve.</vt:lpstr>
      <vt:lpstr>Presentación de PowerPoint</vt:lpstr>
      <vt:lpstr>Why did some countries catch up in terms of Economic Complexity, while others got stuck in the middle? 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Politics and the Architecture of Economic Complexity</dc:title>
  <dc:creator>Pr. Geoffrey Ditta</dc:creator>
  <cp:lastModifiedBy>Pr. Geoffrey Ditta</cp:lastModifiedBy>
  <cp:revision>211</cp:revision>
  <dcterms:created xsi:type="dcterms:W3CDTF">2025-06-18T15:15:11Z</dcterms:created>
  <dcterms:modified xsi:type="dcterms:W3CDTF">2026-02-16T20:46:47Z</dcterms:modified>
</cp:coreProperties>
</file>
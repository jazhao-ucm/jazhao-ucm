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12"/>
  </p:notesMasterIdLst>
  <p:sldIdLst>
    <p:sldId id="370" r:id="rId2"/>
    <p:sldId id="387" r:id="rId3"/>
    <p:sldId id="372" r:id="rId4"/>
    <p:sldId id="416" r:id="rId5"/>
    <p:sldId id="388" r:id="rId6"/>
    <p:sldId id="602" r:id="rId7"/>
    <p:sldId id="603" r:id="rId8"/>
    <p:sldId id="412" r:id="rId9"/>
    <p:sldId id="417" r:id="rId10"/>
    <p:sldId id="63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70AF"/>
    <a:srgbClr val="2F4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94" autoAdjust="0"/>
    <p:restoredTop sz="95652" autoAdjust="0"/>
  </p:normalViewPr>
  <p:slideViewPr>
    <p:cSldViewPr snapToGrid="0">
      <p:cViewPr varScale="1">
        <p:scale>
          <a:sx n="98" d="100"/>
          <a:sy n="98" d="100"/>
        </p:scale>
        <p:origin x="252" y="96"/>
      </p:cViewPr>
      <p:guideLst/>
    </p:cSldViewPr>
  </p:slideViewPr>
  <p:outlineViewPr>
    <p:cViewPr>
      <p:scale>
        <a:sx n="33" d="100"/>
        <a:sy n="33" d="100"/>
      </p:scale>
      <p:origin x="0" y="-76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2BECE-1A0C-4AC9-82E2-79ACA31391B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62FAA-7A4D-41EF-80B0-17D4C81AC40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2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EB449-510F-2D48-BD92-9ADA8091F7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46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05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42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00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23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28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EB449-510F-2D48-BD92-9ADA8091F7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1398-769B-3A78-4C16-1EE82FFEF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6CE58-4DF4-4899-07AA-CB912EB77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98116-C940-2362-B080-E028C2F1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6D58-3F33-4B08-9101-6D20928FEA1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A1B5F-E5E7-93F2-1B14-F24B9410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6A238-2FD0-5720-3928-AB4B2262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0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D760-9220-6998-6CED-727FFAD7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1E4E-55C9-14AB-5514-299646DB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F8209-FD83-8448-41A0-106B361B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4D6F-E8D6-4C77-8D60-EE610CB20ED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1F287-F918-45B1-8BE6-757BA1CB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135D4-D38C-AADF-3B8A-F8891FD1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5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758B-4A46-5581-D754-EDB1F433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3D4BE-2738-A216-88AA-76594FBBB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6BC2C-30E1-94FD-511D-47B0A6CE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E317-C380-4337-BE4F-E62910DC71D6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D0F7-968C-3C81-7797-441F1A22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224C-C4C8-D3A4-A69B-C9DC8D8A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9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4AF5-12FF-FD2B-DD67-68DB9592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19F1-D8A5-2683-86D5-C24EC9D94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D19A6-1D85-6036-D913-AC24080ED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2C19F-8F2D-6267-C186-A7CB6F29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BA6-1131-428C-8CCA-4D75B518D33B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90943-D12B-C9E8-813D-A21F1442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39DB7-6903-7F3E-FEDE-50A47B40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3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E482-F123-D796-E97B-8A414C6D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18F4A-F806-1DAC-9831-4E47401CA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E3F1A-55DC-5923-813A-FF8F25D61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4EB12-AF26-6170-5EC8-5CA170E4D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43D1F-E705-A644-0F7A-19F2C4296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5DEC42-0546-1708-D9B1-AD1F9AC5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6F7B-4359-4CA5-BA48-132843DBE24A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746616-A7BE-32D0-7ED6-D73A2D24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ECA64-B4A7-1335-D756-C5FF7CF5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456F-BE03-2AF6-FAF3-7F44963E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295D8-C145-F893-CEC4-FF25F007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AA7FB-5C1C-4DA1-8794-00DDAF85ACB2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3DB64-A8C5-159D-B776-10DE6542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D00B9-E844-4C05-D7CE-D7707590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B8698-16EC-4F7E-88CE-6FA7B13C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4467-026D-4A61-A2CE-B4FA9B07A971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61F2A-DF10-9388-B0A4-DA82EE15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092B9-3674-AAB0-DE14-51CA680B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0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5C37-9474-A647-1D3F-F1CD32C4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BC6A-587E-339C-6612-534253444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ADB4E-7723-34BA-F996-5340A6BD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BC159-DB6B-DDC5-8E66-5A7D76C5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A494-BA21-4542-957D-31488CC8C39D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39009-F9E8-90AD-8EE1-6943D157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C8D87-43E1-9E63-ED3F-CAF1169E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1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06FF-E496-6397-55F6-1ACCAF10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00353-6E64-D795-3BB0-F9F1B4C21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954FF-2EC5-C21C-6588-9B33F18F9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C30EA-32E2-F8BF-177E-80BB16EF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09FF5-5E83-418E-B26E-30C6DE28276E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C7D5F-458D-CF89-BE4A-C0306F7B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BC4FD-2FDA-74D4-138F-CFB3A293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5707-C008-5227-931C-6353155D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10A8D-0B67-EB54-051E-8D3102674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EDBC9-6183-3D7A-4CBD-F2CC1947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9026-CC98-4649-86EB-D35FE1F4B00A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37C82-CE80-E074-511C-641B51AC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63B1-95A6-F6EA-1AB8-5348FF4A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4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26F9C-7CEE-510F-DE7F-62F77C4EB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5D66E-DFF0-2D76-FA7B-A56BE467A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9371E-B5E6-055C-931D-5DCEB20A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19C11-0A2F-4BC7-AE8F-3E2FA8FEB393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84632-CA87-05B1-D5CD-0E3F74A6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Coffee Shop Inc - TR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50FC9-A435-81A0-62C8-1CC25C78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1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83323-E7FF-4877-DB45-3B44B9CA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AC9A8-7357-EE32-34C6-78006E42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61D76-B687-5150-A24B-D2DD9391B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A7A03-0F20-4756-BA5B-989DACF1BFC9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7800-4A57-7416-1600-16E06D6E0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Coffee Shop Inc - TR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71283-752D-38BD-0A62-EC25789DE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46069-6608-46AA-810B-56AD7561D3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5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3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69B78-728F-4E43-9792-6FC60C80C4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" r="2362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0AC4A-46BB-497C-959B-7DC23739F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8416" y="981940"/>
            <a:ext cx="3822189" cy="438221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srgbClr val="1470A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0" b="1" baseline="30000" dirty="0">
                <a:solidFill>
                  <a:srgbClr val="1470AF"/>
                </a:solidFill>
                <a:latin typeface="+mn-lt"/>
              </a:rPr>
              <a:t>4 </a:t>
            </a:r>
            <a:r>
              <a:rPr kumimoji="0" lang="en-US" sz="4000" b="1" i="0" u="none" strike="noStrike" kern="1200" cap="none" spc="0" normalizeH="0" baseline="30000" noProof="0" dirty="0">
                <a:ln>
                  <a:noFill/>
                </a:ln>
                <a:solidFill>
                  <a:srgbClr val="1470AF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Managing the Global Business portfolio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1" u="none" strike="noStrike" kern="1200" cap="none" spc="0" normalizeH="0" baseline="30000" noProof="0" dirty="0">
              <a:ln>
                <a:noFill/>
              </a:ln>
              <a:solidFill>
                <a:srgbClr val="1470AF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1" u="none" strike="noStrike" kern="1200" cap="none" spc="0" normalizeH="0" baseline="30000" noProof="0" dirty="0">
              <a:ln>
                <a:noFill/>
              </a:ln>
              <a:solidFill>
                <a:srgbClr val="1470AF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srgbClr val="1470A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7BAFC-BF8B-C042-406D-990FDF114A3C}"/>
              </a:ext>
            </a:extLst>
          </p:cNvPr>
          <p:cNvSpPr txBox="1"/>
          <p:nvPr/>
        </p:nvSpPr>
        <p:spPr>
          <a:xfrm>
            <a:off x="678416" y="6642556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HBP# FO0014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33A645-ED33-240A-2935-2FC845D25BAA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661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5CC2CF-BEF0-4E07-81D6-CE02BA8FB05B}"/>
              </a:ext>
            </a:extLst>
          </p:cNvPr>
          <p:cNvCxnSpPr/>
          <p:nvPr/>
        </p:nvCxnSpPr>
        <p:spPr>
          <a:xfrm>
            <a:off x="2095956" y="1224664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A7B60-C742-46BA-AD5F-FA3931A29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8686" y="3429000"/>
            <a:ext cx="1949570" cy="715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Marker Motion’s performance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73498E9-798B-4B1A-9F42-5147594D5A28}"/>
              </a:ext>
            </a:extLst>
          </p:cNvPr>
          <p:cNvSpPr txBox="1">
            <a:spLocks/>
          </p:cNvSpPr>
          <p:nvPr/>
        </p:nvSpPr>
        <p:spPr>
          <a:xfrm>
            <a:off x="2908749" y="1815859"/>
            <a:ext cx="1949570" cy="7159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Channel conflict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574B204-CBBD-43CC-8CA1-BA81A878600F}"/>
              </a:ext>
            </a:extLst>
          </p:cNvPr>
          <p:cNvSpPr txBox="1">
            <a:spLocks/>
          </p:cNvSpPr>
          <p:nvPr/>
        </p:nvSpPr>
        <p:spPr>
          <a:xfrm>
            <a:off x="2059257" y="3017806"/>
            <a:ext cx="1949570" cy="7159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Pricing decisions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92C8B4E-B622-4183-8008-050BC603321D}"/>
              </a:ext>
            </a:extLst>
          </p:cNvPr>
          <p:cNvSpPr txBox="1">
            <a:spLocks/>
          </p:cNvSpPr>
          <p:nvPr/>
        </p:nvSpPr>
        <p:spPr>
          <a:xfrm>
            <a:off x="2095956" y="4780688"/>
            <a:ext cx="1949570" cy="71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Investment decisions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2B3EA48-204F-4F31-878F-E58FB750BA1C}"/>
              </a:ext>
            </a:extLst>
          </p:cNvPr>
          <p:cNvSpPr txBox="1">
            <a:spLocks/>
          </p:cNvSpPr>
          <p:nvPr/>
        </p:nvSpPr>
        <p:spPr>
          <a:xfrm>
            <a:off x="4993038" y="5492369"/>
            <a:ext cx="1949570" cy="71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Use of market research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DDA7E97-5BC3-4CB4-AA06-3769D744A2EA}"/>
              </a:ext>
            </a:extLst>
          </p:cNvPr>
          <p:cNvSpPr txBox="1">
            <a:spLocks/>
          </p:cNvSpPr>
          <p:nvPr/>
        </p:nvSpPr>
        <p:spPr>
          <a:xfrm>
            <a:off x="7884543" y="4389409"/>
            <a:ext cx="1949570" cy="71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Market conditions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A326AD5-88A6-4E87-A1D4-D380FA0DA97A}"/>
              </a:ext>
            </a:extLst>
          </p:cNvPr>
          <p:cNvSpPr txBox="1">
            <a:spLocks/>
          </p:cNvSpPr>
          <p:nvPr/>
        </p:nvSpPr>
        <p:spPr>
          <a:xfrm>
            <a:off x="7923400" y="2807899"/>
            <a:ext cx="1949570" cy="71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Competitive behavior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728FAA5-DCFC-4141-B5AE-7E24BD082D14}"/>
              </a:ext>
            </a:extLst>
          </p:cNvPr>
          <p:cNvSpPr txBox="1">
            <a:spLocks/>
          </p:cNvSpPr>
          <p:nvPr/>
        </p:nvSpPr>
        <p:spPr>
          <a:xfrm>
            <a:off x="5844440" y="1552465"/>
            <a:ext cx="2175251" cy="71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Segment/customer behavior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BCD6F0-0903-4A0A-8303-E35939ADC24F}"/>
              </a:ext>
            </a:extLst>
          </p:cNvPr>
          <p:cNvCxnSpPr/>
          <p:nvPr/>
        </p:nvCxnSpPr>
        <p:spPr>
          <a:xfrm>
            <a:off x="4465606" y="2570662"/>
            <a:ext cx="668757" cy="746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C00AD9-4F24-48FD-A359-34678D475A02}"/>
              </a:ext>
            </a:extLst>
          </p:cNvPr>
          <p:cNvCxnSpPr>
            <a:cxnSpLocks/>
          </p:cNvCxnSpPr>
          <p:nvPr/>
        </p:nvCxnSpPr>
        <p:spPr>
          <a:xfrm flipH="1">
            <a:off x="7126454" y="3029457"/>
            <a:ext cx="758090" cy="566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5D2509-5B45-4E15-BA65-597D935EB38C}"/>
              </a:ext>
            </a:extLst>
          </p:cNvPr>
          <p:cNvCxnSpPr>
            <a:cxnSpLocks/>
          </p:cNvCxnSpPr>
          <p:nvPr/>
        </p:nvCxnSpPr>
        <p:spPr>
          <a:xfrm flipH="1" flipV="1">
            <a:off x="6750371" y="4182082"/>
            <a:ext cx="1006715" cy="885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69943F-D6C8-4FDE-99E7-5E88B3B2D225}"/>
              </a:ext>
            </a:extLst>
          </p:cNvPr>
          <p:cNvCxnSpPr>
            <a:cxnSpLocks/>
          </p:cNvCxnSpPr>
          <p:nvPr/>
        </p:nvCxnSpPr>
        <p:spPr>
          <a:xfrm flipH="1">
            <a:off x="6293118" y="2303255"/>
            <a:ext cx="22030" cy="1009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56B908-5422-4FF7-BE63-6484FB5D8018}"/>
              </a:ext>
            </a:extLst>
          </p:cNvPr>
          <p:cNvCxnSpPr>
            <a:cxnSpLocks/>
          </p:cNvCxnSpPr>
          <p:nvPr/>
        </p:nvCxnSpPr>
        <p:spPr>
          <a:xfrm flipH="1" flipV="1">
            <a:off x="5649492" y="4337651"/>
            <a:ext cx="270" cy="977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865C8E-10FD-4040-A22A-961F1EE78F0A}"/>
              </a:ext>
            </a:extLst>
          </p:cNvPr>
          <p:cNvCxnSpPr>
            <a:cxnSpLocks/>
          </p:cNvCxnSpPr>
          <p:nvPr/>
        </p:nvCxnSpPr>
        <p:spPr>
          <a:xfrm flipV="1">
            <a:off x="3516146" y="4287329"/>
            <a:ext cx="1160194" cy="674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72E6D3-8DDA-4A46-806B-7289E6CE54D2}"/>
              </a:ext>
            </a:extLst>
          </p:cNvPr>
          <p:cNvCxnSpPr>
            <a:cxnSpLocks/>
          </p:cNvCxnSpPr>
          <p:nvPr/>
        </p:nvCxnSpPr>
        <p:spPr>
          <a:xfrm>
            <a:off x="3324660" y="3733800"/>
            <a:ext cx="1288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94A39FF-6597-5EEA-E7AC-E3B5F96D0E0B}"/>
              </a:ext>
            </a:extLst>
          </p:cNvPr>
          <p:cNvSpPr txBox="1"/>
          <p:nvPr/>
        </p:nvSpPr>
        <p:spPr>
          <a:xfrm>
            <a:off x="2059257" y="81427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Managing the Global Business portfolio</a:t>
            </a:r>
            <a:endParaRPr lang="es-ES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B770576-445E-E119-4545-ABDFE23D15C9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468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D0A1-DD75-4628-91E8-AE4C2B5A6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956" y="1823576"/>
            <a:ext cx="764762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Managing </a:t>
            </a:r>
            <a:r>
              <a:rPr lang="en-US" sz="2000" i="1" dirty="0"/>
              <a:t>markets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Managing </a:t>
            </a:r>
            <a:r>
              <a:rPr lang="en-US" sz="2000" i="1" dirty="0"/>
              <a:t>market segments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Managing </a:t>
            </a:r>
            <a:r>
              <a:rPr lang="en-US" sz="2000" i="1" dirty="0"/>
              <a:t>customers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95956" y="1542230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205CF4-DDF3-4490-AE34-8C0D15E5810E}"/>
              </a:ext>
            </a:extLst>
          </p:cNvPr>
          <p:cNvCxnSpPr/>
          <p:nvPr/>
        </p:nvCxnSpPr>
        <p:spPr>
          <a:xfrm>
            <a:off x="2912853" y="2268748"/>
            <a:ext cx="0" cy="672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BAF44F-9AB4-45C3-97EB-20363D353CCD}"/>
              </a:ext>
            </a:extLst>
          </p:cNvPr>
          <p:cNvCxnSpPr/>
          <p:nvPr/>
        </p:nvCxnSpPr>
        <p:spPr>
          <a:xfrm>
            <a:off x="2912853" y="3352800"/>
            <a:ext cx="0" cy="672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51627F6-7C7A-BD74-2011-52A2635A7915}"/>
              </a:ext>
            </a:extLst>
          </p:cNvPr>
          <p:cNvSpPr txBox="1"/>
          <p:nvPr/>
        </p:nvSpPr>
        <p:spPr>
          <a:xfrm>
            <a:off x="2059257" y="81427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Managing the Global Business portfolio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576BCCD-066B-0238-FBD1-42A214147D15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396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E841-CAD5-431E-A169-A792C51E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257" y="375945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000" dirty="0">
                <a:latin typeface="Calibri Light" charset="0"/>
                <a:ea typeface="Calibri Light" charset="0"/>
                <a:cs typeface="Calibri Light" charset="0"/>
              </a:rPr>
              <a:t>Link Between Customer Expectations, MM’s </a:t>
            </a:r>
            <a:r>
              <a:rPr lang="en-US" sz="3000" b="1" dirty="0">
                <a:latin typeface="Calibri Light" charset="0"/>
                <a:ea typeface="Calibri Light" charset="0"/>
                <a:cs typeface="Calibri Light" charset="0"/>
              </a:rPr>
              <a:t>AI</a:t>
            </a:r>
            <a:r>
              <a:rPr lang="en-US" sz="3000" dirty="0">
                <a:latin typeface="Calibri Light" charset="0"/>
                <a:ea typeface="Calibri Light" charset="0"/>
                <a:cs typeface="Calibri Light" charset="0"/>
              </a:rPr>
              <a:t> Performance, and Satisfaction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95956" y="1377978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reeform 22">
            <a:extLst>
              <a:ext uri="{FF2B5EF4-FFF2-40B4-BE49-F238E27FC236}">
                <a16:creationId xmlns:a16="http://schemas.microsoft.com/office/drawing/2014/main" id="{D3354DF1-E381-45B2-A2D6-CBD53EE0F25F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 rot="5400000" flipV="1">
            <a:off x="5049442" y="3105517"/>
            <a:ext cx="1009289" cy="871260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5" name="Freeform 23">
            <a:extLst>
              <a:ext uri="{FF2B5EF4-FFF2-40B4-BE49-F238E27FC236}">
                <a16:creationId xmlns:a16="http://schemas.microsoft.com/office/drawing/2014/main" id="{E6D837E4-E3ED-427B-BF09-9064686D6D6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 rot="5400000" flipH="1" flipV="1">
            <a:off x="4989058" y="4321842"/>
            <a:ext cx="1130059" cy="871260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6" name="Freeform 4">
            <a:extLst>
              <a:ext uri="{FF2B5EF4-FFF2-40B4-BE49-F238E27FC236}">
                <a16:creationId xmlns:a16="http://schemas.microsoft.com/office/drawing/2014/main" id="{550CBA9C-F4F2-4D28-84B8-A091F8FBD04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5400000" flipV="1">
            <a:off x="7891843" y="3127083"/>
            <a:ext cx="310552" cy="1595881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C0DFE82B-CED4-4883-B4E4-D6D8FE73440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 rot="5400000" flipH="1" flipV="1">
            <a:off x="7913410" y="3588593"/>
            <a:ext cx="267421" cy="1595881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8" name="Line 12">
            <a:extLst>
              <a:ext uri="{FF2B5EF4-FFF2-40B4-BE49-F238E27FC236}">
                <a16:creationId xmlns:a16="http://schemas.microsoft.com/office/drawing/2014/main" id="{259CA830-5154-475B-8532-FA47D7C2084E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909499" y="2984740"/>
            <a:ext cx="0" cy="223353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9" name="Rectangle 11">
            <a:extLst>
              <a:ext uri="{FF2B5EF4-FFF2-40B4-BE49-F238E27FC236}">
                <a16:creationId xmlns:a16="http://schemas.microsoft.com/office/drawing/2014/main" id="{E06FF7F4-93ED-4F6C-9DAB-CCE1DA60B226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883120" y="3779611"/>
            <a:ext cx="1582698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rIns="18288" anchor="ctr" anchorCtr="1"/>
          <a:lstStyle/>
          <a:p>
            <a:pPr algn="ctr"/>
            <a:r>
              <a:rPr lang="en-US" sz="1400" b="1" dirty="0"/>
              <a:t>Satisfaction</a:t>
            </a:r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8B3D2282-A66C-4DA2-ACEC-50C538FC429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18150" y="2335321"/>
            <a:ext cx="1582698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rIns="18288" anchor="ctr"/>
          <a:lstStyle/>
          <a:p>
            <a:pPr algn="ctr"/>
            <a:r>
              <a:rPr lang="en-US" sz="1400" b="1" dirty="0"/>
              <a:t>Expectations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4C2128-FE5C-4B78-961E-70AE15FAB1B4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222627" y="3057466"/>
            <a:ext cx="1581912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rIns="18288" anchor="ctr" anchorCtr="1"/>
          <a:lstStyle/>
          <a:p>
            <a:pPr algn="ctr"/>
            <a:r>
              <a:rPr lang="en-US" sz="1400" b="1" dirty="0"/>
              <a:t>Negative disconfirmation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141172-CDEC-4966-8AF7-D1F2A678FAB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222627" y="4501756"/>
            <a:ext cx="1581912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8288" rIns="18288" anchor="ctr" anchorCtr="1"/>
          <a:lstStyle/>
          <a:p>
            <a:pPr algn="ctr"/>
            <a:r>
              <a:rPr lang="en-US" sz="1400" b="1" dirty="0"/>
              <a:t>Positive</a:t>
            </a:r>
            <a:br>
              <a:rPr lang="en-US" sz="1400" b="1" dirty="0"/>
            </a:br>
            <a:r>
              <a:rPr lang="en-US" sz="1400" b="1" dirty="0"/>
              <a:t>disconfirmation</a:t>
            </a: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3444732D-6EBB-4FB8-B7E5-FC5BC3D46DA4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 rot="5400000" flipV="1">
            <a:off x="3202612" y="1760562"/>
            <a:ext cx="310552" cy="1499454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44" name="Freeform 12">
            <a:extLst>
              <a:ext uri="{FF2B5EF4-FFF2-40B4-BE49-F238E27FC236}">
                <a16:creationId xmlns:a16="http://schemas.microsoft.com/office/drawing/2014/main" id="{366CD0E2-EFA3-4644-B6EE-8149CCD5C5C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 rot="5400000" flipH="1" flipV="1">
            <a:off x="3211238" y="2148750"/>
            <a:ext cx="293302" cy="1499454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2BC8963D-3804-4DFE-9CE1-7E32F7598BD9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695198" y="1708030"/>
            <a:ext cx="1766977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rIns="18288" anchor="ctr"/>
          <a:lstStyle/>
          <a:p>
            <a:pPr algn="ctr"/>
            <a:r>
              <a:rPr lang="en-US" sz="1400" b="1" dirty="0"/>
              <a:t>Past performance/ quality</a:t>
            </a: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8CDC707D-518D-4148-B9F3-254707F6BC46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95198" y="2962612"/>
            <a:ext cx="1766977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rIns="18288" anchor="ctr" anchorCtr="1"/>
          <a:lstStyle/>
          <a:p>
            <a:pPr algn="ctr"/>
            <a:r>
              <a:rPr lang="en-US" sz="1400" b="1" dirty="0"/>
              <a:t>Needs, values, and satisfaction with past performance</a:t>
            </a:r>
          </a:p>
        </p:txBody>
      </p:sp>
      <p:sp>
        <p:nvSpPr>
          <p:cNvPr id="47" name="Freeform 19">
            <a:extLst>
              <a:ext uri="{FF2B5EF4-FFF2-40B4-BE49-F238E27FC236}">
                <a16:creationId xmlns:a16="http://schemas.microsoft.com/office/drawing/2014/main" id="{213F0590-7699-4B01-B9B2-C21DA881B35C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 rot="10800000" flipH="1">
            <a:off x="5679163" y="4502990"/>
            <a:ext cx="3994030" cy="1121433"/>
          </a:xfrm>
          <a:custGeom>
            <a:avLst/>
            <a:gdLst/>
            <a:ahLst/>
            <a:cxnLst/>
            <a:rect l="0" t="0" r="0" b="0"/>
            <a:pathLst>
              <a:path w="1046100" h="728727">
                <a:moveTo>
                  <a:pt x="0" y="0"/>
                </a:moveTo>
                <a:lnTo>
                  <a:pt x="1046099" y="0"/>
                </a:lnTo>
                <a:lnTo>
                  <a:pt x="1046099" y="72872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48" name="Rectangle 8">
            <a:extLst>
              <a:ext uri="{FF2B5EF4-FFF2-40B4-BE49-F238E27FC236}">
                <a16:creationId xmlns:a16="http://schemas.microsoft.com/office/drawing/2014/main" id="{3A598502-9D31-4035-BD1B-C17A11FC7D73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8150" y="5223900"/>
            <a:ext cx="1582698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rIns="18288" anchor="ctr" anchorCtr="1"/>
          <a:lstStyle/>
          <a:p>
            <a:pPr algn="ctr"/>
            <a:r>
              <a:rPr lang="en-US" sz="1400" b="1" dirty="0"/>
              <a:t>Perceived performance/ quality</a:t>
            </a:r>
          </a:p>
        </p:txBody>
      </p:sp>
      <p:sp>
        <p:nvSpPr>
          <p:cNvPr id="49" name="Freeform 12">
            <a:extLst>
              <a:ext uri="{FF2B5EF4-FFF2-40B4-BE49-F238E27FC236}">
                <a16:creationId xmlns:a16="http://schemas.microsoft.com/office/drawing/2014/main" id="{44FE5590-8942-4AB5-8487-B322D196A72B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 rot="10800000" flipH="1">
            <a:off x="6015197" y="3045126"/>
            <a:ext cx="227013" cy="2156603"/>
          </a:xfrm>
          <a:custGeom>
            <a:avLst/>
            <a:gdLst/>
            <a:ahLst/>
            <a:cxnLst>
              <a:cxn ang="0">
                <a:pos x="48" y="511"/>
              </a:cxn>
              <a:cxn ang="0">
                <a:pos x="61" y="500"/>
              </a:cxn>
              <a:cxn ang="0">
                <a:pos x="69" y="477"/>
              </a:cxn>
              <a:cxn ang="0">
                <a:pos x="71" y="404"/>
              </a:cxn>
              <a:cxn ang="0">
                <a:pos x="71" y="237"/>
              </a:cxn>
              <a:cxn ang="0">
                <a:pos x="80" y="103"/>
              </a:cxn>
              <a:cxn ang="0">
                <a:pos x="102" y="28"/>
              </a:cxn>
              <a:cxn ang="0">
                <a:pos x="127" y="2"/>
              </a:cxn>
              <a:cxn ang="0">
                <a:pos x="123" y="1"/>
              </a:cxn>
              <a:cxn ang="0">
                <a:pos x="93" y="17"/>
              </a:cxn>
              <a:cxn ang="0">
                <a:pos x="71" y="47"/>
              </a:cxn>
              <a:cxn ang="0">
                <a:pos x="54" y="115"/>
              </a:cxn>
              <a:cxn ang="0">
                <a:pos x="47" y="245"/>
              </a:cxn>
              <a:cxn ang="0">
                <a:pos x="46" y="433"/>
              </a:cxn>
              <a:cxn ang="0">
                <a:pos x="38" y="477"/>
              </a:cxn>
              <a:cxn ang="0">
                <a:pos x="26" y="500"/>
              </a:cxn>
              <a:cxn ang="0">
                <a:pos x="9" y="511"/>
              </a:cxn>
              <a:cxn ang="0">
                <a:pos x="9" y="513"/>
              </a:cxn>
              <a:cxn ang="0">
                <a:pos x="26" y="522"/>
              </a:cxn>
              <a:cxn ang="0">
                <a:pos x="38" y="547"/>
              </a:cxn>
              <a:cxn ang="0">
                <a:pos x="46" y="590"/>
              </a:cxn>
              <a:cxn ang="0">
                <a:pos x="47" y="779"/>
              </a:cxn>
              <a:cxn ang="0">
                <a:pos x="54" y="908"/>
              </a:cxn>
              <a:cxn ang="0">
                <a:pos x="71" y="977"/>
              </a:cxn>
              <a:cxn ang="0">
                <a:pos x="93" y="1007"/>
              </a:cxn>
              <a:cxn ang="0">
                <a:pos x="123" y="1023"/>
              </a:cxn>
              <a:cxn ang="0">
                <a:pos x="133" y="1024"/>
              </a:cxn>
              <a:cxn ang="0">
                <a:pos x="119" y="1017"/>
              </a:cxn>
              <a:cxn ang="0">
                <a:pos x="102" y="995"/>
              </a:cxn>
              <a:cxn ang="0">
                <a:pos x="86" y="949"/>
              </a:cxn>
              <a:cxn ang="0">
                <a:pos x="72" y="856"/>
              </a:cxn>
              <a:cxn ang="0">
                <a:pos x="70" y="721"/>
              </a:cxn>
              <a:cxn ang="0">
                <a:pos x="71" y="566"/>
              </a:cxn>
              <a:cxn ang="0">
                <a:pos x="61" y="522"/>
              </a:cxn>
              <a:cxn ang="0">
                <a:pos x="48" y="513"/>
              </a:cxn>
            </a:cxnLst>
            <a:rect l="0" t="0" r="r" b="b"/>
            <a:pathLst>
              <a:path w="143" h="1026">
                <a:moveTo>
                  <a:pt x="37" y="511"/>
                </a:moveTo>
                <a:lnTo>
                  <a:pt x="48" y="511"/>
                </a:lnTo>
                <a:lnTo>
                  <a:pt x="55" y="507"/>
                </a:lnTo>
                <a:lnTo>
                  <a:pt x="61" y="500"/>
                </a:lnTo>
                <a:lnTo>
                  <a:pt x="65" y="491"/>
                </a:lnTo>
                <a:lnTo>
                  <a:pt x="69" y="477"/>
                </a:lnTo>
                <a:lnTo>
                  <a:pt x="71" y="458"/>
                </a:lnTo>
                <a:lnTo>
                  <a:pt x="71" y="404"/>
                </a:lnTo>
                <a:lnTo>
                  <a:pt x="70" y="303"/>
                </a:lnTo>
                <a:lnTo>
                  <a:pt x="71" y="237"/>
                </a:lnTo>
                <a:lnTo>
                  <a:pt x="72" y="168"/>
                </a:lnTo>
                <a:lnTo>
                  <a:pt x="80" y="103"/>
                </a:lnTo>
                <a:lnTo>
                  <a:pt x="93" y="50"/>
                </a:lnTo>
                <a:lnTo>
                  <a:pt x="102" y="28"/>
                </a:lnTo>
                <a:lnTo>
                  <a:pt x="113" y="13"/>
                </a:lnTo>
                <a:lnTo>
                  <a:pt x="127" y="2"/>
                </a:lnTo>
                <a:lnTo>
                  <a:pt x="142" y="0"/>
                </a:lnTo>
                <a:lnTo>
                  <a:pt x="123" y="1"/>
                </a:lnTo>
                <a:lnTo>
                  <a:pt x="107" y="6"/>
                </a:lnTo>
                <a:lnTo>
                  <a:pt x="93" y="17"/>
                </a:lnTo>
                <a:lnTo>
                  <a:pt x="82" y="30"/>
                </a:lnTo>
                <a:lnTo>
                  <a:pt x="71" y="47"/>
                </a:lnTo>
                <a:lnTo>
                  <a:pt x="64" y="67"/>
                </a:lnTo>
                <a:lnTo>
                  <a:pt x="54" y="115"/>
                </a:lnTo>
                <a:lnTo>
                  <a:pt x="49" y="175"/>
                </a:lnTo>
                <a:lnTo>
                  <a:pt x="47" y="245"/>
                </a:lnTo>
                <a:lnTo>
                  <a:pt x="47" y="404"/>
                </a:lnTo>
                <a:lnTo>
                  <a:pt x="46" y="433"/>
                </a:lnTo>
                <a:lnTo>
                  <a:pt x="43" y="458"/>
                </a:lnTo>
                <a:lnTo>
                  <a:pt x="38" y="477"/>
                </a:lnTo>
                <a:lnTo>
                  <a:pt x="33" y="491"/>
                </a:lnTo>
                <a:lnTo>
                  <a:pt x="26" y="500"/>
                </a:lnTo>
                <a:lnTo>
                  <a:pt x="18" y="507"/>
                </a:lnTo>
                <a:lnTo>
                  <a:pt x="9" y="511"/>
                </a:lnTo>
                <a:lnTo>
                  <a:pt x="0" y="511"/>
                </a:lnTo>
                <a:lnTo>
                  <a:pt x="9" y="513"/>
                </a:lnTo>
                <a:lnTo>
                  <a:pt x="18" y="516"/>
                </a:lnTo>
                <a:lnTo>
                  <a:pt x="26" y="522"/>
                </a:lnTo>
                <a:lnTo>
                  <a:pt x="33" y="533"/>
                </a:lnTo>
                <a:lnTo>
                  <a:pt x="38" y="547"/>
                </a:lnTo>
                <a:lnTo>
                  <a:pt x="43" y="566"/>
                </a:lnTo>
                <a:lnTo>
                  <a:pt x="46" y="590"/>
                </a:lnTo>
                <a:lnTo>
                  <a:pt x="47" y="619"/>
                </a:lnTo>
                <a:lnTo>
                  <a:pt x="47" y="779"/>
                </a:lnTo>
                <a:lnTo>
                  <a:pt x="49" y="848"/>
                </a:lnTo>
                <a:lnTo>
                  <a:pt x="54" y="908"/>
                </a:lnTo>
                <a:lnTo>
                  <a:pt x="64" y="957"/>
                </a:lnTo>
                <a:lnTo>
                  <a:pt x="71" y="977"/>
                </a:lnTo>
                <a:lnTo>
                  <a:pt x="82" y="994"/>
                </a:lnTo>
                <a:lnTo>
                  <a:pt x="93" y="1007"/>
                </a:lnTo>
                <a:lnTo>
                  <a:pt x="107" y="1017"/>
                </a:lnTo>
                <a:lnTo>
                  <a:pt x="123" y="1023"/>
                </a:lnTo>
                <a:lnTo>
                  <a:pt x="142" y="1025"/>
                </a:lnTo>
                <a:lnTo>
                  <a:pt x="133" y="1024"/>
                </a:lnTo>
                <a:lnTo>
                  <a:pt x="127" y="1021"/>
                </a:lnTo>
                <a:lnTo>
                  <a:pt x="119" y="1017"/>
                </a:lnTo>
                <a:lnTo>
                  <a:pt x="113" y="1012"/>
                </a:lnTo>
                <a:lnTo>
                  <a:pt x="102" y="995"/>
                </a:lnTo>
                <a:lnTo>
                  <a:pt x="93" y="974"/>
                </a:lnTo>
                <a:lnTo>
                  <a:pt x="86" y="949"/>
                </a:lnTo>
                <a:lnTo>
                  <a:pt x="80" y="920"/>
                </a:lnTo>
                <a:lnTo>
                  <a:pt x="72" y="856"/>
                </a:lnTo>
                <a:lnTo>
                  <a:pt x="71" y="787"/>
                </a:lnTo>
                <a:lnTo>
                  <a:pt x="70" y="721"/>
                </a:lnTo>
                <a:lnTo>
                  <a:pt x="71" y="619"/>
                </a:lnTo>
                <a:lnTo>
                  <a:pt x="71" y="566"/>
                </a:lnTo>
                <a:lnTo>
                  <a:pt x="65" y="533"/>
                </a:lnTo>
                <a:lnTo>
                  <a:pt x="61" y="522"/>
                </a:lnTo>
                <a:lnTo>
                  <a:pt x="55" y="516"/>
                </a:lnTo>
                <a:lnTo>
                  <a:pt x="48" y="513"/>
                </a:lnTo>
                <a:lnTo>
                  <a:pt x="37" y="511"/>
                </a:lnTo>
              </a:path>
            </a:pathLst>
          </a:custGeom>
          <a:solidFill>
            <a:schemeClr val="tx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Text Box 29">
            <a:extLst>
              <a:ext uri="{FF2B5EF4-FFF2-40B4-BE49-F238E27FC236}">
                <a16:creationId xmlns:a16="http://schemas.microsoft.com/office/drawing/2014/main" id="{D8799EA7-C6A4-4C67-928A-CC957FD57B28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782792" y="6072012"/>
            <a:ext cx="4313208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Disconfirmation = Performance — Expectations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03439F-F07C-5034-89CC-C81360BC45E2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926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51318E-D372-4089-8161-A5F4BF05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956" y="1606484"/>
            <a:ext cx="8090204" cy="26290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Mature market:</a:t>
            </a:r>
          </a:p>
          <a:p>
            <a:r>
              <a:rPr lang="en-US" sz="2000" dirty="0"/>
              <a:t>Approximately 5% growth per year (not explosive market growth)</a:t>
            </a:r>
          </a:p>
          <a:p>
            <a:r>
              <a:rPr lang="en-US" sz="2000" dirty="0"/>
              <a:t>Competitive marketplace </a:t>
            </a:r>
          </a:p>
          <a:p>
            <a:pPr lvl="1"/>
            <a:r>
              <a:rPr lang="en-US" sz="1600" dirty="0"/>
              <a:t>Over 100 general and specialized manufacturers</a:t>
            </a:r>
          </a:p>
          <a:p>
            <a:pPr lvl="1"/>
            <a:r>
              <a:rPr lang="en-US" sz="1600" dirty="0"/>
              <a:t>MM facing market loss and margin pressures</a:t>
            </a:r>
          </a:p>
          <a:p>
            <a:r>
              <a:rPr lang="en-US" sz="2000" dirty="0"/>
              <a:t>Technology-intensive products</a:t>
            </a:r>
          </a:p>
          <a:p>
            <a:pPr lvl="1"/>
            <a:r>
              <a:rPr lang="en-US" sz="1600" dirty="0"/>
              <a:t>Periodic product performance enhancements to keep up with gradual (but continually increasing) customer demands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B26D853-9FE5-4BD3-AB3A-DA243516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257" y="27190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Calibri Light" charset="0"/>
                <a:ea typeface="Calibri Light" charset="0"/>
                <a:cs typeface="Calibri Light" charset="0"/>
              </a:rPr>
              <a:t>Understanding the Market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D9CC23-5513-4E0D-840E-B69158FAA65B}"/>
              </a:ext>
            </a:extLst>
          </p:cNvPr>
          <p:cNvCxnSpPr/>
          <p:nvPr/>
        </p:nvCxnSpPr>
        <p:spPr>
          <a:xfrm>
            <a:off x="2095956" y="1241087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40AD872D-5C8A-4B02-1595-B40BF3B39A55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212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E841-CAD5-431E-A169-A792C51E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257" y="463545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Calibri Light" charset="0"/>
                <a:ea typeface="Calibri Light" charset="0"/>
                <a:cs typeface="Calibri Light" charset="0"/>
              </a:rPr>
              <a:t>Impact of Investment Decisions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95956" y="1542230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A8FD0A1-DD75-4628-91E8-AE4C2B5A6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957" y="1896533"/>
            <a:ext cx="7397103" cy="3945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is a continual struggle between the short and long term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Profits = revenues – cost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Investments typically increase cots in the short-run but increase revenues over time.</a:t>
            </a:r>
          </a:p>
          <a:p>
            <a:r>
              <a:rPr lang="en-US" sz="2000" dirty="0"/>
              <a:t>As a result, if large scale investments are made </a:t>
            </a:r>
          </a:p>
          <a:p>
            <a:pPr lvl="1"/>
            <a:r>
              <a:rPr lang="en-US" sz="1600" dirty="0"/>
              <a:t>The investments will have downward pressure on profits</a:t>
            </a:r>
          </a:p>
          <a:p>
            <a:pPr lvl="1"/>
            <a:r>
              <a:rPr lang="en-US" sz="1600" dirty="0"/>
              <a:t>Lower profits means that management will cut the budget</a:t>
            </a:r>
          </a:p>
          <a:p>
            <a:pPr lvl="1"/>
            <a:r>
              <a:rPr lang="en-US" sz="1600" dirty="0"/>
              <a:t>Lower budget can impact the ability to sustain higher effort</a:t>
            </a:r>
          </a:p>
          <a:p>
            <a:pPr lvl="1"/>
            <a:r>
              <a:rPr lang="en-US" sz="1600" dirty="0"/>
              <a:t>Net result: such an investment strategy is not sustainable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4731F9-A8F0-55F0-E0D9-9E1A893858CD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063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E841-CAD5-431E-A169-A792C51E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257" y="463545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Calibri Light" charset="0"/>
                <a:ea typeface="Calibri Light" charset="0"/>
                <a:cs typeface="Calibri Light" charset="0"/>
              </a:rPr>
              <a:t>AI Impact of Investment Decisions (continued)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95956" y="1542230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A8FD0A1-DD75-4628-91E8-AE4C2B5A6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956" y="2020712"/>
            <a:ext cx="7647624" cy="4472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long-term relationship-building strategy works when you</a:t>
            </a:r>
          </a:p>
          <a:p>
            <a:r>
              <a:rPr lang="en-US" sz="2000" dirty="0"/>
              <a:t>Understand the interplay between immediate and lagged effects of your investment decisions</a:t>
            </a:r>
          </a:p>
          <a:p>
            <a:r>
              <a:rPr lang="en-US" sz="2000" dirty="0"/>
              <a:t>Understand that you cannot go after all segments</a:t>
            </a:r>
          </a:p>
          <a:p>
            <a:r>
              <a:rPr lang="en-US" sz="2000" dirty="0"/>
              <a:t>Carefully pick the segments/customers you want to serve</a:t>
            </a:r>
          </a:p>
          <a:p>
            <a:r>
              <a:rPr lang="en-US" sz="2000" dirty="0"/>
              <a:t>Craft and implement all elements of your marketing effort to go after the segments selected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If done correctly, the simulation rewards any effort to build long-term relationships (loyalty) with customers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9643DB-173E-029C-0C3A-E4DA5CF79327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924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E841-CAD5-431E-A169-A792C51E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257" y="266436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Calibri Light" charset="0"/>
                <a:ea typeface="Calibri Light" charset="0"/>
                <a:cs typeface="Calibri Light" charset="0"/>
              </a:rPr>
              <a:t>Customer Management Process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95956" y="1290364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5E98574-FD64-4C5E-8051-F699004C3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080" y="1813373"/>
            <a:ext cx="6846401" cy="4310246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B85AA38-C4EC-2C66-C1C9-A48D66F3EECE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640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E841-CAD5-431E-A169-A792C51E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257" y="463545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Calibri Light" charset="0"/>
                <a:ea typeface="Calibri Light" charset="0"/>
                <a:cs typeface="Calibri Light" charset="0"/>
              </a:rPr>
              <a:t>Customer Behavior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95956" y="1542230"/>
            <a:ext cx="7647624" cy="0"/>
          </a:xfrm>
          <a:prstGeom prst="line">
            <a:avLst/>
          </a:prstGeom>
          <a:ln>
            <a:prstDash val="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A791DE-4F7B-4D7C-A575-6CD5A1EA7C47}"/>
              </a:ext>
            </a:extLst>
          </p:cNvPr>
          <p:cNvSpPr txBox="1">
            <a:spLocks/>
          </p:cNvSpPr>
          <p:nvPr/>
        </p:nvSpPr>
        <p:spPr>
          <a:xfrm>
            <a:off x="2056582" y="2054579"/>
            <a:ext cx="8061548" cy="4233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Needs evolve very slowly</a:t>
            </a:r>
          </a:p>
          <a:p>
            <a:pPr lvl="1"/>
            <a:r>
              <a:rPr lang="en-US" sz="1600" dirty="0"/>
              <a:t>Importance of different attributes does not change much over time</a:t>
            </a:r>
          </a:p>
          <a:p>
            <a:r>
              <a:rPr lang="en-US" sz="2000" dirty="0"/>
              <a:t>Customers change expectations when vendors change performance</a:t>
            </a:r>
          </a:p>
          <a:p>
            <a:r>
              <a:rPr lang="en-US" sz="2000" dirty="0"/>
              <a:t>Satisfaction = f(Performance, (Expectations – Performance))</a:t>
            </a:r>
          </a:p>
          <a:p>
            <a:pPr lvl="1"/>
            <a:r>
              <a:rPr lang="en-US" sz="1600" dirty="0"/>
              <a:t>How well you performed</a:t>
            </a:r>
          </a:p>
          <a:p>
            <a:pPr lvl="1"/>
            <a:r>
              <a:rPr lang="en-US" sz="1600" dirty="0"/>
              <a:t>How well you performed relative to my expectations</a:t>
            </a:r>
          </a:p>
          <a:p>
            <a:r>
              <a:rPr lang="en-US" sz="2000" dirty="0"/>
              <a:t>Expectations = f(Past Performance)</a:t>
            </a:r>
          </a:p>
          <a:p>
            <a:pPr lvl="1"/>
            <a:r>
              <a:rPr lang="en-US" sz="1600" dirty="0"/>
              <a:t>What I expect from you is based on how well you did last time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8EC32C-E95C-436E-98D9-07E8B93CE5A1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53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F007CF5-19D7-4924-9C20-E01A8ECAD07A}"/>
              </a:ext>
            </a:extLst>
          </p:cNvPr>
          <p:cNvSpPr/>
          <p:nvPr/>
        </p:nvSpPr>
        <p:spPr>
          <a:xfrm>
            <a:off x="4201038" y="1772757"/>
            <a:ext cx="3241383" cy="3116362"/>
          </a:xfrm>
          <a:prstGeom prst="roundRect">
            <a:avLst>
              <a:gd name="adj" fmla="val 2180"/>
            </a:avLst>
          </a:prstGeom>
          <a:solidFill>
            <a:schemeClr val="bg1"/>
          </a:solidFill>
          <a:ln>
            <a:noFill/>
          </a:ln>
          <a:effectLst>
            <a:outerShdw blurRad="152400" dist="50800" dir="5400000" sx="99000" sy="99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  <a:alpha val="40000"/>
                </a:prst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170F1C-3255-41EF-8C3A-51DB376137A8}"/>
              </a:ext>
            </a:extLst>
          </p:cNvPr>
          <p:cNvSpPr/>
          <p:nvPr/>
        </p:nvSpPr>
        <p:spPr>
          <a:xfrm>
            <a:off x="7575893" y="1850709"/>
            <a:ext cx="3173709" cy="2963125"/>
          </a:xfrm>
          <a:prstGeom prst="roundRect">
            <a:avLst>
              <a:gd name="adj" fmla="val 2180"/>
            </a:avLst>
          </a:prstGeom>
          <a:solidFill>
            <a:schemeClr val="bg1"/>
          </a:solidFill>
          <a:ln>
            <a:noFill/>
          </a:ln>
          <a:effectLst>
            <a:outerShdw blurRad="152400" dist="50800" dir="5400000" sx="99000" sy="99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  <a:alpha val="40000"/>
                </a:prst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E9091F-D37E-4C12-874B-2346A0F7DF98}"/>
              </a:ext>
            </a:extLst>
          </p:cNvPr>
          <p:cNvSpPr/>
          <p:nvPr/>
        </p:nvSpPr>
        <p:spPr>
          <a:xfrm>
            <a:off x="696992" y="1772757"/>
            <a:ext cx="3173492" cy="3116362"/>
          </a:xfrm>
          <a:prstGeom prst="roundRect">
            <a:avLst>
              <a:gd name="adj" fmla="val 2180"/>
            </a:avLst>
          </a:prstGeom>
          <a:solidFill>
            <a:schemeClr val="bg1"/>
          </a:solidFill>
          <a:ln>
            <a:noFill/>
          </a:ln>
          <a:effectLst>
            <a:outerShdw blurRad="152400" dist="50800" dir="5400000" sx="99000" sy="99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  <a:alpha val="40000"/>
                </a:prst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4E1CF-CB1E-47AC-BEDB-BDCCE90B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6"/>
            <a:ext cx="10515600" cy="1325563"/>
          </a:xfrm>
        </p:spPr>
        <p:txBody>
          <a:bodyPr>
            <a:normAutofit/>
          </a:bodyPr>
          <a:lstStyle/>
          <a:p>
            <a:pPr algn="ctr" defTabSz="457200"/>
            <a:r>
              <a:rPr lang="en-US" sz="4000" b="1" dirty="0">
                <a:solidFill>
                  <a:srgbClr val="1470AF"/>
                </a:solidFill>
                <a:latin typeface="+mn-lt"/>
              </a:rPr>
              <a:t>Recap of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E241B-D3DF-4C79-ADCB-12F89DA9A8DE}"/>
              </a:ext>
            </a:extLst>
          </p:cNvPr>
          <p:cNvSpPr txBox="1"/>
          <p:nvPr/>
        </p:nvSpPr>
        <p:spPr>
          <a:xfrm>
            <a:off x="1396088" y="1416416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Chances of success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D767B-73F1-4BF5-ABD3-AB28BED96BA0}"/>
              </a:ext>
            </a:extLst>
          </p:cNvPr>
          <p:cNvSpPr txBox="1"/>
          <p:nvPr/>
        </p:nvSpPr>
        <p:spPr>
          <a:xfrm>
            <a:off x="4569580" y="1416416"/>
            <a:ext cx="28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Consistent investing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4E18C-5C80-41EB-85C5-DFC927423087}"/>
              </a:ext>
            </a:extLst>
          </p:cNvPr>
          <p:cNvSpPr txBox="1"/>
          <p:nvPr/>
        </p:nvSpPr>
        <p:spPr>
          <a:xfrm>
            <a:off x="7791000" y="1423185"/>
            <a:ext cx="27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Combine risk impact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893A1C-EC4F-471B-8D2F-F09B71218C6F}"/>
              </a:ext>
            </a:extLst>
          </p:cNvPr>
          <p:cNvSpPr txBox="1"/>
          <p:nvPr/>
        </p:nvSpPr>
        <p:spPr>
          <a:xfrm>
            <a:off x="1533738" y="1818055"/>
            <a:ext cx="224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 low-investment anomaly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DC2163-DFF2-4383-B502-9CC001D4D785}"/>
              </a:ext>
            </a:extLst>
          </p:cNvPr>
          <p:cNvSpPr txBox="1"/>
          <p:nvPr/>
        </p:nvSpPr>
        <p:spPr>
          <a:xfrm>
            <a:off x="4971704" y="1818055"/>
            <a:ext cx="224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Annual </a:t>
            </a:r>
            <a:r>
              <a:rPr lang="en-US" sz="14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investment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vs. Final Year Target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6215A9-47AC-4CFD-BF49-7B5CDE7AB4CA}"/>
              </a:ext>
            </a:extLst>
          </p:cNvPr>
          <p:cNvSpPr txBox="1"/>
          <p:nvPr/>
        </p:nvSpPr>
        <p:spPr>
          <a:xfrm>
            <a:off x="8132857" y="1819154"/>
            <a:ext cx="224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Amount at stake vs capital &amp; Budget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BE532F-FA49-4204-B00D-1998F4E6A8A4}"/>
              </a:ext>
            </a:extLst>
          </p:cNvPr>
          <p:cNvSpPr txBox="1"/>
          <p:nvPr/>
        </p:nvSpPr>
        <p:spPr>
          <a:xfrm>
            <a:off x="1028891" y="5033171"/>
            <a:ext cx="9585676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Poppins" panose="00000500000000000000" pitchFamily="2" charset="0"/>
              </a:rPr>
              <a:t>As previously mentioned in the abstract, </a:t>
            </a:r>
            <a:r>
              <a:rPr lang="en-US" sz="1600" dirty="0">
                <a:solidFill>
                  <a:prstClr val="black"/>
                </a:solidFill>
                <a:cs typeface="Poppins" panose="00000500000000000000" pitchFamily="2" charset="0"/>
              </a:rPr>
              <a:t>cash is king.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Poppins" panose="00000500000000000000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cs typeface="Poppins" panose="00000500000000000000" pitchFamily="2" charset="0"/>
              </a:rPr>
              <a:t>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Poppins" panose="00000500000000000000" pitchFamily="2" charset="0"/>
              </a:rPr>
              <a:t>he board of directors and top management should invest in international R&amp;D and try diversification.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Poppins" panose="00000500000000000000" pitchFamily="2" charset="0"/>
              </a:rPr>
              <a:t>Did revenues and profits increase?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0D5C9E-86F6-410D-AA0C-1019284C9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8370" y="2480267"/>
            <a:ext cx="3429000" cy="21145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E1CAB8F-4EF4-4B0F-BE7E-20FE0B1D9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5863" y="2369011"/>
            <a:ext cx="3429000" cy="225139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4CA51C-5D1E-461B-8609-16F098D61F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6992" y="2488580"/>
            <a:ext cx="3429000" cy="211455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93ABA08-8D56-1DCA-4E8D-296A5A3D4726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4DA2AE-C905-129C-E784-4AA0E6A5CA47}"/>
              </a:ext>
            </a:extLst>
          </p:cNvPr>
          <p:cNvSpPr/>
          <p:nvPr/>
        </p:nvSpPr>
        <p:spPr>
          <a:xfrm>
            <a:off x="7595863" y="2556719"/>
            <a:ext cx="177112" cy="12954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906A2E-C566-6F58-925B-0DEDD4376275}"/>
              </a:ext>
            </a:extLst>
          </p:cNvPr>
          <p:cNvSpPr/>
          <p:nvPr/>
        </p:nvSpPr>
        <p:spPr>
          <a:xfrm>
            <a:off x="4298370" y="2662581"/>
            <a:ext cx="177112" cy="12954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1DFBA03-87B1-B013-A00C-3FE664666F4E}"/>
              </a:ext>
            </a:extLst>
          </p:cNvPr>
          <p:cNvSpPr/>
          <p:nvPr/>
        </p:nvSpPr>
        <p:spPr>
          <a:xfrm>
            <a:off x="714431" y="2770620"/>
            <a:ext cx="177112" cy="12954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D6CF03C-3472-3C3C-A0AA-8CCD538D217D}"/>
              </a:ext>
            </a:extLst>
          </p:cNvPr>
          <p:cNvCxnSpPr>
            <a:cxnSpLocks/>
          </p:cNvCxnSpPr>
          <p:nvPr/>
        </p:nvCxnSpPr>
        <p:spPr>
          <a:xfrm flipV="1">
            <a:off x="8686800" y="2938949"/>
            <a:ext cx="1927767" cy="115829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1556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j4Fr8Z02kCoG7y955Bjw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izn3j_fCUGOIdmnL4S2c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mf6LJvAlEiIZzpk_NX4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mvOs8bqt0inGIlSA0AMx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PpkWf5xnEqFxbRTn95dM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74bNRnaokmh5RPjDKUE6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U6FbT0xr0WsTgg_i6zBB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9PPbr.JLE.Orh3ECZgQF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pJYdXT2hEeMMO9VmL7wz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GvOT0QQxUKuufh6KdkeF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8P7OoxkNkmz6JQ7UGBN5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jeB9bl1qEK2UBn9Q1rdG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gghxkJjlkGvtjKE81Gs4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vfa3nBUgUOBNhy..1rNx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imY67rVEyrWwmKQxyFx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6rhmBZQwUCAgCC7rDzY4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yAtDs5oNkiAuz6gc0mbj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718</TotalTime>
  <Words>437</Words>
  <Application>Microsoft Office PowerPoint</Application>
  <PresentationFormat>Panorámica</PresentationFormat>
  <Paragraphs>87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Poppins</vt:lpstr>
      <vt:lpstr>Office Theme</vt:lpstr>
      <vt:lpstr> 4 Managing the Global Business portfolio   </vt:lpstr>
      <vt:lpstr>Presentación de PowerPoint</vt:lpstr>
      <vt:lpstr>Presentación de PowerPoint</vt:lpstr>
      <vt:lpstr>Link Between Customer Expectations, MM’s AI Performance, and Satisfaction</vt:lpstr>
      <vt:lpstr>Understanding the Market</vt:lpstr>
      <vt:lpstr>Impact of Investment Decisions</vt:lpstr>
      <vt:lpstr>AI Impact of Investment Decisions (continued)</vt:lpstr>
      <vt:lpstr>Customer Management Process</vt:lpstr>
      <vt:lpstr>Customer Behavior</vt:lpstr>
      <vt:lpstr>Recap of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Business Simulation: Market Entry - Brief</dc:title>
  <dc:creator>Tim Rogmans</dc:creator>
  <cp:lastModifiedBy>Pr. Geoffrey Ditta</cp:lastModifiedBy>
  <cp:revision>74</cp:revision>
  <dcterms:created xsi:type="dcterms:W3CDTF">2021-12-13T10:26:46Z</dcterms:created>
  <dcterms:modified xsi:type="dcterms:W3CDTF">2026-02-09T09:12:16Z</dcterms:modified>
</cp:coreProperties>
</file>
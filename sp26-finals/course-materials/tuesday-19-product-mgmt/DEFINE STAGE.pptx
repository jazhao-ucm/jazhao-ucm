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9" autoAdjust="0"/>
    <p:restoredTop sz="94660"/>
  </p:normalViewPr>
  <p:slideViewPr>
    <p:cSldViewPr snapToGrid="0" showGuides="1">
      <p:cViewPr varScale="1">
        <p:scale>
          <a:sx n="47" d="100"/>
          <a:sy n="47" d="100"/>
        </p:scale>
        <p:origin x="76" y="3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B863E-061F-8903-41FC-A88145169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07E8BE-3703-7731-1E69-9627C9ED0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FF3F2F-B21F-E33B-4386-BD312684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9612-0749-4785-9B56-F51192AA85B4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3D74CC-37EB-3BD2-8655-BD03D1245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C8CF8-0A65-2192-88F0-0CBF9D823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9492-2DE3-48EA-8418-E1E6096435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644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6DB9B-DB09-2191-1B25-9615CFB8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EFA15B-4335-769F-834F-8636DD069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541F08-43CC-1BD8-73FD-F7DF86D72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9612-0749-4785-9B56-F51192AA85B4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7972B8-CCED-A483-BB2E-8DA2219F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1BFDEC-9752-6339-27FF-294ED620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9492-2DE3-48EA-8418-E1E6096435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105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657CA-FA6D-0D8C-077A-F304C184B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418486-EF7C-F32C-4333-BC8A913D7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1E1ED1-887E-ADDC-8B38-53DC2369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9612-0749-4785-9B56-F51192AA85B4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06F8E6-F1B1-71DD-DE07-966FDCF73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77D699-6857-FE53-F71D-768B98C6E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9492-2DE3-48EA-8418-E1E6096435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271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2C592-C0BE-B799-AF03-C968F871A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5B9D15-AAF4-5C53-BC8A-6809BB447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572162-4A3D-C8D1-AF7B-6A36C469A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07695C-FC45-F5CB-AC6D-DA8C85D7C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9612-0749-4785-9B56-F51192AA85B4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C20B3D-5F3F-A7C3-EFDF-F570C9EB9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A5A9AA-8CC6-56B0-4A93-6BE7FD93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9492-2DE3-48EA-8418-E1E6096435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0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86628-9521-497D-46E6-1D29D7562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18671E-9562-140F-493A-2C3C24F95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F3FFB2-404F-C1A6-8B61-42C7D4850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BC5EEB-62CD-4BB2-149B-1C1580895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0D6704-218B-C408-4C44-15604C7609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341CA55-5973-6DE0-62CC-E7EB7EFF5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9612-0749-4785-9B56-F51192AA85B4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FF5381-BB33-C1B8-CE89-0A7BC026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CF3ECDF-948D-6517-FB31-F8EA24B4B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9492-2DE3-48EA-8418-E1E6096435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676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E51DE-FD2D-AAD8-0A1B-00E877673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AFFCD5-15F8-59AA-D9C7-8F8C36916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9612-0749-4785-9B56-F51192AA85B4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015285-920D-35D0-DB54-353C9D04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6ED5DA-D8C4-A65D-1998-08429F49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9492-2DE3-48EA-8418-E1E6096435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5473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9CD40B-111C-F6D8-B8CC-6C4D2042D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9612-0749-4785-9B56-F51192AA85B4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0B3A26-C0B9-7DE9-8C6C-BAAAA3D56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9CC335-1DA7-6F39-675B-4271B2A67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9492-2DE3-48EA-8418-E1E6096435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80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A89CC-959C-C3CF-F451-7C7F7E158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8B7C0C-61E3-96E5-2AA6-F062A301E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9AAF14-99B2-0DA9-7CDC-C4CEBB654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4BDBF3-CF91-A559-3B1C-172AE507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9612-0749-4785-9B56-F51192AA85B4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D5365E-C857-0CC8-56C2-37B3A4AD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973A99-5EF6-50C2-C258-4031AC0F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9492-2DE3-48EA-8418-E1E6096435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479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16503-2F61-DBBF-19B6-32C861296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CD48736-FE96-91C0-39C5-1ABC49AAF5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8FD4E8-6A07-95BD-2201-6A89C1920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A1E217-2D63-15E1-A244-315AFD9B0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9612-0749-4785-9B56-F51192AA85B4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DCD513-1449-7184-CA04-3997367AC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1C59BE-B199-2429-99D4-EFF0B1E2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9492-2DE3-48EA-8418-E1E6096435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6515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087180-67A1-7EF4-A28C-A80096CEC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0605A92-BEC8-4742-A7AB-93D0C1C08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CF5018-6E63-246D-7633-2FAF71871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9612-0749-4785-9B56-F51192AA85B4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647BD9-DE49-51D6-F572-D5DE7D1AE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EB47F7-40AB-06B9-3621-35A28806E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9492-2DE3-48EA-8418-E1E6096435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613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E41ACCD-DFE8-D25E-E0A3-DDC5607F7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5C855B-F58E-76BF-1B23-48B417C7D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DB7BD5-0BC2-5DAF-CE13-5B6A24976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79612-0749-4785-9B56-F51192AA85B4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7C447B-C717-0678-17AA-0D74B0FA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124E86-851E-FAAD-AF09-BBB4D0D6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89492-2DE3-48EA-8418-E1E6096435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3562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8386D63-6480-DF9C-DA41-C18BE9531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63C8C0-78AA-2A2E-B368-2A61B68EB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B49AB3-8D5C-6C65-7469-78BA3C2D0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79612-0749-4785-9B56-F51192AA85B4}" type="datetimeFigureOut">
              <a:rPr lang="es-ES" smtClean="0"/>
              <a:t>23/03/2026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35636E-4A29-D7F7-B4C7-0A71A6CFD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A0266D-77FD-E854-4210-18F6F7593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89492-2DE3-48EA-8418-E1E6096435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6183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Vista trasera de filas de personas que están viendo una película en una sala de cine">
            <a:extLst>
              <a:ext uri="{FF2B5EF4-FFF2-40B4-BE49-F238E27FC236}">
                <a16:creationId xmlns:a16="http://schemas.microsoft.com/office/drawing/2014/main" id="{09B9DF94-7272-FA10-1858-5B83900BA6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6163" b="956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9FCAC8-F9E5-CEE9-1AA8-7BB18DBD9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DEFINE STAGE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7DC0C7-6513-9F2B-4C6E-30C4EAEA7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DESIGN THINKING IN YIAMI</a:t>
            </a:r>
          </a:p>
        </p:txBody>
      </p:sp>
    </p:spTree>
    <p:extLst>
      <p:ext uri="{BB962C8B-B14F-4D97-AF65-F5344CB8AC3E}">
        <p14:creationId xmlns:p14="http://schemas.microsoft.com/office/powerpoint/2010/main" val="255194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339F8-A0E1-CA34-0F6B-D4C0E7D36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WHAT – HOW -WHY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CE99AE-8DA3-16CC-AADF-7479D31A1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What: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Users meet through a mix of </a:t>
            </a:r>
            <a:r>
              <a:rPr lang="en-US" b="1" dirty="0"/>
              <a:t>"third spaces"</a:t>
            </a:r>
            <a:r>
              <a:rPr lang="en-US" dirty="0"/>
              <a:t> (cafes, university lounges), </a:t>
            </a:r>
            <a:r>
              <a:rPr lang="en-US" b="1" dirty="0"/>
              <a:t>structured hobbies</a:t>
            </a:r>
            <a:r>
              <a:rPr lang="en-US" dirty="0"/>
              <a:t> (board games, coding jams, sports), </a:t>
            </a:r>
            <a:r>
              <a:rPr lang="en-US" b="1" dirty="0"/>
              <a:t>digital filters</a:t>
            </a:r>
            <a:r>
              <a:rPr lang="en-US" dirty="0"/>
              <a:t> (Discord, specialized apps), and </a:t>
            </a:r>
            <a:r>
              <a:rPr lang="en-US" b="1" dirty="0"/>
              <a:t>mutual connections</a:t>
            </a:r>
            <a:r>
              <a:rPr lang="en-US" dirty="0"/>
              <a:t> (friends of friends).</a:t>
            </a:r>
          </a:p>
          <a:p>
            <a:r>
              <a:rPr lang="en-US" dirty="0"/>
              <a:t>How:</a:t>
            </a:r>
          </a:p>
          <a:p>
            <a:pPr lvl="1"/>
            <a:r>
              <a:rPr lang="en-US" dirty="0"/>
              <a:t>Interactions range from </a:t>
            </a:r>
            <a:r>
              <a:rPr lang="en-US" b="1" dirty="0"/>
              <a:t>low-pressure "planned serendipity"</a:t>
            </a:r>
            <a:r>
              <a:rPr lang="en-US" dirty="0"/>
              <a:t> to high-stakes </a:t>
            </a:r>
            <a:r>
              <a:rPr lang="en-US" b="1" dirty="0"/>
              <a:t>structured networking</a:t>
            </a:r>
            <a:r>
              <a:rPr lang="en-US" dirty="0"/>
              <a:t>. Users often use activities as a </a:t>
            </a:r>
            <a:r>
              <a:rPr lang="en-US" b="1" dirty="0"/>
              <a:t>"buffer"</a:t>
            </a:r>
            <a:r>
              <a:rPr lang="en-US" dirty="0"/>
              <a:t> to manage social anxiety or "social masks. Users may test </a:t>
            </a:r>
            <a:r>
              <a:rPr lang="en-US" b="1" dirty="0"/>
              <a:t>"digital chemistry"</a:t>
            </a:r>
            <a:r>
              <a:rPr lang="en-US" dirty="0"/>
              <a:t> via the rhythm and humor of text exchanges</a:t>
            </a:r>
          </a:p>
          <a:p>
            <a:r>
              <a:rPr lang="en-US" b="1" dirty="0"/>
              <a:t>Why: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Users seek </a:t>
            </a:r>
            <a:r>
              <a:rPr lang="en-US" b="1" dirty="0"/>
              <a:t>"digital chemistry,"</a:t>
            </a:r>
            <a:r>
              <a:rPr lang="en-US" dirty="0"/>
              <a:t> </a:t>
            </a:r>
            <a:r>
              <a:rPr lang="en-US" b="1" dirty="0"/>
              <a:t>"solidarity in the trenches,"</a:t>
            </a:r>
            <a:r>
              <a:rPr lang="en-US" dirty="0"/>
              <a:t> or a </a:t>
            </a:r>
            <a:r>
              <a:rPr lang="en-US" b="1" dirty="0"/>
              <a:t>"vibe check"</a:t>
            </a:r>
            <a:r>
              <a:rPr lang="en-US" dirty="0"/>
              <a:t> to ensure potential friends share their values, intellectual humility, or lifestyle goals. The ultimate goal is to find </a:t>
            </a:r>
            <a:r>
              <a:rPr lang="en-US" b="1" dirty="0"/>
              <a:t>authentic human encounters</a:t>
            </a:r>
            <a:r>
              <a:rPr lang="en-US" dirty="0"/>
              <a:t> that move beyond the "Where are you from?" script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77687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1894B-A6A5-C337-889B-706E2BAC4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PERSONAS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125288-D830-CB4B-832C-58880E6FD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The Social Connector:</a:t>
            </a:r>
            <a:r>
              <a:rPr lang="en-US" dirty="0"/>
              <a:t> Primarily relies on </a:t>
            </a:r>
            <a:r>
              <a:rPr lang="en-US" b="1" dirty="0"/>
              <a:t>mutual friends</a:t>
            </a:r>
            <a:r>
              <a:rPr lang="en-US" dirty="0"/>
              <a:t> and parties. They use their existing network as a </a:t>
            </a:r>
            <a:r>
              <a:rPr lang="en-US" b="1" dirty="0"/>
              <a:t>"human recommendation engine"</a:t>
            </a:r>
            <a:r>
              <a:rPr lang="en-US" dirty="0"/>
              <a:t> and value high-energy, spontaneous interactions</a:t>
            </a:r>
          </a:p>
          <a:p>
            <a:r>
              <a:rPr lang="en-US" b="1" dirty="0"/>
              <a:t>The Niche Introvert:</a:t>
            </a:r>
            <a:r>
              <a:rPr lang="en-US" dirty="0"/>
              <a:t> Uses </a:t>
            </a:r>
            <a:r>
              <a:rPr lang="en-US" b="1" dirty="0"/>
              <a:t>structured buffers</a:t>
            </a:r>
            <a:r>
              <a:rPr lang="en-US" dirty="0"/>
              <a:t> (board games, code jams, niche Discord servers) to make talking to strangers feel safe. They prioritize </a:t>
            </a:r>
            <a:r>
              <a:rPr lang="en-US" b="1" dirty="0"/>
              <a:t>logic, reliability, and "low-maintenance energy</a:t>
            </a:r>
          </a:p>
          <a:p>
            <a:r>
              <a:rPr lang="en-US" b="1" dirty="0"/>
              <a:t>The Purpose-Driven Partner:</a:t>
            </a:r>
            <a:r>
              <a:rPr lang="en-US" dirty="0"/>
              <a:t> Meets people through </a:t>
            </a:r>
            <a:r>
              <a:rPr lang="en-US" b="1" dirty="0"/>
              <a:t>shared physical effort or intellectual curiosity</a:t>
            </a:r>
            <a:r>
              <a:rPr lang="en-US" dirty="0"/>
              <a:t> (sports leagues, language exchanges). They value </a:t>
            </a:r>
            <a:r>
              <a:rPr lang="en-US" b="1" dirty="0"/>
              <a:t>"shared value"</a:t>
            </a:r>
            <a:r>
              <a:rPr lang="en-US" dirty="0"/>
              <a:t> and seeing people without their social masks</a:t>
            </a:r>
          </a:p>
          <a:p>
            <a:r>
              <a:rPr lang="en-US" b="1" dirty="0"/>
              <a:t>The Community Pillar:</a:t>
            </a:r>
            <a:r>
              <a:rPr lang="en-US" dirty="0"/>
              <a:t> Relies on </a:t>
            </a:r>
            <a:r>
              <a:rPr lang="en-US" b="1" dirty="0"/>
              <a:t>local proximity and life stages</a:t>
            </a:r>
            <a:r>
              <a:rPr lang="en-US" dirty="0"/>
              <a:t> (school gates, community gardens, parish newsletters). They seek </a:t>
            </a:r>
            <a:r>
              <a:rPr lang="en-US" b="1" dirty="0"/>
              <a:t>consistency and continuity</a:t>
            </a:r>
            <a:r>
              <a:rPr lang="en-US" dirty="0"/>
              <a:t> over intensity</a:t>
            </a:r>
          </a:p>
          <a:p>
            <a:r>
              <a:rPr lang="en-US" b="1" dirty="0"/>
              <a:t>The Situational Connector:</a:t>
            </a:r>
            <a:r>
              <a:rPr lang="en-US" dirty="0"/>
              <a:t> They meet others naturally through </a:t>
            </a:r>
            <a:r>
              <a:rPr lang="en-US" b="1" dirty="0"/>
              <a:t>repeated interaction in shared settings</a:t>
            </a:r>
            <a:r>
              <a:rPr lang="en-US" dirty="0"/>
              <a:t> like academic classes, work internships, or neighborhood groups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6869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C1664E-69F3-DF5B-D4ED-BBE79B7C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CUSTOMER JOURNEY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DA1740-669D-D6FC-53FA-4CD33CA8D3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3801"/>
            <a:ext cx="10515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Exposure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Becoming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aware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connections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clubs.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Interaction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Starting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conversations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shared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activities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dirty="0"/>
              <a:t>Users assess whether the interaction feels </a:t>
            </a:r>
            <a:r>
              <a:rPr lang="en-US" sz="2400" b="1" dirty="0"/>
              <a:t>natural or forced</a:t>
            </a:r>
            <a:r>
              <a:rPr lang="en-US" sz="2400" dirty="0"/>
              <a:t>, looking for shared interests and "digital chemistry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dirty="0"/>
              <a:t>If the interaction is positive, they </a:t>
            </a:r>
            <a:r>
              <a:rPr lang="en-US" sz="2400" b="1" dirty="0"/>
              <a:t>exchange contact information or social media</a:t>
            </a:r>
            <a:r>
              <a:rPr lang="en-US" sz="2400" dirty="0"/>
              <a:t> (like Instagram handles) to move beyond the initial setting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</a:t>
            </a:r>
            <a:r>
              <a:rPr kumimoji="0" lang="es-ES" altLang="es-E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Moving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"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real human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being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continued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interaction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3997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E3543-ACC1-53CC-DFC1-78CFAF77E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PAINS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455F5F-9287-FD10-1BD5-FCFD3CF327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70133"/>
            <a:ext cx="1064830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"Factory"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Feeling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orientation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mixers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often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feel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superficial,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physically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draining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performative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Forced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Socializing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Mandatory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bureaucratic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meetings (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PTA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unions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rigid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roles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genuine human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beings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Transactional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Networking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rather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together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Burden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Small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Talk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exhaustion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repetitive,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surface-level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"scripts"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reaching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meaningful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connection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Masking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seeing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person's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"real"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self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until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moment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shared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stress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physical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effort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occurs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8730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FB070-6568-8074-F8B2-4CD10CCF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POINT OF 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95D599-394C-C967-0B9A-25792C66CC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62138"/>
            <a:ext cx="1037090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/>
              <a:t>The Social Connector</a:t>
            </a:r>
            <a:r>
              <a:rPr lang="en-US" sz="1800" dirty="0"/>
              <a:t> needs </a:t>
            </a:r>
            <a:r>
              <a:rPr lang="en-US" sz="1800" b="1" dirty="0"/>
              <a:t>curated social gatekeepers</a:t>
            </a:r>
            <a:r>
              <a:rPr lang="en-US" sz="1800" dirty="0"/>
              <a:t> because they view their friends as a "human recommendation engine" and find random, unvetted social encounters to be an inefficient "drain" on their energy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/>
              <a:t>The Niche Introvert</a:t>
            </a:r>
            <a:r>
              <a:rPr lang="en-US" sz="1800" dirty="0"/>
              <a:t> needs </a:t>
            </a:r>
            <a:r>
              <a:rPr lang="en-US" sz="1800" b="1" dirty="0"/>
              <a:t>structured social buffers</a:t>
            </a:r>
            <a:r>
              <a:rPr lang="en-US" sz="1800" dirty="0"/>
              <a:t> because a "common enemy"—like a difficult game or a code bug—acts as a protective shield that allows their true personality to emerge without the pressure to perform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/>
              <a:t>The Purpose-Driven Partner</a:t>
            </a:r>
            <a:r>
              <a:rPr lang="en-US" sz="1800" dirty="0"/>
              <a:t> needs </a:t>
            </a:r>
            <a:r>
              <a:rPr lang="en-US" sz="1800" b="1" dirty="0"/>
              <a:t>high-stakes shared activities</a:t>
            </a:r>
            <a:r>
              <a:rPr lang="en-US" sz="1800" dirty="0"/>
              <a:t> because physical effort and common goals "strip away the social mask," revealing a person's authentic character faster than traditional conversation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/>
              <a:t>The Community Pillar</a:t>
            </a:r>
            <a:r>
              <a:rPr lang="en-US" sz="1800" dirty="0"/>
              <a:t> needs </a:t>
            </a:r>
            <a:r>
              <a:rPr lang="en-US" sz="1800" b="1" dirty="0"/>
              <a:t>"planned happenstance" locations</a:t>
            </a:r>
            <a:r>
              <a:rPr lang="en-US" sz="1800" dirty="0"/>
              <a:t> because they prioritize consistency over intensity, and trust is built by "becoming part of the furniture" through repeated local encounters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/>
              <a:t>A Situational Connector</a:t>
            </a:r>
            <a:r>
              <a:rPr lang="en-US" sz="1800" dirty="0"/>
              <a:t> (such as a student or intern) who feels "shy and quiet" during initial social encounters needs low-stakes social scaffolding—such as group projects or shared work tasks—that provides a mandatory, external reason to interact, because for these users, friendships form naturally as a byproduct of a shared task; the "forced" nature of a professional or academic objective actually provides a "protective bridge" that bypasses the stress of spontaneous socializing and allows authentic connection to emerge without the pressure of a direct "friendship" intention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5142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765</Words>
  <Application>Microsoft Office PowerPoint</Application>
  <PresentationFormat>Panorámica</PresentationFormat>
  <Paragraphs>33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DEFINE STAGE</vt:lpstr>
      <vt:lpstr>WHAT – HOW -WHY</vt:lpstr>
      <vt:lpstr>PERSONAS</vt:lpstr>
      <vt:lpstr>CUSTOMER JOURNEY</vt:lpstr>
      <vt:lpstr>PAINS</vt:lpstr>
      <vt:lpstr>POINT OF VIEW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Sandulli</dc:creator>
  <cp:lastModifiedBy>Francesco Sandulli</cp:lastModifiedBy>
  <cp:revision>1</cp:revision>
  <dcterms:created xsi:type="dcterms:W3CDTF">2026-03-22T23:12:59Z</dcterms:created>
  <dcterms:modified xsi:type="dcterms:W3CDTF">2026-03-22T23:35:03Z</dcterms:modified>
</cp:coreProperties>
</file>
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877cf0f4d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877cf0f4d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Warlouzet asks how the European Economic Community, which was still just a limited economic project in 1969 that worked to remove trade barriers, became the much more ambitious European Union by 1992. His argument is that this transformation was not inevitable. It happened because European leaders responded to economic crises, geopolitical shocks, and internal political conflicts by increasing integration. The EU reinvented itself and adjusted through flexibility and negotiation.</a:t>
            </a:r>
            <a:endParaRPr/>
          </a:p>
          <a:p>
            <a:pPr indent="0" lvl="0" marL="0" rtl="0" algn="l">
              <a:lnSpc>
                <a:spcPct val="115000"/>
              </a:lnSpc>
              <a:spcBef>
                <a:spcPts val="1200"/>
              </a:spcBef>
              <a:spcAft>
                <a:spcPts val="0"/>
              </a:spcAft>
              <a:buClr>
                <a:schemeClr val="dk1"/>
              </a:buClr>
              <a:buSzPts val="1100"/>
              <a:buFont typeface="Arial"/>
              <a:buNone/>
            </a:pPr>
            <a:r>
              <a:rPr lang="en"/>
              <a:t>So this chapter is mainly about resilience and how integration was crisis driven and how the EU became much more ambitious.</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877cf0f4d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877cf0f4d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Hague Summit was the starting point. European leaders agreed on a three-part strategy known as the Hague Triptych that included completion, deepening, and enlargement.</a:t>
            </a:r>
            <a:endParaRPr/>
          </a:p>
          <a:p>
            <a:pPr indent="0" lvl="0" marL="0" rtl="0" algn="l">
              <a:lnSpc>
                <a:spcPct val="115000"/>
              </a:lnSpc>
              <a:spcBef>
                <a:spcPts val="1200"/>
              </a:spcBef>
              <a:spcAft>
                <a:spcPts val="0"/>
              </a:spcAft>
              <a:buClr>
                <a:schemeClr val="dk1"/>
              </a:buClr>
              <a:buSzPts val="1100"/>
              <a:buFont typeface="Arial"/>
              <a:buNone/>
            </a:pPr>
            <a:r>
              <a:rPr lang="en"/>
              <a:t>Completion meant finishing and stabilizing the original Common Market to create institutional stability.</a:t>
            </a:r>
            <a:endParaRPr/>
          </a:p>
          <a:p>
            <a:pPr indent="0" lvl="0" marL="0" rtl="0" algn="l">
              <a:lnSpc>
                <a:spcPct val="115000"/>
              </a:lnSpc>
              <a:spcBef>
                <a:spcPts val="1200"/>
              </a:spcBef>
              <a:spcAft>
                <a:spcPts val="0"/>
              </a:spcAft>
              <a:buClr>
                <a:schemeClr val="dk1"/>
              </a:buClr>
              <a:buSzPts val="1100"/>
              <a:buFont typeface="Arial"/>
              <a:buNone/>
            </a:pPr>
            <a:r>
              <a:rPr lang="en"/>
              <a:t>Deepening meant going beyond trade and agriculture and expanding into new areas like monetary, social, and foreign policies.</a:t>
            </a:r>
            <a:endParaRPr/>
          </a:p>
          <a:p>
            <a:pPr indent="0" lvl="0" marL="0" rtl="0" algn="l">
              <a:lnSpc>
                <a:spcPct val="115000"/>
              </a:lnSpc>
              <a:spcBef>
                <a:spcPts val="1200"/>
              </a:spcBef>
              <a:spcAft>
                <a:spcPts val="0"/>
              </a:spcAft>
              <a:buClr>
                <a:schemeClr val="dk1"/>
              </a:buClr>
              <a:buSzPts val="1100"/>
              <a:buFont typeface="Arial"/>
              <a:buNone/>
            </a:pPr>
            <a:r>
              <a:rPr lang="en"/>
              <a:t>And Enlargement meant bringing in new states, especially Britain.</a:t>
            </a:r>
            <a:endParaRPr/>
          </a:p>
          <a:p>
            <a:pPr indent="0" lvl="0" marL="0" rtl="0" algn="l">
              <a:lnSpc>
                <a:spcPct val="115000"/>
              </a:lnSpc>
              <a:spcBef>
                <a:spcPts val="1200"/>
              </a:spcBef>
              <a:spcAft>
                <a:spcPts val="0"/>
              </a:spcAft>
              <a:buClr>
                <a:schemeClr val="dk1"/>
              </a:buClr>
              <a:buSzPts val="1100"/>
              <a:buFont typeface="Arial"/>
              <a:buNone/>
            </a:pPr>
            <a:r>
              <a:rPr lang="en"/>
              <a:t>This strategy structured the next two decades and everything that comes next in the chapter fits into one of these three goals.</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877cf0f4d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877cf0f4d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1970s were extremely difficult due to Oil shocks triggering stagflation and unemployment. Also, when Britain joined the European community, they felt they were putting more money in than they were </a:t>
            </a:r>
            <a:r>
              <a:rPr lang="en"/>
              <a:t>receiving</a:t>
            </a:r>
            <a:r>
              <a:rPr lang="en"/>
              <a:t> since most of the money went towards CAP and farmer subsidies, but Britain had a </a:t>
            </a:r>
            <a:r>
              <a:rPr lang="en"/>
              <a:t>more</a:t>
            </a:r>
            <a:r>
              <a:rPr lang="en"/>
              <a:t> industrial and urban economy. So Britain said this was unfair and challenged the community. So many other historians called this slow period Eurosclerosis, because Europe was unable to move </a:t>
            </a:r>
            <a:r>
              <a:rPr lang="en"/>
              <a:t>forward.</a:t>
            </a:r>
            <a:endParaRPr/>
          </a:p>
          <a:p>
            <a:pPr indent="0" lvl="0" marL="0" rtl="0" algn="l">
              <a:lnSpc>
                <a:spcPct val="115000"/>
              </a:lnSpc>
              <a:spcBef>
                <a:spcPts val="1200"/>
              </a:spcBef>
              <a:spcAft>
                <a:spcPts val="0"/>
              </a:spcAft>
              <a:buClr>
                <a:schemeClr val="dk1"/>
              </a:buClr>
              <a:buSzPts val="1100"/>
              <a:buFont typeface="Arial"/>
              <a:buNone/>
            </a:pPr>
            <a:r>
              <a:rPr lang="en"/>
              <a:t>But Warlouzet argued that if you looked closer, integration did not stop but it instead, changed form.</a:t>
            </a:r>
            <a:endParaRPr/>
          </a:p>
          <a:p>
            <a:pPr indent="0" lvl="0" marL="0" rtl="0" algn="l">
              <a:lnSpc>
                <a:spcPct val="115000"/>
              </a:lnSpc>
              <a:spcBef>
                <a:spcPts val="1200"/>
              </a:spcBef>
              <a:spcAft>
                <a:spcPts val="0"/>
              </a:spcAft>
              <a:buClr>
                <a:schemeClr val="dk1"/>
              </a:buClr>
              <a:buSzPts val="1100"/>
              <a:buFont typeface="Arial"/>
              <a:buNone/>
            </a:pPr>
            <a:r>
              <a:rPr lang="en"/>
              <a:t>The Court of Justice advanced integration through landmark rulings like Cassis de Dijon, which introduced mutual recognition. The European Parliament was directly elected by citizens for the first time in 1979 instead of being appointed. And The European Monetary System was created, which was a step towards a single currency.</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877cf0f4d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877cf0f4d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During the 70s crisis, the institutional balance between intergovernmental power and supranational power evolved.</a:t>
            </a:r>
            <a:endParaRPr/>
          </a:p>
          <a:p>
            <a:pPr indent="0" lvl="0" marL="0" rtl="0" algn="l">
              <a:lnSpc>
                <a:spcPct val="115000"/>
              </a:lnSpc>
              <a:spcBef>
                <a:spcPts val="1200"/>
              </a:spcBef>
              <a:spcAft>
                <a:spcPts val="0"/>
              </a:spcAft>
              <a:buClr>
                <a:schemeClr val="dk1"/>
              </a:buClr>
              <a:buSzPts val="1100"/>
              <a:buFont typeface="Arial"/>
              <a:buNone/>
            </a:pPr>
            <a:r>
              <a:rPr lang="en"/>
              <a:t>The European Council formalized heads of state meetings, which strengthened intergovernmental leadership.</a:t>
            </a:r>
            <a:endParaRPr/>
          </a:p>
          <a:p>
            <a:pPr indent="0" lvl="0" marL="0" rtl="0" algn="l">
              <a:lnSpc>
                <a:spcPct val="115000"/>
              </a:lnSpc>
              <a:spcBef>
                <a:spcPts val="1200"/>
              </a:spcBef>
              <a:spcAft>
                <a:spcPts val="0"/>
              </a:spcAft>
              <a:buClr>
                <a:schemeClr val="dk1"/>
              </a:buClr>
              <a:buSzPts val="1100"/>
              <a:buFont typeface="Arial"/>
              <a:buNone/>
            </a:pPr>
            <a:r>
              <a:rPr lang="en"/>
              <a:t>At the same time, the Court of Justice expanded supranational law.</a:t>
            </a:r>
            <a:endParaRPr/>
          </a:p>
          <a:p>
            <a:pPr indent="0" lvl="0" marL="0" rtl="0" algn="l">
              <a:lnSpc>
                <a:spcPct val="115000"/>
              </a:lnSpc>
              <a:spcBef>
                <a:spcPts val="1200"/>
              </a:spcBef>
              <a:spcAft>
                <a:spcPts val="0"/>
              </a:spcAft>
              <a:buClr>
                <a:schemeClr val="dk1"/>
              </a:buClr>
              <a:buSzPts val="1100"/>
              <a:buFont typeface="Arial"/>
              <a:buNone/>
            </a:pPr>
            <a:r>
              <a:rPr lang="en"/>
              <a:t>So we see the constant tension reaching a solution where member states </a:t>
            </a:r>
            <a:r>
              <a:rPr lang="en"/>
              <a:t>retained </a:t>
            </a:r>
            <a:r>
              <a:rPr lang="en"/>
              <a:t>control, but supranational institutions gained influence.</a:t>
            </a:r>
            <a:endParaRPr/>
          </a:p>
          <a:p>
            <a:pPr indent="0" lvl="0" marL="0" rtl="0" algn="l">
              <a:lnSpc>
                <a:spcPct val="115000"/>
              </a:lnSpc>
              <a:spcBef>
                <a:spcPts val="1200"/>
              </a:spcBef>
              <a:spcAft>
                <a:spcPts val="0"/>
              </a:spcAft>
              <a:buClr>
                <a:schemeClr val="dk1"/>
              </a:buClr>
              <a:buSzPts val="1100"/>
              <a:buFont typeface="Arial"/>
              <a:buNone/>
            </a:pPr>
            <a:r>
              <a:rPr lang="en"/>
              <a:t>Warlouzet shows that this hybrid structure allowed for flexibility and survival.</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877cf0f4d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877cf0f4d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By the mid-1980s, integration was blocked by three issues: Britain’s budget demands, CAP reform, and Spanish enlargement.</a:t>
            </a:r>
            <a:endParaRPr/>
          </a:p>
          <a:p>
            <a:pPr indent="0" lvl="0" marL="0" rtl="0" algn="l">
              <a:lnSpc>
                <a:spcPct val="115000"/>
              </a:lnSpc>
              <a:spcBef>
                <a:spcPts val="1200"/>
              </a:spcBef>
              <a:spcAft>
                <a:spcPts val="0"/>
              </a:spcAft>
              <a:buClr>
                <a:schemeClr val="dk1"/>
              </a:buClr>
              <a:buSzPts val="1100"/>
              <a:buFont typeface="Arial"/>
              <a:buNone/>
            </a:pPr>
            <a:r>
              <a:rPr lang="en"/>
              <a:t>The </a:t>
            </a:r>
            <a:r>
              <a:rPr lang="en"/>
              <a:t>breakthrough in 1984 was caused by France and Germany cooperating and British receiving a rebate in 1984 from the Fontainebleau European Council. This paved the way for the Single European Act. With the budget crisis fixed, then enlargement of spain could proceed and </a:t>
            </a:r>
            <a:r>
              <a:rPr lang="en"/>
              <a:t>Jacques Delors who was the </a:t>
            </a:r>
            <a:r>
              <a:rPr lang="en"/>
              <a:t>commission</a:t>
            </a:r>
            <a:r>
              <a:rPr lang="en"/>
              <a:t> President could reframe integration around completing the internal market by 1992.</a:t>
            </a:r>
            <a:endParaRPr/>
          </a:p>
          <a:p>
            <a:pPr indent="0" lvl="0" marL="0" rtl="0" algn="l">
              <a:lnSpc>
                <a:spcPct val="115000"/>
              </a:lnSpc>
              <a:spcBef>
                <a:spcPts val="1200"/>
              </a:spcBef>
              <a:spcAft>
                <a:spcPts val="0"/>
              </a:spcAft>
              <a:buClr>
                <a:schemeClr val="dk1"/>
              </a:buClr>
              <a:buSzPts val="1100"/>
              <a:buFont typeface="Arial"/>
              <a:buNone/>
            </a:pPr>
            <a:r>
              <a:rPr lang="en"/>
              <a:t>The Single European Act made in 1986 expanded qualified majority voting, which made legislation easier to pass.</a:t>
            </a:r>
            <a:endParaRPr/>
          </a:p>
          <a:p>
            <a:pPr indent="0" lvl="0" marL="0" rtl="0" algn="l">
              <a:lnSpc>
                <a:spcPct val="115000"/>
              </a:lnSpc>
              <a:spcBef>
                <a:spcPts val="1200"/>
              </a:spcBef>
              <a:spcAft>
                <a:spcPts val="0"/>
              </a:spcAft>
              <a:buClr>
                <a:schemeClr val="dk1"/>
              </a:buClr>
              <a:buSzPts val="1100"/>
              <a:buFont typeface="Arial"/>
              <a:buNone/>
            </a:pPr>
            <a:r>
              <a:rPr lang="en"/>
              <a:t>This was a major turning point as It relaunched integration and created momentum. So from the 70s to the 80s, integration shifted from stagnation to acceleration.</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877cf0f4d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877cf0f4d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Once the internal market was in progress, monetary union was the next logical step.</a:t>
            </a:r>
            <a:endParaRPr/>
          </a:p>
          <a:p>
            <a:pPr indent="0" lvl="0" marL="0" rtl="0" algn="l">
              <a:lnSpc>
                <a:spcPct val="115000"/>
              </a:lnSpc>
              <a:spcBef>
                <a:spcPts val="1200"/>
              </a:spcBef>
              <a:spcAft>
                <a:spcPts val="0"/>
              </a:spcAft>
              <a:buClr>
                <a:schemeClr val="dk1"/>
              </a:buClr>
              <a:buSzPts val="1100"/>
              <a:buFont typeface="Arial"/>
              <a:buNone/>
            </a:pPr>
            <a:r>
              <a:rPr lang="en"/>
              <a:t>Technically, a single currency would improve efficiency.</a:t>
            </a:r>
            <a:endParaRPr/>
          </a:p>
          <a:p>
            <a:pPr indent="0" lvl="0" marL="0" rtl="0" algn="l">
              <a:lnSpc>
                <a:spcPct val="115000"/>
              </a:lnSpc>
              <a:spcBef>
                <a:spcPts val="1200"/>
              </a:spcBef>
              <a:spcAft>
                <a:spcPts val="0"/>
              </a:spcAft>
              <a:buClr>
                <a:schemeClr val="dk1"/>
              </a:buClr>
              <a:buSzPts val="1100"/>
              <a:buFont typeface="Arial"/>
              <a:buNone/>
            </a:pPr>
            <a:r>
              <a:rPr lang="en"/>
              <a:t>Financially, weak-currency states wanted stability tied to </a:t>
            </a:r>
            <a:r>
              <a:rPr lang="en"/>
              <a:t>the</a:t>
            </a:r>
            <a:r>
              <a:rPr lang="en"/>
              <a:t> </a:t>
            </a:r>
            <a:r>
              <a:rPr lang="en"/>
              <a:t>Deutschmark</a:t>
            </a:r>
            <a:r>
              <a:rPr lang="en"/>
              <a:t> low inflation rate.</a:t>
            </a:r>
            <a:endParaRPr/>
          </a:p>
          <a:p>
            <a:pPr indent="0" lvl="0" marL="0" rtl="0" algn="l">
              <a:lnSpc>
                <a:spcPct val="115000"/>
              </a:lnSpc>
              <a:spcBef>
                <a:spcPts val="1200"/>
              </a:spcBef>
              <a:spcAft>
                <a:spcPts val="0"/>
              </a:spcAft>
              <a:buClr>
                <a:schemeClr val="dk1"/>
              </a:buClr>
              <a:buSzPts val="1100"/>
              <a:buFont typeface="Arial"/>
              <a:buNone/>
            </a:pPr>
            <a:r>
              <a:rPr lang="en"/>
              <a:t>Politically, German reunification created anxiety about a powerful Germany. Monetary union helped anchor Germany inside Europe. </a:t>
            </a:r>
            <a:r>
              <a:rPr lang="en">
                <a:solidFill>
                  <a:schemeClr val="dk1"/>
                </a:solidFill>
              </a:rPr>
              <a:t>So, monetary union was both economic and deeply political.</a:t>
            </a:r>
            <a:endParaRPr/>
          </a:p>
          <a:p>
            <a:pPr indent="0" lvl="0" marL="0" rtl="0" algn="l">
              <a:lnSpc>
                <a:spcPct val="115000"/>
              </a:lnSpc>
              <a:spcBef>
                <a:spcPts val="1200"/>
              </a:spcBef>
              <a:spcAft>
                <a:spcPts val="0"/>
              </a:spcAft>
              <a:buClr>
                <a:schemeClr val="dk1"/>
              </a:buClr>
              <a:buSzPts val="1100"/>
              <a:buFont typeface="Arial"/>
              <a:buNone/>
            </a:pPr>
            <a:r>
              <a:rPr lang="en"/>
              <a:t>The Delors Report in 1989 outlined a three-stage path for this.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877cf0f4d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877cf0f4d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In 1992 the </a:t>
            </a:r>
            <a:r>
              <a:rPr lang="en"/>
              <a:t>Maastricht Treaty formally created the European Union, which laid the legal foundation and established the path for the Euro.</a:t>
            </a:r>
            <a:endParaRPr/>
          </a:p>
          <a:p>
            <a:pPr indent="0" lvl="0" marL="0" rtl="0" algn="l">
              <a:lnSpc>
                <a:spcPct val="115000"/>
              </a:lnSpc>
              <a:spcBef>
                <a:spcPts val="1200"/>
              </a:spcBef>
              <a:spcAft>
                <a:spcPts val="0"/>
              </a:spcAft>
              <a:buClr>
                <a:schemeClr val="dk1"/>
              </a:buClr>
              <a:buSzPts val="1100"/>
              <a:buFont typeface="Arial"/>
              <a:buNone/>
            </a:pPr>
            <a:r>
              <a:rPr lang="en"/>
              <a:t>It was divided into a 3 pillar structure of European Communities, Common Foreign and Security policy, and Justice and Home affairs. Pillar 2 and 3 were mostly intergovernmental while the 1st pillar was mostly supranational power.</a:t>
            </a:r>
            <a:endParaRPr/>
          </a:p>
          <a:p>
            <a:pPr indent="0" lvl="0" marL="0" rtl="0" algn="l">
              <a:lnSpc>
                <a:spcPct val="115000"/>
              </a:lnSpc>
              <a:spcBef>
                <a:spcPts val="1200"/>
              </a:spcBef>
              <a:spcAft>
                <a:spcPts val="0"/>
              </a:spcAft>
              <a:buNone/>
            </a:pPr>
            <a:r>
              <a:rPr lang="en"/>
              <a:t>It also introduced EU citizenship, so citizens had rights to freedom of movement and voting in European </a:t>
            </a:r>
            <a:r>
              <a:rPr lang="en"/>
              <a:t>and</a:t>
            </a:r>
            <a:r>
              <a:rPr lang="en"/>
              <a:t> local elections in another EU country.</a:t>
            </a:r>
            <a:endParaRPr/>
          </a:p>
          <a:p>
            <a:pPr indent="0" lvl="0" marL="0" rtl="0" algn="l">
              <a:lnSpc>
                <a:spcPct val="115000"/>
              </a:lnSpc>
              <a:spcBef>
                <a:spcPts val="1200"/>
              </a:spcBef>
              <a:spcAft>
                <a:spcPts val="0"/>
              </a:spcAft>
              <a:buClr>
                <a:schemeClr val="dk1"/>
              </a:buClr>
              <a:buSzPts val="1100"/>
              <a:buFont typeface="Arial"/>
              <a:buNone/>
            </a:pPr>
            <a:r>
              <a:rPr lang="en"/>
              <a:t>It also expanded the European Parliament’s powers because they became more influential in the legislative process. Codecision was introduced which meant that in certain policy areas, a law couldn’t pass unless both the council and European parliament agreed. Since the parliament is directly elected by EU citizens, this increased democracy.</a:t>
            </a:r>
            <a:endParaRPr/>
          </a:p>
          <a:p>
            <a:pPr indent="0" lvl="0" marL="0" rtl="0" algn="l">
              <a:lnSpc>
                <a:spcPct val="115000"/>
              </a:lnSpc>
              <a:spcBef>
                <a:spcPts val="1200"/>
              </a:spcBef>
              <a:spcAft>
                <a:spcPts val="0"/>
              </a:spcAft>
              <a:buClr>
                <a:schemeClr val="dk1"/>
              </a:buClr>
              <a:buSzPts val="1100"/>
              <a:buFont typeface="Arial"/>
              <a:buNone/>
            </a:pPr>
            <a:r>
              <a:rPr lang="en"/>
              <a:t>However, Warlouzet emphasized that this was not a federal union. The system was hybrid, combining supranational and intergovernmental elements. Codecision only applied to certain </a:t>
            </a:r>
            <a:r>
              <a:rPr lang="en"/>
              <a:t>areas</a:t>
            </a:r>
            <a:r>
              <a:rPr lang="en"/>
              <a:t>, so it was still a limited power.</a:t>
            </a:r>
            <a:endParaRPr/>
          </a:p>
          <a:p>
            <a:pPr indent="0" lvl="0" marL="0" rtl="0" algn="l">
              <a:lnSpc>
                <a:spcPct val="115000"/>
              </a:lnSpc>
              <a:spcBef>
                <a:spcPts val="1200"/>
              </a:spcBef>
              <a:spcAft>
                <a:spcPts val="0"/>
              </a:spcAft>
              <a:buClr>
                <a:schemeClr val="dk1"/>
              </a:buClr>
              <a:buSzPts val="1100"/>
              <a:buFont typeface="Arial"/>
              <a:buNone/>
            </a:pPr>
            <a:r>
              <a:rPr lang="en"/>
              <a:t>Additionally, Britain refused adopting the Euro and more Social policy regulation, which shows that not all countries were integrating at </a:t>
            </a:r>
            <a:r>
              <a:rPr lang="en"/>
              <a:t>the</a:t>
            </a:r>
            <a:r>
              <a:rPr lang="en"/>
              <a:t> same depth. There was an imbalance where economic integration became stronger than social integration.</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877cf0f4d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877cf0f4d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Immediately after Maastricht, problems emerged.</a:t>
            </a:r>
            <a:endParaRPr/>
          </a:p>
          <a:p>
            <a:pPr indent="0" lvl="0" marL="0" rtl="0" algn="l">
              <a:lnSpc>
                <a:spcPct val="115000"/>
              </a:lnSpc>
              <a:spcBef>
                <a:spcPts val="1200"/>
              </a:spcBef>
              <a:spcAft>
                <a:spcPts val="0"/>
              </a:spcAft>
              <a:buNone/>
            </a:pPr>
            <a:r>
              <a:rPr lang="en"/>
              <a:t>The EU failed to manage the Yugoslav war effectively, which tested the newly Common Foreign and Security Policy. They could not coordinate and agree effectively, and ended up relying on the US and NATO to intervene. This showed that the EU had political ambition, but lacked the power and unity to act cohesively.</a:t>
            </a:r>
            <a:endParaRPr/>
          </a:p>
          <a:p>
            <a:pPr indent="0" lvl="0" marL="0" rtl="0" algn="l">
              <a:lnSpc>
                <a:spcPct val="115000"/>
              </a:lnSpc>
              <a:spcBef>
                <a:spcPts val="1200"/>
              </a:spcBef>
              <a:spcAft>
                <a:spcPts val="0"/>
              </a:spcAft>
              <a:buClr>
                <a:schemeClr val="dk1"/>
              </a:buClr>
              <a:buSzPts val="1100"/>
              <a:buFont typeface="Arial"/>
              <a:buNone/>
            </a:pPr>
            <a:r>
              <a:rPr lang="en"/>
              <a:t>In Denmark, the public </a:t>
            </a:r>
            <a:r>
              <a:rPr lang="en"/>
              <a:t>initially</a:t>
            </a:r>
            <a:r>
              <a:rPr lang="en"/>
              <a:t> voted No for the treaty. It passed in France, buty only by 51%. This </a:t>
            </a:r>
            <a:r>
              <a:rPr lang="en"/>
              <a:t>revealed</a:t>
            </a:r>
            <a:r>
              <a:rPr lang="en"/>
              <a:t> new public resistance. Before, integration was mostly elite driven, but now the citizens were divided and marked the beginning of Euroscepticism</a:t>
            </a:r>
            <a:endParaRPr/>
          </a:p>
          <a:p>
            <a:pPr indent="0" lvl="0" marL="0" rtl="0" algn="l">
              <a:lnSpc>
                <a:spcPct val="115000"/>
              </a:lnSpc>
              <a:spcBef>
                <a:spcPts val="1200"/>
              </a:spcBef>
              <a:spcAft>
                <a:spcPts val="0"/>
              </a:spcAft>
              <a:buClr>
                <a:schemeClr val="dk1"/>
              </a:buClr>
              <a:buSzPts val="1100"/>
              <a:buFont typeface="Arial"/>
              <a:buNone/>
            </a:pPr>
            <a:r>
              <a:rPr lang="en"/>
              <a:t>At the same time </a:t>
            </a:r>
            <a:r>
              <a:rPr lang="en"/>
              <a:t>there</a:t>
            </a:r>
            <a:r>
              <a:rPr lang="en"/>
              <a:t> was an Economic recession, so people started associating the EU with economic downturn, which increased skepticism.</a:t>
            </a:r>
            <a:endParaRPr/>
          </a:p>
          <a:p>
            <a:pPr indent="0" lvl="0" marL="0" rtl="0" algn="l">
              <a:lnSpc>
                <a:spcPct val="115000"/>
              </a:lnSpc>
              <a:spcBef>
                <a:spcPts val="1200"/>
              </a:spcBef>
              <a:spcAft>
                <a:spcPts val="0"/>
              </a:spcAft>
              <a:buClr>
                <a:schemeClr val="dk1"/>
              </a:buClr>
              <a:buSzPts val="1100"/>
              <a:buFont typeface="Arial"/>
              <a:buNone/>
            </a:pPr>
            <a:r>
              <a:rPr lang="en"/>
              <a:t>So this showed that while integration accelerated, political legitimacy and trust became more fragile.</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877cf0f4d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877cf0f4d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Warlouzet’s broader point is that European integration survived because it was adaptable.</a:t>
            </a:r>
            <a:endParaRPr/>
          </a:p>
          <a:p>
            <a:pPr indent="0" lvl="0" marL="0" rtl="0" algn="l">
              <a:lnSpc>
                <a:spcPct val="115000"/>
              </a:lnSpc>
              <a:spcBef>
                <a:spcPts val="1200"/>
              </a:spcBef>
              <a:spcAft>
                <a:spcPts val="0"/>
              </a:spcAft>
              <a:buNone/>
            </a:pPr>
            <a:r>
              <a:rPr lang="en"/>
              <a:t>Crises did not cause </a:t>
            </a:r>
            <a:r>
              <a:rPr lang="en"/>
              <a:t>theme</a:t>
            </a:r>
            <a:r>
              <a:rPr lang="en"/>
              <a:t> to </a:t>
            </a:r>
            <a:r>
              <a:rPr lang="en"/>
              <a:t>collapse</a:t>
            </a:r>
            <a:r>
              <a:rPr lang="en"/>
              <a:t>, but instead pushed reform. Instead of retreating, leaders deepened cooperation, creating stability.</a:t>
            </a:r>
            <a:endParaRPr/>
          </a:p>
          <a:p>
            <a:pPr indent="0" lvl="0" marL="0" rtl="0" algn="l">
              <a:lnSpc>
                <a:spcPct val="115000"/>
              </a:lnSpc>
              <a:spcBef>
                <a:spcPts val="1200"/>
              </a:spcBef>
              <a:spcAft>
                <a:spcPts val="0"/>
              </a:spcAft>
              <a:buNone/>
            </a:pPr>
            <a:r>
              <a:rPr lang="en">
                <a:solidFill>
                  <a:schemeClr val="dk1"/>
                </a:solidFill>
              </a:rPr>
              <a:t>Also, Franco-German cooperation was essential. When they agreed, integration moved forward.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Court strengthened integration through law. Integration did not just happen through big treaties, but also through legal decisions</a:t>
            </a:r>
            <a:endParaRPr>
              <a:solidFill>
                <a:schemeClr val="dk1"/>
              </a:solidFill>
            </a:endParaRPr>
          </a:p>
          <a:p>
            <a:pPr indent="0" lvl="0" marL="0" rtl="0" algn="l">
              <a:lnSpc>
                <a:spcPct val="115000"/>
              </a:lnSpc>
              <a:spcBef>
                <a:spcPts val="1200"/>
              </a:spcBef>
              <a:spcAft>
                <a:spcPts val="0"/>
              </a:spcAft>
              <a:buNone/>
            </a:pPr>
            <a:r>
              <a:rPr lang="en"/>
              <a:t>Next, when new </a:t>
            </a:r>
            <a:r>
              <a:rPr lang="en"/>
              <a:t>countries</a:t>
            </a:r>
            <a:r>
              <a:rPr lang="en"/>
              <a:t> joined, the system became more complex and to manage that, institutions had to be strengthened. So, there was a relationship between </a:t>
            </a:r>
            <a:r>
              <a:rPr lang="en"/>
              <a:t>enlargement</a:t>
            </a:r>
            <a:r>
              <a:rPr lang="en"/>
              <a:t> and deepening integration. They </a:t>
            </a:r>
            <a:r>
              <a:rPr lang="en"/>
              <a:t>reinforced</a:t>
            </a:r>
            <a:r>
              <a:rPr lang="en"/>
              <a:t> each other.</a:t>
            </a:r>
            <a:endParaRPr/>
          </a:p>
          <a:p>
            <a:pPr indent="0" lvl="0" marL="0" rtl="0" algn="l">
              <a:lnSpc>
                <a:spcPct val="115000"/>
              </a:lnSpc>
              <a:spcBef>
                <a:spcPts val="1200"/>
              </a:spcBef>
              <a:spcAft>
                <a:spcPts val="0"/>
              </a:spcAft>
              <a:buNone/>
            </a:pPr>
            <a:r>
              <a:rPr lang="en"/>
              <a:t>Also, Warlouzet emphasizes that the EU evolved as a hybrid system combining supranational and intergovernmental elements. While institutions like the Court of Justice and Commission strengthened integration, national governments retained control in key areas such as foreign policy and taxation. This institutional balance created flexibility, allowing integration to deepen without provoking a backlash from member states.</a:t>
            </a:r>
            <a:endParaRPr/>
          </a:p>
          <a:p>
            <a:pPr indent="0" lvl="0" marL="0" rtl="0" algn="l">
              <a:lnSpc>
                <a:spcPct val="115000"/>
              </a:lnSpc>
              <a:spcBef>
                <a:spcPts val="1200"/>
              </a:spcBef>
              <a:spcAft>
                <a:spcPts val="0"/>
              </a:spcAft>
              <a:buClr>
                <a:schemeClr val="dk1"/>
              </a:buClr>
              <a:buSzPts val="1100"/>
              <a:buFont typeface="Arial"/>
              <a:buNone/>
            </a:pPr>
            <a:r>
              <a:rPr lang="en"/>
              <a:t>Most importantly, the EU reinvented itself without abandoning the institutional framework created in 1957 in the Treaty of Rome. That institutional continuity provided stability.</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877cf0f4d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877cf0f4d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Economic and Monetary Union was both an economic solution and a geopolitical strategy. It improved efficiency and stability in the single market, but it also helped anchor a reunified Germany firmly within Europe and stabilize political power balances.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Enlargement often created pressure for deeper integration because more members made decision-making more complex. At the same time, deeper integration made enlargement sustainable and attractive, so the two processes reinforced each other.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Warlouzet: From the Hague Summit to the Maastricht Treaty, 1969 - 1992</a:t>
            </a:r>
            <a:endParaRPr/>
          </a:p>
        </p:txBody>
      </p:sp>
      <p:sp>
        <p:nvSpPr>
          <p:cNvPr id="87" name="Google Shape;87;p13"/>
          <p:cNvSpPr txBox="1"/>
          <p:nvPr>
            <p:ph idx="1" type="subTitle"/>
          </p:nvPr>
        </p:nvSpPr>
        <p:spPr>
          <a:xfrm>
            <a:off x="727952"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Ava Saferstein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body"/>
          </p:nvPr>
        </p:nvSpPr>
        <p:spPr>
          <a:xfrm>
            <a:off x="727650" y="1362825"/>
            <a:ext cx="7688700" cy="303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t>Core Question:</a:t>
            </a:r>
            <a:r>
              <a:rPr b="1" lang="en"/>
              <a:t> </a:t>
            </a:r>
            <a:endParaRPr b="1"/>
          </a:p>
          <a:p>
            <a:pPr indent="0" lvl="0" marL="0" rtl="0" algn="l">
              <a:spcBef>
                <a:spcPts val="1200"/>
              </a:spcBef>
              <a:spcAft>
                <a:spcPts val="0"/>
              </a:spcAft>
              <a:buNone/>
            </a:pPr>
            <a:r>
              <a:rPr lang="en" sz="1700"/>
              <a:t>How did a small common market become the European Union?</a:t>
            </a:r>
            <a:endParaRPr sz="1700"/>
          </a:p>
          <a:p>
            <a:pPr indent="0" lvl="0" marL="0" rtl="0" algn="l">
              <a:spcBef>
                <a:spcPts val="1200"/>
              </a:spcBef>
              <a:spcAft>
                <a:spcPts val="0"/>
              </a:spcAft>
              <a:buNone/>
            </a:pPr>
            <a:r>
              <a:t/>
            </a:r>
            <a:endParaRPr/>
          </a:p>
          <a:p>
            <a:pPr indent="0" lvl="0" marL="0" rtl="0" algn="l">
              <a:spcBef>
                <a:spcPts val="1200"/>
              </a:spcBef>
              <a:spcAft>
                <a:spcPts val="0"/>
              </a:spcAft>
              <a:buNone/>
            </a:pPr>
            <a:r>
              <a:rPr b="1" lang="en" sz="2500"/>
              <a:t>Core Argument: </a:t>
            </a:r>
            <a:endParaRPr b="1" sz="2500"/>
          </a:p>
          <a:p>
            <a:pPr indent="0" lvl="0" marL="0" rtl="0" algn="l">
              <a:spcBef>
                <a:spcPts val="1200"/>
              </a:spcBef>
              <a:spcAft>
                <a:spcPts val="1200"/>
              </a:spcAft>
              <a:buNone/>
            </a:pPr>
            <a:r>
              <a:rPr lang="en" sz="1700"/>
              <a:t>Transformation through crisis, leadership, and institutional </a:t>
            </a:r>
            <a:r>
              <a:rPr lang="en" sz="1700"/>
              <a:t>adaptation</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The Hague Triptych (1969)</a:t>
            </a:r>
            <a:endParaRPr>
              <a:latin typeface="Lato"/>
              <a:ea typeface="Lato"/>
              <a:cs typeface="Lato"/>
              <a:sym typeface="Lato"/>
            </a:endParaRPr>
          </a:p>
        </p:txBody>
      </p:sp>
      <p:sp>
        <p:nvSpPr>
          <p:cNvPr id="98" name="Google Shape;98;p15"/>
          <p:cNvSpPr txBox="1"/>
          <p:nvPr>
            <p:ph idx="1" type="body"/>
          </p:nvPr>
        </p:nvSpPr>
        <p:spPr>
          <a:xfrm>
            <a:off x="729450" y="1907425"/>
            <a:ext cx="7688700" cy="30171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rgbClr val="000000"/>
              </a:buClr>
              <a:buSzPts val="1600"/>
              <a:buFont typeface="Arial"/>
              <a:buChar char="●"/>
            </a:pPr>
            <a:r>
              <a:rPr lang="en" sz="1600">
                <a:solidFill>
                  <a:srgbClr val="000000"/>
                </a:solidFill>
              </a:rPr>
              <a:t>3 Parts</a:t>
            </a:r>
            <a:endParaRPr sz="1600">
              <a:solidFill>
                <a:srgbClr val="000000"/>
              </a:solidFill>
            </a:endParaRPr>
          </a:p>
          <a:p>
            <a:pPr indent="-330200" lvl="1" marL="914400" rtl="0" algn="l">
              <a:spcBef>
                <a:spcPts val="0"/>
              </a:spcBef>
              <a:spcAft>
                <a:spcPts val="0"/>
              </a:spcAft>
              <a:buClr>
                <a:srgbClr val="000000"/>
              </a:buClr>
              <a:buSzPts val="1600"/>
              <a:buFont typeface="Lato"/>
              <a:buChar char="○"/>
            </a:pPr>
            <a:r>
              <a:rPr lang="en" sz="1600">
                <a:solidFill>
                  <a:srgbClr val="000000"/>
                </a:solidFill>
              </a:rPr>
              <a:t>Completion</a:t>
            </a:r>
            <a:endParaRPr sz="1600">
              <a:solidFill>
                <a:srgbClr val="000000"/>
              </a:solidFill>
            </a:endParaRPr>
          </a:p>
          <a:p>
            <a:pPr indent="-330200" lvl="1" marL="914400" rtl="0" algn="l">
              <a:spcBef>
                <a:spcPts val="0"/>
              </a:spcBef>
              <a:spcAft>
                <a:spcPts val="0"/>
              </a:spcAft>
              <a:buClr>
                <a:srgbClr val="000000"/>
              </a:buClr>
              <a:buSzPts val="1600"/>
              <a:buFont typeface="Lato"/>
              <a:buChar char="○"/>
            </a:pPr>
            <a:r>
              <a:rPr lang="en" sz="1600">
                <a:solidFill>
                  <a:srgbClr val="000000"/>
                </a:solidFill>
              </a:rPr>
              <a:t>Deepening</a:t>
            </a:r>
            <a:endParaRPr sz="1600">
              <a:solidFill>
                <a:srgbClr val="000000"/>
              </a:solidFill>
            </a:endParaRPr>
          </a:p>
          <a:p>
            <a:pPr indent="-330200" lvl="1" marL="914400" rtl="0" algn="l">
              <a:spcBef>
                <a:spcPts val="0"/>
              </a:spcBef>
              <a:spcAft>
                <a:spcPts val="0"/>
              </a:spcAft>
              <a:buClr>
                <a:srgbClr val="000000"/>
              </a:buClr>
              <a:buSzPts val="1600"/>
              <a:buFont typeface="Lato"/>
              <a:buChar char="○"/>
            </a:pPr>
            <a:r>
              <a:rPr lang="en" sz="1600">
                <a:solidFill>
                  <a:srgbClr val="000000"/>
                </a:solidFill>
              </a:rPr>
              <a:t>Enlargement</a:t>
            </a:r>
            <a:endParaRPr sz="1600">
              <a:solidFill>
                <a:srgbClr val="000000"/>
              </a:solidFill>
            </a:endParaRPr>
          </a:p>
          <a:p>
            <a:pPr indent="-330200" lvl="0" marL="457200" rtl="0" algn="l">
              <a:spcBef>
                <a:spcPts val="0"/>
              </a:spcBef>
              <a:spcAft>
                <a:spcPts val="0"/>
              </a:spcAft>
              <a:buClr>
                <a:srgbClr val="000000"/>
              </a:buClr>
              <a:buSzPts val="1600"/>
              <a:buFont typeface="Lato"/>
              <a:buChar char="●"/>
            </a:pPr>
            <a:r>
              <a:rPr lang="en" sz="1600">
                <a:solidFill>
                  <a:srgbClr val="000000"/>
                </a:solidFill>
              </a:rPr>
              <a:t>Framework for the next 20 years</a:t>
            </a:r>
            <a:endParaRPr sz="1600">
              <a:solidFill>
                <a:srgbClr val="000000"/>
              </a:solidFill>
            </a:endParaRPr>
          </a:p>
          <a:p>
            <a:pPr indent="0" lvl="0" marL="0" rtl="0" algn="l">
              <a:spcBef>
                <a:spcPts val="1200"/>
              </a:spcBef>
              <a:spcAft>
                <a:spcPts val="12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Crisis of the 1970s</a:t>
            </a:r>
            <a:endParaRPr>
              <a:latin typeface="Lato"/>
              <a:ea typeface="Lato"/>
              <a:cs typeface="Lato"/>
              <a:sym typeface="Lato"/>
            </a:endParaRPr>
          </a:p>
        </p:txBody>
      </p:sp>
      <p:sp>
        <p:nvSpPr>
          <p:cNvPr id="104" name="Google Shape;104;p16"/>
          <p:cNvSpPr txBox="1"/>
          <p:nvPr>
            <p:ph idx="1" type="body"/>
          </p:nvPr>
        </p:nvSpPr>
        <p:spPr>
          <a:xfrm>
            <a:off x="727650" y="1853850"/>
            <a:ext cx="7688700" cy="29409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lang="en" sz="1400">
                <a:solidFill>
                  <a:srgbClr val="000000"/>
                </a:solidFill>
              </a:rPr>
              <a:t>Oil shocks (1973, 1979)</a:t>
            </a:r>
            <a:endParaRPr sz="1400">
              <a:solidFill>
                <a:srgbClr val="000000"/>
              </a:solidFill>
            </a:endParaRPr>
          </a:p>
          <a:p>
            <a:pPr indent="-317500" lvl="1" marL="914400" rtl="0" algn="l">
              <a:spcBef>
                <a:spcPts val="0"/>
              </a:spcBef>
              <a:spcAft>
                <a:spcPts val="0"/>
              </a:spcAft>
              <a:buClr>
                <a:srgbClr val="000000"/>
              </a:buClr>
              <a:buSzPts val="1400"/>
              <a:buFont typeface="Arial"/>
              <a:buChar char="○"/>
            </a:pPr>
            <a:r>
              <a:rPr lang="en" sz="1400">
                <a:solidFill>
                  <a:srgbClr val="000000"/>
                </a:solidFill>
              </a:rPr>
              <a:t>Inflation, unemployment, stagnation</a:t>
            </a:r>
            <a:endParaRPr sz="1400">
              <a:solidFill>
                <a:srgbClr val="000000"/>
              </a:solidFill>
            </a:endParaRPr>
          </a:p>
          <a:p>
            <a:pPr indent="-317500" lvl="0" marL="457200" rtl="0" algn="l">
              <a:spcBef>
                <a:spcPts val="0"/>
              </a:spcBef>
              <a:spcAft>
                <a:spcPts val="0"/>
              </a:spcAft>
              <a:buClr>
                <a:srgbClr val="000000"/>
              </a:buClr>
              <a:buSzPts val="1400"/>
              <a:buFont typeface="Arial"/>
              <a:buChar char="●"/>
            </a:pPr>
            <a:r>
              <a:rPr lang="en" sz="1400">
                <a:solidFill>
                  <a:srgbClr val="000000"/>
                </a:solidFill>
              </a:rPr>
              <a:t>British budget conflict</a:t>
            </a:r>
            <a:endParaRPr sz="1400">
              <a:solidFill>
                <a:srgbClr val="000000"/>
              </a:solidFill>
            </a:endParaRPr>
          </a:p>
          <a:p>
            <a:pPr indent="0" lvl="0" marL="0" rtl="0" algn="l">
              <a:spcBef>
                <a:spcPts val="1200"/>
              </a:spcBef>
              <a:spcAft>
                <a:spcPts val="0"/>
              </a:spcAft>
              <a:buNone/>
            </a:pPr>
            <a:r>
              <a:rPr lang="en" sz="1400">
                <a:solidFill>
                  <a:srgbClr val="000000"/>
                </a:solidFill>
              </a:rPr>
              <a:t>But:</a:t>
            </a:r>
            <a:endParaRPr sz="1400">
              <a:solidFill>
                <a:srgbClr val="000000"/>
              </a:solidFill>
            </a:endParaRPr>
          </a:p>
          <a:p>
            <a:pPr indent="-317500" lvl="0" marL="457200" rtl="0" algn="l">
              <a:spcBef>
                <a:spcPts val="1200"/>
              </a:spcBef>
              <a:spcAft>
                <a:spcPts val="0"/>
              </a:spcAft>
              <a:buClr>
                <a:srgbClr val="000000"/>
              </a:buClr>
              <a:buSzPts val="1400"/>
              <a:buFont typeface="Lato"/>
              <a:buChar char="●"/>
            </a:pPr>
            <a:r>
              <a:rPr lang="en" sz="1400">
                <a:solidFill>
                  <a:srgbClr val="000000"/>
                </a:solidFill>
              </a:rPr>
              <a:t>Court activism (Cassis de Dijon)</a:t>
            </a:r>
            <a:endParaRPr sz="1400">
              <a:solidFill>
                <a:srgbClr val="000000"/>
              </a:solidFill>
            </a:endParaRPr>
          </a:p>
          <a:p>
            <a:pPr indent="-317500" lvl="0" marL="457200" rtl="0" algn="l">
              <a:spcBef>
                <a:spcPts val="0"/>
              </a:spcBef>
              <a:spcAft>
                <a:spcPts val="0"/>
              </a:spcAft>
              <a:buClr>
                <a:srgbClr val="000000"/>
              </a:buClr>
              <a:buSzPts val="1400"/>
              <a:buFont typeface="Lato"/>
              <a:buChar char="●"/>
            </a:pPr>
            <a:r>
              <a:rPr lang="en" sz="1400">
                <a:solidFill>
                  <a:srgbClr val="000000"/>
                </a:solidFill>
              </a:rPr>
              <a:t>First European Parliament elections (1979)</a:t>
            </a:r>
            <a:endParaRPr sz="1400">
              <a:solidFill>
                <a:srgbClr val="000000"/>
              </a:solidFill>
            </a:endParaRPr>
          </a:p>
          <a:p>
            <a:pPr indent="-317500" lvl="0" marL="457200" rtl="0" algn="l">
              <a:spcBef>
                <a:spcPts val="0"/>
              </a:spcBef>
              <a:spcAft>
                <a:spcPts val="0"/>
              </a:spcAft>
              <a:buClr>
                <a:srgbClr val="000000"/>
              </a:buClr>
              <a:buSzPts val="1400"/>
              <a:buFont typeface="Lato"/>
              <a:buChar char="●"/>
            </a:pPr>
            <a:r>
              <a:rPr lang="en" sz="1400">
                <a:solidFill>
                  <a:srgbClr val="000000"/>
                </a:solidFill>
              </a:rPr>
              <a:t>European Monetary System created (1979)</a:t>
            </a:r>
            <a:br>
              <a:rPr lang="en" sz="1400">
                <a:solidFill>
                  <a:srgbClr val="000000"/>
                </a:solidFill>
              </a:rPr>
            </a:br>
            <a:endParaRPr sz="1400">
              <a:solidFill>
                <a:srgbClr val="000000"/>
              </a:solidFill>
            </a:endParaRPr>
          </a:p>
          <a:p>
            <a:pPr indent="0" lvl="0" marL="0" rtl="0" algn="l">
              <a:spcBef>
                <a:spcPts val="1200"/>
              </a:spcBef>
              <a:spcAft>
                <a:spcPts val="1200"/>
              </a:spcAft>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Institutional Adaptation</a:t>
            </a:r>
            <a:endParaRPr>
              <a:latin typeface="Lato"/>
              <a:ea typeface="Lato"/>
              <a:cs typeface="Lato"/>
              <a:sym typeface="Lato"/>
            </a:endParaRPr>
          </a:p>
        </p:txBody>
      </p:sp>
      <p:sp>
        <p:nvSpPr>
          <p:cNvPr id="110" name="Google Shape;110;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600"/>
              <a:t>Tension:</a:t>
            </a:r>
            <a:br>
              <a:rPr lang="en" sz="1600"/>
            </a:br>
            <a:r>
              <a:rPr lang="en" sz="1600"/>
              <a:t> Intergovernmentalism vs Supranationalism</a:t>
            </a:r>
            <a:endParaRPr sz="1600"/>
          </a:p>
          <a:p>
            <a:pPr indent="0" lvl="0" marL="0" rtl="0" algn="l">
              <a:spcBef>
                <a:spcPts val="1200"/>
              </a:spcBef>
              <a:spcAft>
                <a:spcPts val="0"/>
              </a:spcAft>
              <a:buNone/>
            </a:pPr>
            <a:r>
              <a:rPr lang="en" sz="1600"/>
              <a:t>Solution:</a:t>
            </a:r>
            <a:endParaRPr sz="1600"/>
          </a:p>
          <a:p>
            <a:pPr indent="-330200" lvl="0" marL="457200" rtl="0" algn="l">
              <a:spcBef>
                <a:spcPts val="1200"/>
              </a:spcBef>
              <a:spcAft>
                <a:spcPts val="0"/>
              </a:spcAft>
              <a:buClr>
                <a:srgbClr val="000000"/>
              </a:buClr>
              <a:buSzPts val="1600"/>
              <a:buFont typeface="Lato"/>
              <a:buChar char="●"/>
            </a:pPr>
            <a:r>
              <a:rPr lang="en" sz="1600"/>
              <a:t>European Council formalized (1974)</a:t>
            </a:r>
            <a:endParaRPr sz="1600"/>
          </a:p>
          <a:p>
            <a:pPr indent="-330200" lvl="0" marL="457200" rtl="0" algn="l">
              <a:spcBef>
                <a:spcPts val="0"/>
              </a:spcBef>
              <a:spcAft>
                <a:spcPts val="0"/>
              </a:spcAft>
              <a:buClr>
                <a:srgbClr val="000000"/>
              </a:buClr>
              <a:buSzPts val="1600"/>
              <a:buFont typeface="Lato"/>
              <a:buChar char="●"/>
            </a:pPr>
            <a:r>
              <a:rPr lang="en" sz="1600"/>
              <a:t>Court of Justice (Cassis de Dijon)</a:t>
            </a:r>
            <a:br>
              <a:rPr lang="en" sz="1600"/>
            </a:b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The “Relaunch of Europe” (1984–1986)</a:t>
            </a:r>
            <a:endParaRPr>
              <a:latin typeface="Lato"/>
              <a:ea typeface="Lato"/>
              <a:cs typeface="Lato"/>
              <a:sym typeface="Lato"/>
            </a:endParaRPr>
          </a:p>
        </p:txBody>
      </p:sp>
      <p:sp>
        <p:nvSpPr>
          <p:cNvPr id="116" name="Google Shape;116;p18"/>
          <p:cNvSpPr txBox="1"/>
          <p:nvPr>
            <p:ph idx="1" type="body"/>
          </p:nvPr>
        </p:nvSpPr>
        <p:spPr>
          <a:xfrm>
            <a:off x="729450" y="1897900"/>
            <a:ext cx="7688700" cy="294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t>Blockages:</a:t>
            </a:r>
            <a:endParaRPr sz="1400"/>
          </a:p>
          <a:p>
            <a:pPr indent="-317500" lvl="0" marL="457200" rtl="0" algn="l">
              <a:spcBef>
                <a:spcPts val="1200"/>
              </a:spcBef>
              <a:spcAft>
                <a:spcPts val="0"/>
              </a:spcAft>
              <a:buClr>
                <a:srgbClr val="000000"/>
              </a:buClr>
              <a:buSzPts val="1400"/>
              <a:buFont typeface="Lato"/>
              <a:buChar char="●"/>
            </a:pPr>
            <a:r>
              <a:rPr lang="en" sz="1400"/>
              <a:t>British rebate</a:t>
            </a:r>
            <a:endParaRPr sz="1400"/>
          </a:p>
          <a:p>
            <a:pPr indent="-317500" lvl="0" marL="457200" rtl="0" algn="l">
              <a:spcBef>
                <a:spcPts val="0"/>
              </a:spcBef>
              <a:spcAft>
                <a:spcPts val="0"/>
              </a:spcAft>
              <a:buClr>
                <a:srgbClr val="000000"/>
              </a:buClr>
              <a:buSzPts val="1400"/>
              <a:buFont typeface="Lato"/>
              <a:buChar char="●"/>
            </a:pPr>
            <a:r>
              <a:rPr lang="en" sz="1400"/>
              <a:t>CAP reform</a:t>
            </a:r>
            <a:endParaRPr sz="1400"/>
          </a:p>
          <a:p>
            <a:pPr indent="-317500" lvl="0" marL="457200" rtl="0" algn="l">
              <a:spcBef>
                <a:spcPts val="0"/>
              </a:spcBef>
              <a:spcAft>
                <a:spcPts val="0"/>
              </a:spcAft>
              <a:buClr>
                <a:srgbClr val="000000"/>
              </a:buClr>
              <a:buSzPts val="1400"/>
              <a:buFont typeface="Lato"/>
              <a:buChar char="●"/>
            </a:pPr>
            <a:r>
              <a:rPr lang="en" sz="1400"/>
              <a:t>Spanish enlargement</a:t>
            </a:r>
            <a:br>
              <a:rPr lang="en" sz="1400"/>
            </a:br>
            <a:endParaRPr sz="1400"/>
          </a:p>
          <a:p>
            <a:pPr indent="0" lvl="0" marL="0" rtl="0" algn="l">
              <a:spcBef>
                <a:spcPts val="1200"/>
              </a:spcBef>
              <a:spcAft>
                <a:spcPts val="0"/>
              </a:spcAft>
              <a:buNone/>
            </a:pPr>
            <a:r>
              <a:rPr lang="en" sz="1400"/>
              <a:t>Solution:</a:t>
            </a:r>
            <a:endParaRPr sz="1400"/>
          </a:p>
          <a:p>
            <a:pPr indent="-317500" lvl="0" marL="457200" rtl="0" algn="l">
              <a:spcBef>
                <a:spcPts val="1200"/>
              </a:spcBef>
              <a:spcAft>
                <a:spcPts val="0"/>
              </a:spcAft>
              <a:buClr>
                <a:srgbClr val="000000"/>
              </a:buClr>
              <a:buSzPts val="1400"/>
              <a:buFont typeface="Lato"/>
              <a:buChar char="●"/>
            </a:pPr>
            <a:r>
              <a:rPr lang="en" sz="1400"/>
              <a:t>Fontainebleau (1984)</a:t>
            </a:r>
            <a:endParaRPr sz="1400"/>
          </a:p>
          <a:p>
            <a:pPr indent="-317500" lvl="0" marL="457200" rtl="0" algn="l">
              <a:spcBef>
                <a:spcPts val="0"/>
              </a:spcBef>
              <a:spcAft>
                <a:spcPts val="0"/>
              </a:spcAft>
              <a:buClr>
                <a:srgbClr val="000000"/>
              </a:buClr>
              <a:buSzPts val="1400"/>
              <a:buFont typeface="Lato"/>
              <a:buChar char="●"/>
            </a:pPr>
            <a:r>
              <a:rPr lang="en" sz="1400"/>
              <a:t>Jacques Delors → Internal Market completion by 1992</a:t>
            </a:r>
            <a:endParaRPr sz="1400"/>
          </a:p>
          <a:p>
            <a:pPr indent="-317500" lvl="0" marL="457200" rtl="0" algn="l">
              <a:spcBef>
                <a:spcPts val="0"/>
              </a:spcBef>
              <a:spcAft>
                <a:spcPts val="0"/>
              </a:spcAft>
              <a:buClr>
                <a:srgbClr val="000000"/>
              </a:buClr>
              <a:buSzPts val="1400"/>
              <a:buFont typeface="Lato"/>
              <a:buChar char="●"/>
            </a:pPr>
            <a:r>
              <a:rPr lang="en" sz="1400"/>
              <a:t>Single European Act (1986)</a:t>
            </a:r>
            <a:endParaRPr sz="1400"/>
          </a:p>
          <a:p>
            <a:pPr indent="-317500" lvl="1" marL="914400" rtl="0" algn="l">
              <a:spcBef>
                <a:spcPts val="0"/>
              </a:spcBef>
              <a:spcAft>
                <a:spcPts val="0"/>
              </a:spcAft>
              <a:buClr>
                <a:srgbClr val="000000"/>
              </a:buClr>
              <a:buSzPts val="1400"/>
              <a:buFont typeface="Lato"/>
              <a:buChar char="○"/>
            </a:pPr>
            <a:r>
              <a:rPr lang="en" sz="1400"/>
              <a:t>Qualified Majority Voting expanded</a:t>
            </a:r>
            <a:endParaRPr sz="1400"/>
          </a:p>
          <a:p>
            <a:pPr indent="0" lvl="0" marL="0" rtl="0" algn="l">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Momentum Towards Monetary Union</a:t>
            </a:r>
            <a:endParaRPr>
              <a:latin typeface="Lato"/>
              <a:ea typeface="Lato"/>
              <a:cs typeface="Lato"/>
              <a:sym typeface="Lato"/>
            </a:endParaRPr>
          </a:p>
        </p:txBody>
      </p:sp>
      <p:sp>
        <p:nvSpPr>
          <p:cNvPr id="122" name="Google Shape;122;p19"/>
          <p:cNvSpPr txBox="1"/>
          <p:nvPr>
            <p:ph idx="1" type="body"/>
          </p:nvPr>
        </p:nvSpPr>
        <p:spPr>
          <a:xfrm>
            <a:off x="729450" y="2078875"/>
            <a:ext cx="7688700" cy="2912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Monetary Union Pros</a:t>
            </a:r>
            <a:endParaRPr/>
          </a:p>
          <a:p>
            <a:pPr indent="-298450" lvl="0" marL="457200" rtl="0" algn="l">
              <a:spcBef>
                <a:spcPts val="1200"/>
              </a:spcBef>
              <a:spcAft>
                <a:spcPts val="0"/>
              </a:spcAft>
              <a:buClr>
                <a:srgbClr val="000000"/>
              </a:buClr>
              <a:buSzPts val="1100"/>
              <a:buFont typeface="Lato"/>
              <a:buAutoNum type="arabicPeriod"/>
            </a:pPr>
            <a:r>
              <a:rPr lang="en"/>
              <a:t>Technical - reduce transaction costs</a:t>
            </a:r>
            <a:endParaRPr/>
          </a:p>
          <a:p>
            <a:pPr indent="-298450" lvl="0" marL="457200" rtl="0" algn="l">
              <a:spcBef>
                <a:spcPts val="0"/>
              </a:spcBef>
              <a:spcAft>
                <a:spcPts val="0"/>
              </a:spcAft>
              <a:buClr>
                <a:srgbClr val="000000"/>
              </a:buClr>
              <a:buSzPts val="1100"/>
              <a:buFont typeface="Lato"/>
              <a:buAutoNum type="arabicPeriod"/>
            </a:pPr>
            <a:r>
              <a:rPr lang="en"/>
              <a:t>Financial - stabilize weak currencies</a:t>
            </a:r>
            <a:endParaRPr/>
          </a:p>
          <a:p>
            <a:pPr indent="-298450" lvl="0" marL="457200" rtl="0" algn="l">
              <a:spcBef>
                <a:spcPts val="0"/>
              </a:spcBef>
              <a:spcAft>
                <a:spcPts val="0"/>
              </a:spcAft>
              <a:buClr>
                <a:srgbClr val="000000"/>
              </a:buClr>
              <a:buSzPts val="1100"/>
              <a:buFont typeface="Lato"/>
              <a:buAutoNum type="arabicPeriod"/>
            </a:pPr>
            <a:r>
              <a:rPr lang="en"/>
              <a:t>Political - anchor Germany after reunification</a:t>
            </a:r>
            <a:br>
              <a:rPr lang="en"/>
            </a:br>
            <a:endParaRPr/>
          </a:p>
          <a:p>
            <a:pPr indent="0" lvl="0" marL="0" rtl="0" algn="l">
              <a:spcBef>
                <a:spcPts val="1200"/>
              </a:spcBef>
              <a:spcAft>
                <a:spcPts val="0"/>
              </a:spcAft>
              <a:buNone/>
            </a:pPr>
            <a:r>
              <a:rPr lang="en"/>
              <a:t>Delors Report (1989)</a:t>
            </a:r>
            <a:endParaRPr/>
          </a:p>
          <a:p>
            <a:pPr indent="-311150" lvl="0" marL="457200" rtl="0" algn="l">
              <a:spcBef>
                <a:spcPts val="1200"/>
              </a:spcBef>
              <a:spcAft>
                <a:spcPts val="0"/>
              </a:spcAft>
              <a:buSzPts val="1300"/>
              <a:buChar char="●"/>
            </a:pPr>
            <a:r>
              <a:rPr lang="en"/>
              <a:t>Stage 1 → Increased coordination</a:t>
            </a:r>
            <a:endParaRPr/>
          </a:p>
          <a:p>
            <a:pPr indent="-311150" lvl="0" marL="457200" rtl="0" algn="l">
              <a:spcBef>
                <a:spcPts val="0"/>
              </a:spcBef>
              <a:spcAft>
                <a:spcPts val="0"/>
              </a:spcAft>
              <a:buSzPts val="1300"/>
              <a:buChar char="●"/>
            </a:pPr>
            <a:r>
              <a:rPr lang="en"/>
              <a:t>Stage 2 → Creation of a European monetary institution</a:t>
            </a:r>
            <a:endParaRPr/>
          </a:p>
          <a:p>
            <a:pPr indent="-311150" lvl="0" marL="457200" rtl="0" algn="l">
              <a:spcBef>
                <a:spcPts val="0"/>
              </a:spcBef>
              <a:spcAft>
                <a:spcPts val="0"/>
              </a:spcAft>
              <a:buSzPts val="1300"/>
              <a:buChar char="●"/>
            </a:pPr>
            <a:r>
              <a:rPr lang="en"/>
              <a:t>Stage 3 → Adoption of a single currency and central bank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Maastricht Treaty (1992)</a:t>
            </a:r>
            <a:endParaRPr>
              <a:latin typeface="Lato"/>
              <a:ea typeface="Lato"/>
              <a:cs typeface="Lato"/>
              <a:sym typeface="Lato"/>
            </a:endParaRPr>
          </a:p>
        </p:txBody>
      </p:sp>
      <p:sp>
        <p:nvSpPr>
          <p:cNvPr id="128" name="Google Shape;128;p20"/>
          <p:cNvSpPr txBox="1"/>
          <p:nvPr>
            <p:ph idx="1" type="body"/>
          </p:nvPr>
        </p:nvSpPr>
        <p:spPr>
          <a:xfrm>
            <a:off x="729450" y="2078875"/>
            <a:ext cx="7688700" cy="29502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
              <a:t>Three pillars of European Union:</a:t>
            </a:r>
            <a:endParaRPr/>
          </a:p>
          <a:p>
            <a:pPr indent="-298450" lvl="0" marL="457200" rtl="0" algn="l">
              <a:spcBef>
                <a:spcPts val="1200"/>
              </a:spcBef>
              <a:spcAft>
                <a:spcPts val="0"/>
              </a:spcAft>
              <a:buClr>
                <a:srgbClr val="000000"/>
              </a:buClr>
              <a:buSzPts val="1100"/>
              <a:buFont typeface="Lato"/>
              <a:buAutoNum type="arabicPeriod"/>
            </a:pPr>
            <a:r>
              <a:rPr lang="en"/>
              <a:t>Economic and Monetary Union</a:t>
            </a:r>
            <a:endParaRPr/>
          </a:p>
          <a:p>
            <a:pPr indent="-298450" lvl="1" marL="914400" rtl="0" algn="l">
              <a:spcBef>
                <a:spcPts val="0"/>
              </a:spcBef>
              <a:spcAft>
                <a:spcPts val="0"/>
              </a:spcAft>
              <a:buClr>
                <a:srgbClr val="000000"/>
              </a:buClr>
              <a:buSzPts val="1100"/>
              <a:buFont typeface="Arial"/>
              <a:buChar char="○"/>
            </a:pPr>
            <a:r>
              <a:rPr lang="en"/>
              <a:t>Supranational</a:t>
            </a:r>
            <a:endParaRPr/>
          </a:p>
          <a:p>
            <a:pPr indent="-298450" lvl="0" marL="457200" rtl="0" algn="l">
              <a:spcBef>
                <a:spcPts val="0"/>
              </a:spcBef>
              <a:spcAft>
                <a:spcPts val="0"/>
              </a:spcAft>
              <a:buClr>
                <a:srgbClr val="000000"/>
              </a:buClr>
              <a:buSzPts val="1100"/>
              <a:buFont typeface="Lato"/>
              <a:buAutoNum type="arabicPeriod"/>
            </a:pPr>
            <a:r>
              <a:rPr lang="en"/>
              <a:t>Common </a:t>
            </a:r>
            <a:r>
              <a:rPr lang="en"/>
              <a:t>Foreign</a:t>
            </a:r>
            <a:r>
              <a:rPr lang="en"/>
              <a:t> and Security Policy</a:t>
            </a:r>
            <a:endParaRPr/>
          </a:p>
          <a:p>
            <a:pPr indent="-298450" lvl="1" marL="914400" rtl="0" algn="l">
              <a:spcBef>
                <a:spcPts val="0"/>
              </a:spcBef>
              <a:spcAft>
                <a:spcPts val="0"/>
              </a:spcAft>
              <a:buClr>
                <a:srgbClr val="000000"/>
              </a:buClr>
              <a:buSzPts val="1100"/>
              <a:buFont typeface="Arial"/>
              <a:buChar char="○"/>
            </a:pPr>
            <a:r>
              <a:rPr lang="en"/>
              <a:t>Intergovernmental</a:t>
            </a:r>
            <a:endParaRPr/>
          </a:p>
          <a:p>
            <a:pPr indent="-298450" lvl="0" marL="457200" rtl="0" algn="l">
              <a:spcBef>
                <a:spcPts val="0"/>
              </a:spcBef>
              <a:spcAft>
                <a:spcPts val="0"/>
              </a:spcAft>
              <a:buClr>
                <a:srgbClr val="000000"/>
              </a:buClr>
              <a:buSzPts val="1100"/>
              <a:buFont typeface="Lato"/>
              <a:buAutoNum type="arabicPeriod"/>
            </a:pPr>
            <a:r>
              <a:rPr lang="en"/>
              <a:t>Justice and Home Affairs</a:t>
            </a:r>
            <a:endParaRPr/>
          </a:p>
          <a:p>
            <a:pPr indent="-298450" lvl="1" marL="914400" rtl="0" algn="l">
              <a:spcBef>
                <a:spcPts val="0"/>
              </a:spcBef>
              <a:spcAft>
                <a:spcPts val="0"/>
              </a:spcAft>
              <a:buClr>
                <a:srgbClr val="000000"/>
              </a:buClr>
              <a:buSzPts val="1100"/>
              <a:buFont typeface="Lato"/>
              <a:buChar char="○"/>
            </a:pPr>
            <a:r>
              <a:rPr lang="en"/>
              <a:t>Intergovernmental</a:t>
            </a:r>
            <a:endParaRPr/>
          </a:p>
          <a:p>
            <a:pPr indent="0" lvl="0" marL="0" rtl="0" algn="l">
              <a:spcBef>
                <a:spcPts val="1200"/>
              </a:spcBef>
              <a:spcAft>
                <a:spcPts val="0"/>
              </a:spcAft>
              <a:buNone/>
            </a:pPr>
            <a:r>
              <a:rPr lang="en"/>
              <a:t>Key features:</a:t>
            </a:r>
            <a:endParaRPr/>
          </a:p>
          <a:p>
            <a:pPr indent="-298450" lvl="0" marL="457200" rtl="0" algn="l">
              <a:spcBef>
                <a:spcPts val="1200"/>
              </a:spcBef>
              <a:spcAft>
                <a:spcPts val="0"/>
              </a:spcAft>
              <a:buClr>
                <a:srgbClr val="000000"/>
              </a:buClr>
              <a:buSzPts val="1100"/>
              <a:buFont typeface="Lato"/>
              <a:buChar char="●"/>
            </a:pPr>
            <a:r>
              <a:rPr lang="en"/>
              <a:t>EU citizenship</a:t>
            </a:r>
            <a:endParaRPr/>
          </a:p>
          <a:p>
            <a:pPr indent="-298450" lvl="0" marL="457200" rtl="0" algn="l">
              <a:spcBef>
                <a:spcPts val="0"/>
              </a:spcBef>
              <a:spcAft>
                <a:spcPts val="0"/>
              </a:spcAft>
              <a:buClr>
                <a:srgbClr val="000000"/>
              </a:buClr>
              <a:buSzPts val="1100"/>
              <a:buFont typeface="Lato"/>
              <a:buChar char="●"/>
            </a:pPr>
            <a:r>
              <a:rPr lang="en"/>
              <a:t>Codecision for European Parliament</a:t>
            </a:r>
            <a:endParaRPr/>
          </a:p>
          <a:p>
            <a:pPr indent="-298450" lvl="1" marL="914400" rtl="0" algn="l">
              <a:spcBef>
                <a:spcPts val="0"/>
              </a:spcBef>
              <a:spcAft>
                <a:spcPts val="0"/>
              </a:spcAft>
              <a:buClr>
                <a:srgbClr val="000000"/>
              </a:buClr>
              <a:buSzPts val="1100"/>
              <a:buFont typeface="Arial"/>
              <a:buChar char="○"/>
            </a:pPr>
            <a:r>
              <a:rPr lang="en"/>
              <a:t>Limited power - Hybrid 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Limits and Backlash</a:t>
            </a:r>
            <a:endParaRPr/>
          </a:p>
        </p:txBody>
      </p:sp>
      <p:sp>
        <p:nvSpPr>
          <p:cNvPr id="134" name="Google Shape;134;p21"/>
          <p:cNvSpPr txBox="1"/>
          <p:nvPr>
            <p:ph idx="1" type="body"/>
          </p:nvPr>
        </p:nvSpPr>
        <p:spPr>
          <a:xfrm>
            <a:off x="729450" y="2078875"/>
            <a:ext cx="7688700" cy="2855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600"/>
              <a:t>Post - Maastricht:</a:t>
            </a:r>
            <a:endParaRPr sz="1600"/>
          </a:p>
          <a:p>
            <a:pPr indent="-330200" lvl="0" marL="457200" rtl="0" algn="l">
              <a:spcBef>
                <a:spcPts val="1200"/>
              </a:spcBef>
              <a:spcAft>
                <a:spcPts val="0"/>
              </a:spcAft>
              <a:buClr>
                <a:srgbClr val="000000"/>
              </a:buClr>
              <a:buSzPts val="1600"/>
              <a:buFont typeface="Arial"/>
              <a:buChar char="●"/>
            </a:pPr>
            <a:r>
              <a:rPr lang="en" sz="1600"/>
              <a:t>Yugoslav war failure</a:t>
            </a:r>
            <a:endParaRPr sz="1600"/>
          </a:p>
          <a:p>
            <a:pPr indent="-330200" lvl="0" marL="457200" rtl="0" algn="l">
              <a:spcBef>
                <a:spcPts val="0"/>
              </a:spcBef>
              <a:spcAft>
                <a:spcPts val="0"/>
              </a:spcAft>
              <a:buClr>
                <a:srgbClr val="000000"/>
              </a:buClr>
              <a:buSzPts val="1600"/>
              <a:buFont typeface="Arial"/>
              <a:buChar char="●"/>
            </a:pPr>
            <a:r>
              <a:rPr lang="en" sz="1600"/>
              <a:t>Danish and French referendum crises</a:t>
            </a:r>
            <a:endParaRPr sz="1600"/>
          </a:p>
          <a:p>
            <a:pPr indent="-330200" lvl="0" marL="457200" rtl="0" algn="l">
              <a:spcBef>
                <a:spcPts val="0"/>
              </a:spcBef>
              <a:spcAft>
                <a:spcPts val="0"/>
              </a:spcAft>
              <a:buClr>
                <a:srgbClr val="000000"/>
              </a:buClr>
              <a:buSzPts val="1600"/>
              <a:buFont typeface="Arial"/>
              <a:buChar char="●"/>
            </a:pPr>
            <a:r>
              <a:rPr lang="en" sz="1600"/>
              <a:t>Economic recession → Rising Euroscepticism</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Lato"/>
                <a:ea typeface="Lato"/>
                <a:cs typeface="Lato"/>
                <a:sym typeface="Lato"/>
              </a:rPr>
              <a:t>Core Themes</a:t>
            </a:r>
            <a:endParaRPr>
              <a:latin typeface="Lato"/>
              <a:ea typeface="Lato"/>
              <a:cs typeface="Lato"/>
              <a:sym typeface="Lato"/>
            </a:endParaRPr>
          </a:p>
        </p:txBody>
      </p:sp>
      <p:sp>
        <p:nvSpPr>
          <p:cNvPr id="140" name="Google Shape;140;p22"/>
          <p:cNvSpPr txBox="1"/>
          <p:nvPr>
            <p:ph idx="1" type="body"/>
          </p:nvPr>
        </p:nvSpPr>
        <p:spPr>
          <a:xfrm>
            <a:off x="729450" y="1853850"/>
            <a:ext cx="7688700" cy="32040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Crisis as reform catalyst</a:t>
            </a:r>
            <a:endParaRPr/>
          </a:p>
          <a:p>
            <a:pPr indent="-298450" lvl="1" marL="914400" rtl="0" algn="l">
              <a:spcBef>
                <a:spcPts val="0"/>
              </a:spcBef>
              <a:spcAft>
                <a:spcPts val="0"/>
              </a:spcAft>
              <a:buSzPts val="1100"/>
              <a:buChar char="○"/>
            </a:pPr>
            <a:r>
              <a:rPr lang="en"/>
              <a:t>Oil shocks → Monetary coordination</a:t>
            </a:r>
            <a:endParaRPr/>
          </a:p>
          <a:p>
            <a:pPr indent="-298450" lvl="1" marL="914400" rtl="0" algn="l">
              <a:spcBef>
                <a:spcPts val="0"/>
              </a:spcBef>
              <a:spcAft>
                <a:spcPts val="0"/>
              </a:spcAft>
              <a:buSzPts val="1100"/>
              <a:buChar char="○"/>
            </a:pPr>
            <a:r>
              <a:rPr lang="en"/>
              <a:t>Economic stagnation → Single market</a:t>
            </a:r>
            <a:endParaRPr/>
          </a:p>
          <a:p>
            <a:pPr indent="-298450" lvl="1" marL="914400" rtl="0" algn="l">
              <a:spcBef>
                <a:spcPts val="0"/>
              </a:spcBef>
              <a:spcAft>
                <a:spcPts val="0"/>
              </a:spcAft>
              <a:buSzPts val="1100"/>
              <a:buChar char="○"/>
            </a:pPr>
            <a:r>
              <a:rPr lang="en"/>
              <a:t>German reunification → Monetary union</a:t>
            </a:r>
            <a:endParaRPr/>
          </a:p>
          <a:p>
            <a:pPr indent="-311150" lvl="0" marL="457200" rtl="0" algn="l">
              <a:spcBef>
                <a:spcPts val="0"/>
              </a:spcBef>
              <a:spcAft>
                <a:spcPts val="0"/>
              </a:spcAft>
              <a:buSzPts val="1300"/>
              <a:buChar char="●"/>
            </a:pPr>
            <a:r>
              <a:rPr lang="en"/>
              <a:t>Franco - German leadership </a:t>
            </a:r>
            <a:endParaRPr/>
          </a:p>
          <a:p>
            <a:pPr indent="-298450" lvl="1" marL="914400" rtl="0" algn="l">
              <a:spcBef>
                <a:spcPts val="0"/>
              </a:spcBef>
              <a:spcAft>
                <a:spcPts val="0"/>
              </a:spcAft>
              <a:buSzPts val="1100"/>
              <a:buChar char="○"/>
            </a:pPr>
            <a:r>
              <a:rPr lang="en"/>
              <a:t>Fontainebleau compromise</a:t>
            </a:r>
            <a:endParaRPr/>
          </a:p>
          <a:p>
            <a:pPr indent="-298450" lvl="1" marL="914400" rtl="0" algn="l">
              <a:spcBef>
                <a:spcPts val="0"/>
              </a:spcBef>
              <a:spcAft>
                <a:spcPts val="0"/>
              </a:spcAft>
              <a:buSzPts val="1100"/>
              <a:buChar char="○"/>
            </a:pPr>
            <a:r>
              <a:rPr lang="en"/>
              <a:t>Maastricht (Kohl &amp; Mitterrand)</a:t>
            </a:r>
            <a:endParaRPr/>
          </a:p>
          <a:p>
            <a:pPr indent="-311150" lvl="0" marL="457200" rtl="0" algn="l">
              <a:spcBef>
                <a:spcPts val="0"/>
              </a:spcBef>
              <a:spcAft>
                <a:spcPts val="0"/>
              </a:spcAft>
              <a:buSzPts val="1300"/>
              <a:buChar char="●"/>
            </a:pPr>
            <a:r>
              <a:rPr lang="en"/>
              <a:t>Law as integration tool</a:t>
            </a:r>
            <a:endParaRPr/>
          </a:p>
          <a:p>
            <a:pPr indent="-298450" lvl="1" marL="914400" rtl="0" algn="l">
              <a:spcBef>
                <a:spcPts val="0"/>
              </a:spcBef>
              <a:spcAft>
                <a:spcPts val="0"/>
              </a:spcAft>
              <a:buSzPts val="1100"/>
              <a:buChar char="○"/>
            </a:pPr>
            <a:r>
              <a:rPr lang="en"/>
              <a:t>Cassis de Dijon - </a:t>
            </a:r>
            <a:r>
              <a:rPr lang="en"/>
              <a:t>Mutual recognition </a:t>
            </a:r>
            <a:endParaRPr/>
          </a:p>
          <a:p>
            <a:pPr indent="-311150" lvl="0" marL="457200" rtl="0" algn="l">
              <a:spcBef>
                <a:spcPts val="0"/>
              </a:spcBef>
              <a:spcAft>
                <a:spcPts val="0"/>
              </a:spcAft>
              <a:buSzPts val="1300"/>
              <a:buChar char="●"/>
            </a:pPr>
            <a:r>
              <a:rPr lang="en"/>
              <a:t>Deepening + Enlargement linked</a:t>
            </a:r>
            <a:endParaRPr/>
          </a:p>
          <a:p>
            <a:pPr indent="-311150" lvl="0" marL="457200" rtl="0" algn="l">
              <a:spcBef>
                <a:spcPts val="0"/>
              </a:spcBef>
              <a:spcAft>
                <a:spcPts val="0"/>
              </a:spcAft>
              <a:buSzPts val="1300"/>
              <a:buChar char="●"/>
            </a:pPr>
            <a:r>
              <a:rPr lang="en"/>
              <a:t>Hybrid institutional model</a:t>
            </a:r>
            <a:endParaRPr/>
          </a:p>
          <a:p>
            <a:pPr indent="-298450" lvl="1" marL="914400" rtl="0" algn="l">
              <a:spcBef>
                <a:spcPts val="0"/>
              </a:spcBef>
              <a:spcAft>
                <a:spcPts val="0"/>
              </a:spcAft>
              <a:buSzPts val="1100"/>
              <a:buChar char="○"/>
            </a:pPr>
            <a:r>
              <a:rPr lang="en"/>
              <a:t>Supranational - European commision + court of justice </a:t>
            </a:r>
            <a:endParaRPr/>
          </a:p>
          <a:p>
            <a:pPr indent="-298450" lvl="1" marL="914400" rtl="0" algn="l">
              <a:spcBef>
                <a:spcPts val="0"/>
              </a:spcBef>
              <a:spcAft>
                <a:spcPts val="0"/>
              </a:spcAft>
              <a:buSzPts val="1100"/>
              <a:buChar char="○"/>
            </a:pPr>
            <a:r>
              <a:rPr lang="en"/>
              <a:t>Intergovernmental - European Council, CFSP foreign policy, Justice and Home Affairs</a:t>
            </a:r>
            <a:endParaRPr/>
          </a:p>
          <a:p>
            <a:pPr indent="-311150" lvl="0" marL="457200" rtl="0" algn="l">
              <a:spcBef>
                <a:spcPts val="0"/>
              </a:spcBef>
              <a:spcAft>
                <a:spcPts val="0"/>
              </a:spcAft>
              <a:buSzPts val="1300"/>
              <a:buChar char="●"/>
            </a:pPr>
            <a:r>
              <a:rPr lang="en"/>
              <a:t>Reinvention within 1957 framework</a:t>
            </a:r>
            <a:endParaRPr/>
          </a:p>
          <a:p>
            <a:pPr indent="-298450" lvl="1" marL="914400" rtl="0" algn="l">
              <a:spcBef>
                <a:spcPts val="0"/>
              </a:spcBef>
              <a:spcAft>
                <a:spcPts val="0"/>
              </a:spcAft>
              <a:buSzPts val="1100"/>
              <a:buChar char="○"/>
            </a:pPr>
            <a:r>
              <a:rPr lang="en"/>
              <a:t>Added European Council, European Monetary System, Single European Act, Maastricht Treaty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Questions</a:t>
            </a:r>
            <a:endParaRPr/>
          </a:p>
        </p:txBody>
      </p:sp>
      <p:sp>
        <p:nvSpPr>
          <p:cNvPr id="146" name="Google Shape;146;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000000"/>
              </a:buClr>
              <a:buSzPts val="1400"/>
              <a:buFont typeface="Arial"/>
              <a:buAutoNum type="arabicPeriod"/>
            </a:pPr>
            <a:r>
              <a:rPr lang="en" sz="1400"/>
              <a:t>Was Economic and Monetary Union an economic necessity or geopolitical strategy?</a:t>
            </a:r>
            <a:br>
              <a:rPr lang="en" sz="1400"/>
            </a:br>
            <a:endParaRPr sz="1400"/>
          </a:p>
          <a:p>
            <a:pPr indent="-317500" lvl="0" marL="457200" rtl="0" algn="l">
              <a:spcBef>
                <a:spcPts val="0"/>
              </a:spcBef>
              <a:spcAft>
                <a:spcPts val="0"/>
              </a:spcAft>
              <a:buClr>
                <a:srgbClr val="000000"/>
              </a:buClr>
              <a:buSzPts val="1400"/>
              <a:buFont typeface="Arial"/>
              <a:buAutoNum type="arabicPeriod"/>
            </a:pPr>
            <a:r>
              <a:rPr lang="en" sz="1400"/>
              <a:t>Do you think </a:t>
            </a:r>
            <a:r>
              <a:rPr lang="en" sz="1400"/>
              <a:t>enlargement</a:t>
            </a:r>
            <a:r>
              <a:rPr lang="en" sz="1400"/>
              <a:t> drove deepening or did deepening integration make enlargement possible?</a:t>
            </a:r>
            <a:br>
              <a:rPr lang="en" sz="1400"/>
            </a:br>
            <a:endParaRPr sz="1400"/>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
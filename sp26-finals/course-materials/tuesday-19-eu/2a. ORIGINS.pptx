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275" r:id="rId8"/>
    <p:sldId id="276" r:id="rId9"/>
    <p:sldId id="280" r:id="rId10"/>
    <p:sldId id="259" r:id="rId11"/>
    <p:sldId id="277" r:id="rId12"/>
    <p:sldId id="278" r:id="rId13"/>
    <p:sldId id="27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5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ORIGINS AND VISIONARIES</a:t>
            </a:r>
            <a:br>
              <a:rPr lang="en-GB" dirty="0" smtClean="0"/>
            </a:br>
            <a:r>
              <a:rPr lang="en-GB" dirty="0" smtClean="0"/>
              <a:t>1945/1948</a:t>
            </a:r>
            <a:endParaRPr lang="fr-LU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LU"/>
          </a:p>
        </p:txBody>
      </p:sp>
    </p:spTree>
    <p:extLst>
      <p:ext uri="{BB962C8B-B14F-4D97-AF65-F5344CB8AC3E}">
        <p14:creationId xmlns:p14="http://schemas.microsoft.com/office/powerpoint/2010/main" val="3191117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GB" dirty="0" smtClean="0"/>
              <a:t>Seeds of unity before 1945: A CONTINENT IN TURMOIL</a:t>
            </a:r>
            <a:endParaRPr lang="fr-LU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82586" y="2692400"/>
            <a:ext cx="4290141" cy="3810000"/>
          </a:xfrm>
        </p:spPr>
        <p:txBody>
          <a:bodyPr/>
          <a:lstStyle/>
          <a:p>
            <a:r>
              <a:rPr lang="en-US" dirty="0"/>
              <a:t>Europe devastated by two world wars, nationalism discredited</a:t>
            </a:r>
          </a:p>
          <a:p>
            <a:r>
              <a:rPr lang="en-US" dirty="0"/>
              <a:t>Intellectuals and politicians sought new frameworks to prevent future conflict</a:t>
            </a:r>
          </a:p>
          <a:p>
            <a:r>
              <a:rPr lang="en-US" dirty="0"/>
              <a:t>Early ideas of cooperation and federation emerged amid rising tensions</a:t>
            </a:r>
          </a:p>
        </p:txBody>
      </p:sp>
      <p:pic>
        <p:nvPicPr>
          <p:cNvPr id="6" name="Picture 2" descr="https://imagenes.elpais.com/resizer/v2/ROTKERELZ5HNJOXNVD6ST4YU2U.jpg?auth=10d4c77b124ee46da19fec96a62096635e6f11f54b5f9b68d917ec4910181fdc&amp;width=4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454" y="2389538"/>
            <a:ext cx="5172363" cy="3896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42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9AD410-45D3-46F1-9D74-DE9F43BBB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Count Richard von </a:t>
            </a:r>
            <a:r>
              <a:rPr lang="en-US" b="1" dirty="0" err="1"/>
              <a:t>Coudenhove-Kalergi</a:t>
            </a:r>
            <a:r>
              <a:rPr lang="en-US" b="1" dirty="0"/>
              <a:t>: The Pioneer of Pan-Europeanism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FBE913F-204F-4EF8-961F-CC3E9F7B8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627746"/>
            <a:ext cx="7051813" cy="3593591"/>
          </a:xfrm>
        </p:spPr>
        <p:txBody>
          <a:bodyPr/>
          <a:lstStyle/>
          <a:p>
            <a:r>
              <a:rPr lang="es-ES" dirty="0"/>
              <a:t>1923: </a:t>
            </a:r>
            <a:r>
              <a:rPr lang="es-ES" dirty="0" err="1"/>
              <a:t>Founded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Pan-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Movement</a:t>
            </a:r>
            <a:r>
              <a:rPr lang="es-ES" dirty="0"/>
              <a:t> </a:t>
            </a:r>
            <a:r>
              <a:rPr lang="es-ES" dirty="0" err="1"/>
              <a:t>advocating</a:t>
            </a:r>
            <a:r>
              <a:rPr lang="es-ES" dirty="0"/>
              <a:t> a </a:t>
            </a:r>
            <a:r>
              <a:rPr lang="es-ES" dirty="0" err="1"/>
              <a:t>united</a:t>
            </a:r>
            <a:r>
              <a:rPr lang="es-ES" dirty="0"/>
              <a:t> </a:t>
            </a:r>
            <a:r>
              <a:rPr lang="es-ES" dirty="0" err="1"/>
              <a:t>Europe</a:t>
            </a:r>
            <a:endParaRPr lang="es-ES" dirty="0"/>
          </a:p>
          <a:p>
            <a:r>
              <a:rPr lang="es-ES" dirty="0" err="1"/>
              <a:t>Published</a:t>
            </a:r>
            <a:r>
              <a:rPr lang="es-ES" dirty="0"/>
              <a:t> "Pan-Europa" </a:t>
            </a:r>
            <a:r>
              <a:rPr lang="es-ES" dirty="0" err="1"/>
              <a:t>manifesto</a:t>
            </a:r>
            <a:r>
              <a:rPr lang="es-ES" dirty="0"/>
              <a:t> </a:t>
            </a:r>
            <a:r>
              <a:rPr lang="es-ES" dirty="0" err="1"/>
              <a:t>promoting</a:t>
            </a:r>
            <a:r>
              <a:rPr lang="es-ES" dirty="0"/>
              <a:t> </a:t>
            </a:r>
            <a:r>
              <a:rPr lang="es-ES" dirty="0" err="1"/>
              <a:t>political</a:t>
            </a:r>
            <a:r>
              <a:rPr lang="es-ES" dirty="0"/>
              <a:t> and </a:t>
            </a:r>
            <a:r>
              <a:rPr lang="es-ES" dirty="0" err="1"/>
              <a:t>economic</a:t>
            </a:r>
            <a:r>
              <a:rPr lang="es-ES" dirty="0"/>
              <a:t> </a:t>
            </a:r>
            <a:r>
              <a:rPr lang="es-ES" dirty="0" err="1"/>
              <a:t>integration</a:t>
            </a:r>
            <a:endParaRPr lang="es-ES" dirty="0"/>
          </a:p>
          <a:p>
            <a:r>
              <a:rPr lang="es-ES" dirty="0" err="1"/>
              <a:t>Vision</a:t>
            </a:r>
            <a:r>
              <a:rPr lang="es-ES" dirty="0"/>
              <a:t>: a </a:t>
            </a:r>
            <a:r>
              <a:rPr lang="es-ES" dirty="0" err="1"/>
              <a:t>peaceful</a:t>
            </a:r>
            <a:r>
              <a:rPr lang="es-ES" dirty="0"/>
              <a:t> </a:t>
            </a:r>
            <a:r>
              <a:rPr lang="es-ES" dirty="0" err="1"/>
              <a:t>Europe</a:t>
            </a:r>
            <a:r>
              <a:rPr lang="es-ES" dirty="0"/>
              <a:t> </a:t>
            </a:r>
            <a:r>
              <a:rPr lang="es-ES" dirty="0" err="1"/>
              <a:t>transcending</a:t>
            </a:r>
            <a:r>
              <a:rPr lang="es-ES" dirty="0"/>
              <a:t> </a:t>
            </a:r>
            <a:r>
              <a:rPr lang="es-ES" dirty="0" err="1"/>
              <a:t>nationalism</a:t>
            </a:r>
            <a:r>
              <a:rPr lang="es-ES" dirty="0"/>
              <a:t> </a:t>
            </a:r>
            <a:r>
              <a:rPr lang="es-ES" dirty="0" err="1"/>
              <a:t>through</a:t>
            </a:r>
            <a:r>
              <a:rPr lang="es-ES" dirty="0"/>
              <a:t> </a:t>
            </a:r>
            <a:r>
              <a:rPr lang="es-ES" dirty="0" err="1"/>
              <a:t>federalism</a:t>
            </a:r>
            <a:endParaRPr lang="es-ES" dirty="0"/>
          </a:p>
          <a:p>
            <a:r>
              <a:rPr lang="es-ES" dirty="0" err="1"/>
              <a:t>Influenced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elites and </a:t>
            </a:r>
            <a:r>
              <a:rPr lang="es-ES" dirty="0" err="1"/>
              <a:t>inspired</a:t>
            </a:r>
            <a:r>
              <a:rPr lang="es-ES" dirty="0"/>
              <a:t> </a:t>
            </a:r>
            <a:r>
              <a:rPr lang="es-ES" dirty="0" err="1"/>
              <a:t>later</a:t>
            </a:r>
            <a:r>
              <a:rPr lang="es-ES" dirty="0"/>
              <a:t> </a:t>
            </a:r>
            <a:r>
              <a:rPr lang="es-ES" dirty="0" err="1"/>
              <a:t>integration</a:t>
            </a:r>
            <a:r>
              <a:rPr lang="es-ES" dirty="0"/>
              <a:t> </a:t>
            </a:r>
            <a:r>
              <a:rPr lang="es-ES" dirty="0" err="1"/>
              <a:t>efforts</a:t>
            </a:r>
            <a:endParaRPr lang="es-ES" dirty="0"/>
          </a:p>
        </p:txBody>
      </p:sp>
      <p:pic>
        <p:nvPicPr>
          <p:cNvPr id="2050" name="Picture 2" descr="https://upload.wikimedia.org/wikipedia/commons/thumb/e/ee/Coudenhove-Kalergi_1926.jpg/220px-Coudenhove-Kalergi_192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085" y="2443019"/>
            <a:ext cx="20955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999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9AD410-45D3-46F1-9D74-DE9F43BBB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Aristides </a:t>
            </a:r>
            <a:r>
              <a:rPr lang="en-US" b="1" dirty="0"/>
              <a:t>Briand’s 1929 Proposal for a European Federal Union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FBE913F-204F-4EF8-961F-CC3E9F7B8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125230"/>
            <a:ext cx="7051813" cy="3593591"/>
          </a:xfrm>
        </p:spPr>
        <p:txBody>
          <a:bodyPr/>
          <a:lstStyle/>
          <a:p>
            <a:r>
              <a:rPr lang="en-US" dirty="0"/>
              <a:t>French Foreign Minister Briand proposed a "European Federal Union" to the League of Nations</a:t>
            </a:r>
          </a:p>
          <a:p>
            <a:r>
              <a:rPr lang="en-US" dirty="0"/>
              <a:t>Aimed to create a framework for economic cooperation and peace</a:t>
            </a:r>
          </a:p>
          <a:p>
            <a:r>
              <a:rPr lang="en-US" dirty="0"/>
              <a:t>Though unrealized, it marked the first official political call for European unity</a:t>
            </a:r>
          </a:p>
          <a:p>
            <a:r>
              <a:rPr lang="en-US" dirty="0"/>
              <a:t>Set precedent for supranational cooperation beyond nation-states</a:t>
            </a:r>
          </a:p>
        </p:txBody>
      </p:sp>
      <p:pic>
        <p:nvPicPr>
          <p:cNvPr id="3074" name="Picture 2" descr="Imag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2121" y="2125230"/>
            <a:ext cx="2381250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891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9AD410-45D3-46F1-9D74-DE9F43BBB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Winston Churchill’s 1946 Zurich Speech: "United States of Europe"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FBE913F-204F-4EF8-961F-CC3E9F7B8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369" y="2249056"/>
            <a:ext cx="7051813" cy="3593591"/>
          </a:xfrm>
        </p:spPr>
        <p:txBody>
          <a:bodyPr/>
          <a:lstStyle/>
          <a:p>
            <a:r>
              <a:rPr lang="en-US" dirty="0"/>
              <a:t>Delivered September 19, 1946, advocating a united Europe to secure peace</a:t>
            </a:r>
          </a:p>
          <a:p>
            <a:r>
              <a:rPr lang="en-US" dirty="0"/>
              <a:t>Called for a "Council of Europe" to foster cooperation among European nations</a:t>
            </a:r>
          </a:p>
          <a:p>
            <a:r>
              <a:rPr lang="en-US" dirty="0"/>
              <a:t>Emphasized reconciliation, especially Franco-German friendship</a:t>
            </a:r>
          </a:p>
          <a:p>
            <a:r>
              <a:rPr lang="en-US" dirty="0"/>
              <a:t>Though Britain initially stayed aloof, Churchill’s vision influenced European leaders</a:t>
            </a:r>
          </a:p>
        </p:txBody>
      </p:sp>
      <p:pic>
        <p:nvPicPr>
          <p:cNvPr id="4098" name="Picture 2" descr="https://encrypted-tbn0.gstatic.com/images?q=tbn:ANd9GcQ4TfrF-1RO-mZcJDhJO7ovL8BFsWmtvkOetQa3xxx3sjX0rsjR6Bq7ErQtvtR_Mfky90Hyow&amp;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9673" y="2122487"/>
            <a:ext cx="2757055" cy="350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71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9AD410-45D3-46F1-9D74-DE9F43BBB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Stefan </a:t>
            </a:r>
            <a:r>
              <a:rPr lang="en-US" b="1" dirty="0" err="1" smtClean="0"/>
              <a:t>zweig</a:t>
            </a:r>
            <a:r>
              <a:rPr lang="en-US" b="1" dirty="0" smtClean="0"/>
              <a:t>: The world of yesterday: memoires of a </a:t>
            </a:r>
            <a:r>
              <a:rPr lang="en-US" b="1" dirty="0" err="1" smtClean="0"/>
              <a:t>european</a:t>
            </a: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FBE913F-204F-4EF8-961F-CC3E9F7B8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823" y="1874517"/>
            <a:ext cx="10460031" cy="3593591"/>
          </a:xfrm>
        </p:spPr>
        <p:txBody>
          <a:bodyPr>
            <a:noAutofit/>
          </a:bodyPr>
          <a:lstStyle/>
          <a:p>
            <a:r>
              <a:rPr lang="en-US" i="1" dirty="0">
                <a:solidFill>
                  <a:schemeClr val="bg2">
                    <a:lumMod val="25000"/>
                  </a:schemeClr>
                </a:solidFill>
              </a:rPr>
              <a:t>The World of Yesterday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by Stefan Zweig is more than a personal autobiography; it is a historical and emotional testimony of a Europe that disappeared in the first half of the twentieth century. </a:t>
            </a:r>
            <a:endParaRPr lang="en-US" dirty="0" smtClean="0">
              <a:solidFill>
                <a:schemeClr val="bg2">
                  <a:lumMod val="25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What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emotions dominate these fragments, and how are they connected to the historical events taking place in Europe at the time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?</a:t>
            </a:r>
          </a:p>
          <a:p>
            <a:pPr marL="457200" indent="-457200">
              <a:buAutoNum type="arabicPeriod"/>
            </a:pP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How does Zweig define or suggest a concept of “European identity” in these texts and how does this identity differ from national or political identities?</a:t>
            </a:r>
          </a:p>
          <a:p>
            <a:pPr marL="457200" indent="-457200">
              <a:buAutoNum type="arabicPeriod"/>
            </a:pPr>
            <a:r>
              <a:rPr lang="es-ES" altLang="es-ES" dirty="0" err="1" smtClean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What</a:t>
            </a:r>
            <a:r>
              <a:rPr lang="es-ES" altLang="es-ES" dirty="0" smtClean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 </a:t>
            </a:r>
            <a:r>
              <a:rPr lang="es-ES" altLang="es-ES" dirty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idea of a </a:t>
            </a:r>
            <a:r>
              <a:rPr lang="es-ES" altLang="es-ES" dirty="0" err="1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unified</a:t>
            </a:r>
            <a:r>
              <a:rPr lang="es-ES" altLang="es-ES" dirty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 </a:t>
            </a:r>
            <a:r>
              <a:rPr lang="es-ES" altLang="es-ES" dirty="0" err="1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Europe</a:t>
            </a:r>
            <a:r>
              <a:rPr lang="es-ES" altLang="es-ES" dirty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 emerges </a:t>
            </a:r>
            <a:r>
              <a:rPr lang="es-ES" altLang="es-ES" dirty="0" err="1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from</a:t>
            </a:r>
            <a:r>
              <a:rPr lang="es-ES" altLang="es-ES" dirty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 </a:t>
            </a:r>
            <a:r>
              <a:rPr lang="es-ES" altLang="es-ES" dirty="0" err="1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these</a:t>
            </a:r>
            <a:r>
              <a:rPr lang="es-ES" altLang="es-ES" dirty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 </a:t>
            </a:r>
            <a:r>
              <a:rPr lang="es-ES" altLang="es-ES" dirty="0" err="1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fragments</a:t>
            </a:r>
            <a:r>
              <a:rPr lang="es-ES" altLang="es-ES" dirty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, and to </a:t>
            </a:r>
            <a:r>
              <a:rPr lang="es-ES" altLang="es-ES" dirty="0" err="1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what</a:t>
            </a:r>
            <a:r>
              <a:rPr lang="es-ES" altLang="es-ES" dirty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 </a:t>
            </a:r>
            <a:r>
              <a:rPr lang="es-ES" altLang="es-ES" dirty="0" err="1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extent</a:t>
            </a:r>
            <a:r>
              <a:rPr lang="es-ES" altLang="es-ES" dirty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 </a:t>
            </a:r>
            <a:r>
              <a:rPr lang="es-ES" altLang="es-ES" dirty="0" err="1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is</a:t>
            </a:r>
            <a:r>
              <a:rPr lang="es-ES" altLang="es-ES" dirty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 </a:t>
            </a:r>
            <a:r>
              <a:rPr lang="es-ES" altLang="es-ES" dirty="0" err="1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it</a:t>
            </a:r>
            <a:r>
              <a:rPr lang="es-ES" altLang="es-ES" dirty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 </a:t>
            </a:r>
            <a:r>
              <a:rPr lang="es-ES" altLang="es-ES" dirty="0" err="1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presented</a:t>
            </a:r>
            <a:r>
              <a:rPr lang="es-ES" altLang="es-ES" dirty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 as a </a:t>
            </a:r>
            <a:r>
              <a:rPr lang="es-ES" altLang="es-ES" dirty="0" err="1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lost</a:t>
            </a:r>
            <a:r>
              <a:rPr lang="es-ES" altLang="es-ES" dirty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 </a:t>
            </a:r>
            <a:r>
              <a:rPr lang="es-ES" altLang="es-ES" dirty="0" err="1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dream</a:t>
            </a:r>
            <a:r>
              <a:rPr lang="es-ES" altLang="es-ES" dirty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, a moral ideal, </a:t>
            </a:r>
            <a:r>
              <a:rPr lang="es-ES" altLang="es-ES" dirty="0" err="1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or</a:t>
            </a:r>
            <a:r>
              <a:rPr lang="es-ES" altLang="es-ES" dirty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 a </a:t>
            </a:r>
            <a:r>
              <a:rPr lang="es-ES" altLang="es-ES" dirty="0" err="1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possible</a:t>
            </a:r>
            <a:r>
              <a:rPr lang="es-ES" altLang="es-ES" dirty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 </a:t>
            </a:r>
            <a:r>
              <a:rPr lang="es-ES" altLang="es-ES" dirty="0" err="1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future</a:t>
            </a:r>
            <a:r>
              <a:rPr lang="es-ES" altLang="es-ES" dirty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 </a:t>
            </a:r>
            <a:r>
              <a:rPr lang="es-ES" altLang="es-ES" dirty="0" err="1" smtClean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project</a:t>
            </a:r>
            <a:r>
              <a:rPr lang="es-ES" altLang="es-ES" dirty="0" smtClean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?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4. Does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Zweig’s nostalgia for pre-war Europe idealize the past, or does it function as a critical tool to warn future generations about political and moral decline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?</a:t>
            </a:r>
            <a:endParaRPr lang="en-US" dirty="0">
              <a:solidFill>
                <a:schemeClr val="bg2">
                  <a:lumMod val="25000"/>
                </a:schemeClr>
              </a:solidFill>
              <a:latin typeface="Gill Sans MT (Body)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WAR, SORROW, BORDERS, NATIONALISM, ESTRANGEMENT, UNSECURITY, HATE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Gill Sans MT (Body)"/>
              </a:rPr>
              <a:t>EUROPEAN DREAM: PEACE, HAPPINESS, MOBILITY, SUPRANATIONALISM, BELONGING, SECURITY…</a:t>
            </a:r>
            <a:endParaRPr lang="en-US" dirty="0">
              <a:solidFill>
                <a:schemeClr val="bg2">
                  <a:lumMod val="25000"/>
                </a:schemeClr>
              </a:solidFill>
              <a:latin typeface="Gill Sans MT (Body)"/>
            </a:endParaRPr>
          </a:p>
        </p:txBody>
      </p:sp>
    </p:spTree>
    <p:extLst>
      <p:ext uri="{BB962C8B-B14F-4D97-AF65-F5344CB8AC3E}">
        <p14:creationId xmlns:p14="http://schemas.microsoft.com/office/powerpoint/2010/main" val="1376240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93090" y="382385"/>
            <a:ext cx="10136909" cy="1917470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b="1" dirty="0"/>
              <a:t>The Immediate Postwar Context (1945–1948): Devastation and Urgency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51677" y="2512292"/>
            <a:ext cx="4736086" cy="3800764"/>
          </a:xfrm>
        </p:spPr>
        <p:txBody>
          <a:bodyPr/>
          <a:lstStyle/>
          <a:p>
            <a:r>
              <a:rPr lang="en-US" dirty="0"/>
              <a:t>Europe in ruins: cities destroyed, economies shattered, millions displaced</a:t>
            </a:r>
          </a:p>
          <a:p>
            <a:r>
              <a:rPr lang="en-US" dirty="0"/>
              <a:t>Cold War tensions rising; Europe divided into Western and Soviet spheres</a:t>
            </a:r>
          </a:p>
          <a:p>
            <a:r>
              <a:rPr lang="en-US" dirty="0"/>
              <a:t>Urgent need for economic recovery and political stability</a:t>
            </a:r>
          </a:p>
          <a:p>
            <a:r>
              <a:rPr lang="en-US" dirty="0"/>
              <a:t>Western European leaders sought new forms of cooperation to rebuild and secure peace</a:t>
            </a:r>
          </a:p>
        </p:txBody>
      </p:sp>
      <p:pic>
        <p:nvPicPr>
          <p:cNvPr id="8" name="Picture 4" descr="Archivo:Cold war europe economic alliances map e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765" y="2516910"/>
            <a:ext cx="4467074" cy="411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0569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6146" y="382385"/>
            <a:ext cx="10386290" cy="1917470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b="1" dirty="0"/>
              <a:t>Early Integration Ideas in 1946–1948: Foundations for the </a:t>
            </a:r>
            <a:r>
              <a:rPr lang="en-US" b="1" dirty="0" smtClean="0"/>
              <a:t>ECSC (Coal &amp; steel)</a:t>
            </a:r>
            <a:endParaRPr lang="en-US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42472" y="2798617"/>
            <a:ext cx="8977745" cy="3800764"/>
          </a:xfrm>
        </p:spPr>
        <p:txBody>
          <a:bodyPr>
            <a:normAutofit/>
          </a:bodyPr>
          <a:lstStyle/>
          <a:p>
            <a:r>
              <a:rPr lang="en-US" dirty="0"/>
              <a:t>1946: French Prime Minister Georges </a:t>
            </a:r>
            <a:r>
              <a:rPr lang="en-US" dirty="0" err="1"/>
              <a:t>Bidault</a:t>
            </a:r>
            <a:r>
              <a:rPr lang="en-US" dirty="0"/>
              <a:t> proposed a European customs union</a:t>
            </a:r>
          </a:p>
          <a:p>
            <a:r>
              <a:rPr lang="en-US" dirty="0"/>
              <a:t>1947: The </a:t>
            </a:r>
            <a:r>
              <a:rPr lang="en-US" b="1" dirty="0"/>
              <a:t>Marshall Plan </a:t>
            </a:r>
            <a:r>
              <a:rPr lang="en-US" dirty="0"/>
              <a:t>fostered </a:t>
            </a:r>
            <a:r>
              <a:rPr lang="en-US" u="sng" dirty="0"/>
              <a:t>economic cooperation</a:t>
            </a:r>
            <a:r>
              <a:rPr lang="en-US" dirty="0"/>
              <a:t> and </a:t>
            </a:r>
            <a:r>
              <a:rPr lang="en-US" u="sng" dirty="0"/>
              <a:t>US support</a:t>
            </a:r>
            <a:r>
              <a:rPr lang="en-US" dirty="0"/>
              <a:t> for European unity</a:t>
            </a:r>
          </a:p>
          <a:p>
            <a:r>
              <a:rPr lang="en-US" dirty="0"/>
              <a:t>1948: </a:t>
            </a:r>
            <a:r>
              <a:rPr lang="en-US" b="1" dirty="0"/>
              <a:t>The Treaty of Brussels </a:t>
            </a:r>
            <a:r>
              <a:rPr lang="en-US" dirty="0"/>
              <a:t>created Western Union for </a:t>
            </a:r>
            <a:r>
              <a:rPr lang="en-US" u="sng" dirty="0"/>
              <a:t>defense cooperation</a:t>
            </a:r>
          </a:p>
          <a:p>
            <a:r>
              <a:rPr lang="en-US" dirty="0"/>
              <a:t>These initiatives built trust and practical cooperation among Western European </a:t>
            </a:r>
            <a:r>
              <a:rPr lang="en-US" dirty="0" smtClean="0"/>
              <a:t>states</a:t>
            </a:r>
          </a:p>
          <a:p>
            <a:r>
              <a:rPr lang="en-US" dirty="0" smtClean="0"/>
              <a:t>First </a:t>
            </a:r>
            <a:r>
              <a:rPr lang="en-US" dirty="0" smtClean="0"/>
              <a:t>institutional </a:t>
            </a:r>
            <a:r>
              <a:rPr lang="en-US" dirty="0" smtClean="0"/>
              <a:t>step for </a:t>
            </a:r>
            <a:r>
              <a:rPr lang="en-US" u="sng" dirty="0" smtClean="0"/>
              <a:t>political cooperation</a:t>
            </a:r>
            <a:r>
              <a:rPr lang="en-US" dirty="0" smtClean="0"/>
              <a:t>:</a:t>
            </a:r>
            <a:r>
              <a:rPr lang="en-US" dirty="0" smtClean="0"/>
              <a:t> </a:t>
            </a:r>
            <a:r>
              <a:rPr lang="en-US" dirty="0" smtClean="0"/>
              <a:t>1949. The Council of Europe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69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93090" y="382385"/>
            <a:ext cx="10136909" cy="1917470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b="1" dirty="0"/>
              <a:t>The Council of Europe (1949): First Institutional Step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77817" y="2623128"/>
            <a:ext cx="5273963" cy="3800764"/>
          </a:xfrm>
        </p:spPr>
        <p:txBody>
          <a:bodyPr>
            <a:normAutofit/>
          </a:bodyPr>
          <a:lstStyle/>
          <a:p>
            <a:r>
              <a:rPr lang="en-US" dirty="0"/>
              <a:t>Founded in 1949 to promote human rights, democracy, and rule of law</a:t>
            </a:r>
          </a:p>
          <a:p>
            <a:r>
              <a:rPr lang="en-US" dirty="0"/>
              <a:t>Included 10 founding members, including Britain and France</a:t>
            </a:r>
          </a:p>
          <a:p>
            <a:r>
              <a:rPr lang="en-US" dirty="0"/>
              <a:t>Not a supranational body but a forum for dialogue and cooperation</a:t>
            </a:r>
          </a:p>
          <a:p>
            <a:r>
              <a:rPr lang="en-US" dirty="0"/>
              <a:t>Laid groundwork for deeper integration </a:t>
            </a:r>
            <a:r>
              <a:rPr lang="en-US" dirty="0" smtClean="0"/>
              <a:t>efforts</a:t>
            </a:r>
          </a:p>
          <a:p>
            <a:endParaRPr lang="en-US" dirty="0"/>
          </a:p>
          <a:p>
            <a:r>
              <a:rPr lang="en-US" dirty="0"/>
              <a:t>https://www.youtube.com/watch?v=rl3gtHtJrL4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8" name="Picture 4" descr="Founding fathers - The Council of Europe in brie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2920" y="2735119"/>
            <a:ext cx="3333750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841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93090" y="382385"/>
            <a:ext cx="10136909" cy="1917470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b="1" dirty="0"/>
              <a:t>Conclusion: The Visionaries Who Laid Europe’s Foundations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47273" y="2715492"/>
            <a:ext cx="8645236" cy="3800764"/>
          </a:xfrm>
        </p:spPr>
        <p:txBody>
          <a:bodyPr>
            <a:normAutofit/>
          </a:bodyPr>
          <a:lstStyle/>
          <a:p>
            <a:r>
              <a:rPr lang="en-US" dirty="0"/>
              <a:t>Early 20th-century thinkers planted the idea of a united Europe amid conflict</a:t>
            </a:r>
          </a:p>
          <a:p>
            <a:r>
              <a:rPr lang="en-US" dirty="0"/>
              <a:t>Postwar leaders translated vision into concrete cooperation frameworks</a:t>
            </a:r>
          </a:p>
          <a:p>
            <a:r>
              <a:rPr lang="en-US" dirty="0"/>
              <a:t>Their legacy endures in today’s European Union, a unique peace project born from crisis</a:t>
            </a:r>
          </a:p>
          <a:p>
            <a:r>
              <a:rPr lang="en-US" dirty="0"/>
              <a:t>European integration remains a testament to the power of ideas and collaboration to transform </a:t>
            </a:r>
            <a:r>
              <a:rPr lang="en-US" dirty="0" smtClean="0"/>
              <a:t>history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044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fea1787-2ef9-4f1d-aacd-0861f6e873fa">
      <Terms xmlns="http://schemas.microsoft.com/office/infopath/2007/PartnerControls"/>
    </lcf76f155ced4ddcb4097134ff3c332f>
    <TaxCatchAll xmlns="0c0b9f58-b642-446f-914d-3f292fb8390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C266872DD8C4699140ABCF4701477" ma:contentTypeVersion="12" ma:contentTypeDescription="Create a new document." ma:contentTypeScope="" ma:versionID="8712a6bca791adb5cda0bf6241e143c6">
  <xsd:schema xmlns:xsd="http://www.w3.org/2001/XMLSchema" xmlns:xs="http://www.w3.org/2001/XMLSchema" xmlns:p="http://schemas.microsoft.com/office/2006/metadata/properties" xmlns:ns2="8fea1787-2ef9-4f1d-aacd-0861f6e873fa" xmlns:ns3="0c0b9f58-b642-446f-914d-3f292fb83902" targetNamespace="http://schemas.microsoft.com/office/2006/metadata/properties" ma:root="true" ma:fieldsID="cbf496898916a0ccd3f2cb11a3c66241" ns2:_="" ns3:_="">
    <xsd:import namespace="8fea1787-2ef9-4f1d-aacd-0861f6e873fa"/>
    <xsd:import namespace="0c0b9f58-b642-446f-914d-3f292fb839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ea1787-2ef9-4f1d-aacd-0861f6e873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b630b34-ef66-4a23-b54c-047f976c1c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0b9f58-b642-446f-914d-3f292fb8390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9920f2c-1fdf-4626-9c5d-e072731e0ce9}" ma:internalName="TaxCatchAll" ma:showField="CatchAllData" ma:web="0c0b9f58-b642-446f-914d-3f292fb839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730448-6774-431D-8546-FAA650EE0D1C}">
  <ds:schemaRefs>
    <ds:schemaRef ds:uri="http://schemas.microsoft.com/office/2006/metadata/properties"/>
    <ds:schemaRef ds:uri="http://schemas.microsoft.com/office/infopath/2007/PartnerControls"/>
    <ds:schemaRef ds:uri="8fea1787-2ef9-4f1d-aacd-0861f6e873fa"/>
    <ds:schemaRef ds:uri="0c0b9f58-b642-446f-914d-3f292fb83902"/>
  </ds:schemaRefs>
</ds:datastoreItem>
</file>

<file path=customXml/itemProps2.xml><?xml version="1.0" encoding="utf-8"?>
<ds:datastoreItem xmlns:ds="http://schemas.openxmlformats.org/officeDocument/2006/customXml" ds:itemID="{020ACC06-72C0-4E87-81BE-CEDC0F8D0D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DD0BB8C-9DC9-4115-9960-4132F6E8C0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ea1787-2ef9-4f1d-aacd-0861f6e873fa"/>
    <ds:schemaRef ds:uri="0c0b9f58-b642-446f-914d-3f292fb839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83</TotalTime>
  <Words>631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Gill Sans MT</vt:lpstr>
      <vt:lpstr>Gill Sans MT (Body)</vt:lpstr>
      <vt:lpstr>Impact</vt:lpstr>
      <vt:lpstr>Badge</vt:lpstr>
      <vt:lpstr>ORIGINS AND VISIONARIES 1945/1948</vt:lpstr>
      <vt:lpstr>Seeds of unity before 1945: A CONTINENT IN TURMOIL</vt:lpstr>
      <vt:lpstr>Count Richard von Coudenhove-Kalergi: The Pioneer of Pan-Europeanism</vt:lpstr>
      <vt:lpstr>Aristides Briand’s 1929 Proposal for a European Federal Union </vt:lpstr>
      <vt:lpstr>Winston Churchill’s 1946 Zurich Speech: "United States of Europe" </vt:lpstr>
      <vt:lpstr>Stefan zweig: The world of yesterday: memoires of a european </vt:lpstr>
      <vt:lpstr>The Immediate Postwar Context (1945–1948): Devastation and Urgency</vt:lpstr>
      <vt:lpstr>Early Integration Ideas in 1946–1948: Foundations for the ECSC (Coal &amp; steel)</vt:lpstr>
      <vt:lpstr>The Council of Europe (1949): First Institutional Step</vt:lpstr>
      <vt:lpstr>Conclusion: The Visionaries Who Laid Europe’s Foundations</vt:lpstr>
    </vt:vector>
  </TitlesOfParts>
  <Company>European School Luxembourg 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Evolution of European Unity</dc:title>
  <dc:creator>KNITOU Vasiliki</dc:creator>
  <cp:lastModifiedBy>Don Patx</cp:lastModifiedBy>
  <cp:revision>20</cp:revision>
  <dcterms:created xsi:type="dcterms:W3CDTF">2021-01-29T12:34:48Z</dcterms:created>
  <dcterms:modified xsi:type="dcterms:W3CDTF">2026-02-02T14:39:21Z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0x0101006C1C266872DD8C4699140ABCF4701477</vt:lpwstr>
  </property>
</Properties>
</file>
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93" r:id="rId6"/>
    <p:sldId id="290" r:id="rId7"/>
    <p:sldId id="262" r:id="rId8"/>
    <p:sldId id="286" r:id="rId9"/>
    <p:sldId id="289" r:id="rId10"/>
    <p:sldId id="287" r:id="rId11"/>
    <p:sldId id="291" r:id="rId12"/>
    <p:sldId id="29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9" d="100"/>
          <a:sy n="69" d="100"/>
        </p:scale>
        <p:origin x="52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C2171EEA-12DD-4C1E-85C2-44E40B2983BB}" type="datetimeFigureOut">
              <a:rPr lang="en-GB" smtClean="0"/>
              <a:t>20/04/2026</a:t>
            </a:fld>
            <a:endParaRPr lang="en-GB"/>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GB"/>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A8B0FE7D-A83A-48B1-9573-0529CB531FF8}" type="slidenum">
              <a:rPr lang="en-GB" smtClean="0"/>
              <a:t>‹#›</a:t>
            </a:fld>
            <a:endParaRPr lang="en-GB"/>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64487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171EEA-12DD-4C1E-85C2-44E40B2983BB}" type="datetimeFigureOut">
              <a:rPr lang="en-GB" smtClean="0"/>
              <a:t>20/04/2026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2083304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C2171EEA-12DD-4C1E-85C2-44E40B2983BB}" type="datetimeFigureOut">
              <a:rPr lang="en-GB" smtClean="0"/>
              <a:t>20/04/2026</a:t>
            </a:fld>
            <a:endParaRPr lang="en-GB"/>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GB"/>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A8B0FE7D-A83A-48B1-9573-0529CB531FF8}" type="slidenum">
              <a:rPr lang="en-GB" smtClean="0"/>
              <a:t>‹#›</a:t>
            </a:fld>
            <a:endParaRPr lang="en-GB"/>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25710056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171EEA-12DD-4C1E-85C2-44E40B2983BB}" type="datetimeFigureOut">
              <a:rPr lang="en-GB" smtClean="0"/>
              <a:t>20/04/2026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410175714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171EEA-12DD-4C1E-85C2-44E40B2983BB}" type="datetimeFigureOut">
              <a:rPr lang="en-GB" smtClean="0"/>
              <a:t>20/04/2026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166892906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171EEA-12DD-4C1E-85C2-44E40B2983BB}" type="datetimeFigureOut">
              <a:rPr lang="en-GB" smtClean="0"/>
              <a:t>20/04/2026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703659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171EEA-12DD-4C1E-85C2-44E40B2983BB}" type="datetimeFigureOut">
              <a:rPr lang="en-GB" smtClean="0"/>
              <a:t>20/04/2026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953878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C2171EEA-12DD-4C1E-85C2-44E40B2983BB}" type="datetimeFigureOut">
              <a:rPr lang="en-GB" smtClean="0"/>
              <a:t>20/04/2026</a:t>
            </a:fld>
            <a:endParaRPr lang="en-GB"/>
          </a:p>
        </p:txBody>
      </p:sp>
      <p:sp>
        <p:nvSpPr>
          <p:cNvPr id="6" name="Footer Placeholder 5"/>
          <p:cNvSpPr>
            <a:spLocks noGrp="1"/>
          </p:cNvSpPr>
          <p:nvPr>
            <p:ph type="ftr" sz="quarter" idx="11"/>
          </p:nvPr>
        </p:nvSpPr>
        <p:spPr>
          <a:xfrm>
            <a:off x="2103620" y="6375679"/>
            <a:ext cx="3482179" cy="345796"/>
          </a:xfrm>
        </p:spPr>
        <p:txBody>
          <a:bodyPr/>
          <a:lstStyle/>
          <a:p>
            <a:endParaRPr lang="en-GB"/>
          </a:p>
        </p:txBody>
      </p:sp>
      <p:sp>
        <p:nvSpPr>
          <p:cNvPr id="7" name="Slide Number Placeholder 6"/>
          <p:cNvSpPr>
            <a:spLocks noGrp="1"/>
          </p:cNvSpPr>
          <p:nvPr>
            <p:ph type="sldNum" sz="quarter" idx="12"/>
          </p:nvPr>
        </p:nvSpPr>
        <p:spPr>
          <a:xfrm>
            <a:off x="5691014" y="6375679"/>
            <a:ext cx="1232456" cy="345796"/>
          </a:xfrm>
        </p:spPr>
        <p:txBody>
          <a:bodyPr/>
          <a:lstStyle/>
          <a:p>
            <a:fld id="{A8B0FE7D-A83A-48B1-9573-0529CB531FF8}" type="slidenum">
              <a:rPr lang="en-GB" smtClean="0"/>
              <a:t>‹#›</a:t>
            </a:fld>
            <a:endParaRPr lang="en-GB"/>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47273796"/>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C2171EEA-12DD-4C1E-85C2-44E40B2983BB}" type="datetimeFigureOut">
              <a:rPr lang="en-GB" smtClean="0"/>
              <a:t>20/04/2026</a:t>
            </a:fld>
            <a:endParaRPr lang="en-GB"/>
          </a:p>
        </p:txBody>
      </p:sp>
      <p:sp>
        <p:nvSpPr>
          <p:cNvPr id="6" name="Footer Placeholder 5"/>
          <p:cNvSpPr>
            <a:spLocks noGrp="1"/>
          </p:cNvSpPr>
          <p:nvPr>
            <p:ph type="ftr" sz="quarter" idx="11"/>
          </p:nvPr>
        </p:nvSpPr>
        <p:spPr>
          <a:xfrm>
            <a:off x="2103621" y="6375679"/>
            <a:ext cx="3482178" cy="345796"/>
          </a:xfrm>
        </p:spPr>
        <p:txBody>
          <a:bodyPr/>
          <a:lstStyle/>
          <a:p>
            <a:endParaRPr lang="en-GB"/>
          </a:p>
        </p:txBody>
      </p:sp>
      <p:sp>
        <p:nvSpPr>
          <p:cNvPr id="7" name="Slide Number Placeholder 6"/>
          <p:cNvSpPr>
            <a:spLocks noGrp="1"/>
          </p:cNvSpPr>
          <p:nvPr>
            <p:ph type="sldNum" sz="quarter" idx="12"/>
          </p:nvPr>
        </p:nvSpPr>
        <p:spPr>
          <a:xfrm>
            <a:off x="5687568" y="6375679"/>
            <a:ext cx="1234440" cy="345796"/>
          </a:xfrm>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2136696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171EEA-12DD-4C1E-85C2-44E40B2983BB}" type="datetimeFigureOut">
              <a:rPr lang="en-GB" smtClean="0"/>
              <a:t>20/04/2026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2988190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171EEA-12DD-4C1E-85C2-44E40B2983BB}" type="datetimeFigureOut">
              <a:rPr lang="en-GB" smtClean="0"/>
              <a:t>20/04/2026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3078764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C2171EEA-12DD-4C1E-85C2-44E40B2983BB}" type="datetimeFigureOut">
              <a:rPr lang="en-GB" smtClean="0"/>
              <a:t>20/04/2026</a:t>
            </a:fld>
            <a:endParaRPr lang="en-GB"/>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GB"/>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A8B0FE7D-A83A-48B1-9573-0529CB531FF8}" type="slidenum">
              <a:rPr lang="en-GB" smtClean="0"/>
              <a:t>‹#›</a:t>
            </a:fld>
            <a:endParaRPr lang="en-GB"/>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362204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33148C-BD48-40C0-A531-5EBB94C738A0}"/>
              </a:ext>
            </a:extLst>
          </p:cNvPr>
          <p:cNvSpPr>
            <a:spLocks noGrp="1"/>
          </p:cNvSpPr>
          <p:nvPr>
            <p:ph type="ctrTitle"/>
          </p:nvPr>
        </p:nvSpPr>
        <p:spPr/>
        <p:txBody>
          <a:bodyPr/>
          <a:lstStyle/>
          <a:p>
            <a:r>
              <a:rPr lang="en-GB" dirty="0" err="1" smtClean="0"/>
              <a:t>EuropEAN</a:t>
            </a:r>
            <a:r>
              <a:rPr lang="en-GB" dirty="0" smtClean="0"/>
              <a:t> IDENTITY II</a:t>
            </a:r>
            <a:endParaRPr lang="en-GB" dirty="0"/>
          </a:p>
        </p:txBody>
      </p:sp>
      <p:sp>
        <p:nvSpPr>
          <p:cNvPr id="3" name="Subtitle 2">
            <a:extLst>
              <a:ext uri="{FF2B5EF4-FFF2-40B4-BE49-F238E27FC236}">
                <a16:creationId xmlns:a16="http://schemas.microsoft.com/office/drawing/2014/main" xmlns="" id="{F71D1030-33A2-4E8E-9091-21D85FBE04C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9562881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1C003-8725-430C-8844-39C0D3CEB83C}"/>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smtClean="0"/>
              <a:t>BUILDING EUROPEAN IDENTITY: WHO ARE “WE”?</a:t>
            </a:r>
            <a:endParaRPr lang="en-GB" dirty="0"/>
          </a:p>
        </p:txBody>
      </p:sp>
      <p:sp>
        <p:nvSpPr>
          <p:cNvPr id="3" name="Content Placeholder 2">
            <a:extLst>
              <a:ext uri="{FF2B5EF4-FFF2-40B4-BE49-F238E27FC236}">
                <a16:creationId xmlns:a16="http://schemas.microsoft.com/office/drawing/2014/main" xmlns="" id="{D83275B6-E7A1-4E1F-927F-F7EC35B3968B}"/>
              </a:ext>
            </a:extLst>
          </p:cNvPr>
          <p:cNvSpPr>
            <a:spLocks noGrp="1"/>
          </p:cNvSpPr>
          <p:nvPr>
            <p:ph idx="1"/>
          </p:nvPr>
        </p:nvSpPr>
        <p:spPr>
          <a:xfrm>
            <a:off x="2524852" y="5678920"/>
            <a:ext cx="8835873" cy="1029854"/>
          </a:xfrm>
        </p:spPr>
        <p:txBody>
          <a:bodyPr>
            <a:normAutofit/>
          </a:bodyPr>
          <a:lstStyle/>
          <a:p>
            <a:r>
              <a:rPr lang="en-US" dirty="0"/>
              <a:t>https://youtu.be/p9hhXLho_94?si=eCjLLKsWq1bI7Ino</a:t>
            </a:r>
            <a:endParaRPr lang="en-US" dirty="0"/>
          </a:p>
        </p:txBody>
      </p:sp>
      <p:pic>
        <p:nvPicPr>
          <p:cNvPr id="1026" name="Picture 2" descr="Rompecabezas de países de Europa - Rompecabezas de reliquias - Rompecabezas  de madera - Etsy Españ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9539" y="2059420"/>
            <a:ext cx="5429250"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0588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1C003-8725-430C-8844-39C0D3CEB83C}"/>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smtClean="0"/>
              <a:t>DECLARATION OF EUROPEAN IDENTITY, 1973</a:t>
            </a:r>
            <a:endParaRPr lang="en-GB" dirty="0"/>
          </a:p>
        </p:txBody>
      </p:sp>
      <p:sp>
        <p:nvSpPr>
          <p:cNvPr id="3" name="Content Placeholder 2">
            <a:extLst>
              <a:ext uri="{FF2B5EF4-FFF2-40B4-BE49-F238E27FC236}">
                <a16:creationId xmlns:a16="http://schemas.microsoft.com/office/drawing/2014/main" xmlns="" id="{D83275B6-E7A1-4E1F-927F-F7EC35B3968B}"/>
              </a:ext>
            </a:extLst>
          </p:cNvPr>
          <p:cNvSpPr>
            <a:spLocks noGrp="1"/>
          </p:cNvSpPr>
          <p:nvPr>
            <p:ph idx="1"/>
          </p:nvPr>
        </p:nvSpPr>
        <p:spPr/>
        <p:txBody>
          <a:bodyPr>
            <a:normAutofit fontScale="70000" lnSpcReduction="20000"/>
          </a:bodyPr>
          <a:lstStyle/>
          <a:p>
            <a:pPr marL="0" indent="0" algn="just">
              <a:buNone/>
            </a:pPr>
            <a:r>
              <a:rPr lang="en-US" sz="2800" dirty="0"/>
              <a:t>The 1973 Declaration on European Identity marked an important step in defining not just political cooperation, but the </a:t>
            </a:r>
            <a:r>
              <a:rPr lang="en-US" sz="2800" b="1" dirty="0"/>
              <a:t>shared values</a:t>
            </a:r>
            <a:r>
              <a:rPr lang="en-US" sz="2800" dirty="0"/>
              <a:t> that would underpin the European project. Adopted by the member states of the European Communities, the declaration emphasized principles such as </a:t>
            </a:r>
            <a:r>
              <a:rPr lang="en-US" sz="2800" b="1" dirty="0"/>
              <a:t>democracy, the rule of law, social justice, and respect for human rights</a:t>
            </a:r>
            <a:r>
              <a:rPr lang="en-US" sz="2800" dirty="0"/>
              <a:t>. These values were presented as the common foundation uniting diverse nations, highlighting that European integration was not only about economic collaboration but also about a collective commitment to freedom, equality, and the dignity of the individual</a:t>
            </a:r>
            <a:r>
              <a:rPr lang="en-US" sz="2800" dirty="0" smtClean="0"/>
              <a:t>.</a:t>
            </a:r>
          </a:p>
          <a:p>
            <a:pPr marL="0" indent="0" algn="just">
              <a:buNone/>
            </a:pPr>
            <a:r>
              <a:rPr lang="en-US" sz="2800" dirty="0"/>
              <a:t>Beyond internal cohesion, the declaration also projected these values onto the global stage, asserting that Europe should play a responsible and ethical role in international affairs. In the context of the </a:t>
            </a:r>
            <a:r>
              <a:rPr lang="en-US" sz="2800" b="1" dirty="0"/>
              <a:t>Cold War</a:t>
            </a:r>
            <a:r>
              <a:rPr lang="en-US" sz="2800" dirty="0"/>
              <a:t>, this meant distinguishing itself through its dedication to peace, cooperation, and multilateralism</a:t>
            </a:r>
            <a:r>
              <a:rPr lang="en-US" sz="2800" dirty="0" smtClean="0"/>
              <a:t>. There were also dictatorships in Europe (for example, Spain).</a:t>
            </a:r>
            <a:endParaRPr lang="en-US" sz="2600" dirty="0" smtClean="0"/>
          </a:p>
        </p:txBody>
      </p:sp>
    </p:spTree>
    <p:extLst>
      <p:ext uri="{BB962C8B-B14F-4D97-AF65-F5344CB8AC3E}">
        <p14:creationId xmlns:p14="http://schemas.microsoft.com/office/powerpoint/2010/main" val="6897298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1C003-8725-430C-8844-39C0D3CEB83C}"/>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smtClean="0"/>
              <a:t>THE “EUROPE OF VALUES”</a:t>
            </a:r>
            <a:endParaRPr lang="en-GB" dirty="0"/>
          </a:p>
        </p:txBody>
      </p:sp>
      <p:sp>
        <p:nvSpPr>
          <p:cNvPr id="3" name="Content Placeholder 2">
            <a:extLst>
              <a:ext uri="{FF2B5EF4-FFF2-40B4-BE49-F238E27FC236}">
                <a16:creationId xmlns:a16="http://schemas.microsoft.com/office/drawing/2014/main" xmlns="" id="{D83275B6-E7A1-4E1F-927F-F7EC35B3968B}"/>
              </a:ext>
            </a:extLst>
          </p:cNvPr>
          <p:cNvSpPr>
            <a:spLocks noGrp="1"/>
          </p:cNvSpPr>
          <p:nvPr>
            <p:ph idx="1"/>
          </p:nvPr>
        </p:nvSpPr>
        <p:spPr/>
        <p:txBody>
          <a:bodyPr>
            <a:normAutofit/>
          </a:bodyPr>
          <a:lstStyle/>
          <a:p>
            <a:pPr algn="just"/>
            <a:r>
              <a:rPr lang="en-US" sz="2600" dirty="0"/>
              <a:t>European identity is </a:t>
            </a:r>
            <a:r>
              <a:rPr lang="en-US" sz="2600" dirty="0"/>
              <a:t>an evolving, multifaceted concept rather than a fixed, singular identity, bridging national, regional, and global identities</a:t>
            </a:r>
            <a:r>
              <a:rPr lang="en-US" sz="2600" dirty="0"/>
              <a:t>. It is defined by shared values like democracy, human rights, and freedom, rather than just geography, often coexisting alongside strong national identities. This identity is fostered through EU policies, shared history, and cross-border </a:t>
            </a:r>
            <a:r>
              <a:rPr lang="en-US" sz="2600" dirty="0" smtClean="0"/>
              <a:t>experiences</a:t>
            </a:r>
          </a:p>
        </p:txBody>
      </p:sp>
    </p:spTree>
    <p:extLst>
      <p:ext uri="{BB962C8B-B14F-4D97-AF65-F5344CB8AC3E}">
        <p14:creationId xmlns:p14="http://schemas.microsoft.com/office/powerpoint/2010/main" val="3968592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1C003-8725-430C-8844-39C0D3CEB83C}"/>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smtClean="0"/>
              <a:t>Key components of European identity (WHAT)</a:t>
            </a:r>
            <a:endParaRPr lang="en-GB" dirty="0"/>
          </a:p>
        </p:txBody>
      </p:sp>
      <p:sp>
        <p:nvSpPr>
          <p:cNvPr id="3" name="Content Placeholder 2">
            <a:extLst>
              <a:ext uri="{FF2B5EF4-FFF2-40B4-BE49-F238E27FC236}">
                <a16:creationId xmlns:a16="http://schemas.microsoft.com/office/drawing/2014/main" xmlns="" id="{D83275B6-E7A1-4E1F-927F-F7EC35B3968B}"/>
              </a:ext>
            </a:extLst>
          </p:cNvPr>
          <p:cNvSpPr>
            <a:spLocks noGrp="1"/>
          </p:cNvSpPr>
          <p:nvPr>
            <p:ph idx="1"/>
          </p:nvPr>
        </p:nvSpPr>
        <p:spPr/>
        <p:txBody>
          <a:bodyPr>
            <a:normAutofit fontScale="77500" lnSpcReduction="20000"/>
          </a:bodyPr>
          <a:lstStyle/>
          <a:p>
            <a:r>
              <a:rPr lang="en-US" sz="2800" b="1" dirty="0"/>
              <a:t>Shared Values:</a:t>
            </a:r>
            <a:r>
              <a:rPr lang="en-US" sz="2800" dirty="0"/>
              <a:t> A commitment to democracy, human dignity, equality, and the rule of law.</a:t>
            </a:r>
          </a:p>
          <a:p>
            <a:r>
              <a:rPr lang="en-US" sz="2800" b="1" dirty="0"/>
              <a:t>"United in Diversity":</a:t>
            </a:r>
            <a:r>
              <a:rPr lang="en-US" sz="2800" dirty="0"/>
              <a:t> The EU motto reflects that European identity does not erase local cultures but exists alongside them, embracing diversity.</a:t>
            </a:r>
          </a:p>
          <a:p>
            <a:r>
              <a:rPr lang="en-US" sz="2800" b="1" dirty="0"/>
              <a:t>Historical &amp; Cultural Foundations:</a:t>
            </a:r>
            <a:r>
              <a:rPr lang="en-US" sz="2800" dirty="0"/>
              <a:t> Rooted in shared historical periods such as the Renaissance and Enlightenment, which emphasized reason and progress.</a:t>
            </a:r>
          </a:p>
          <a:p>
            <a:r>
              <a:rPr lang="en-US" sz="2800" b="1" dirty="0"/>
              <a:t>Cross-Border Experience:</a:t>
            </a:r>
            <a:r>
              <a:rPr lang="en-US" sz="2800" dirty="0"/>
              <a:t> Increased mobility, such as the Erasmus student program, tourism, and working in other countries, reinforces a feeling of being </a:t>
            </a:r>
            <a:r>
              <a:rPr lang="en-US" sz="2800" dirty="0" err="1"/>
              <a:t>Europea</a:t>
            </a:r>
            <a:endParaRPr lang="en-US" sz="2800" dirty="0"/>
          </a:p>
        </p:txBody>
      </p:sp>
    </p:spTree>
    <p:extLst>
      <p:ext uri="{BB962C8B-B14F-4D97-AF65-F5344CB8AC3E}">
        <p14:creationId xmlns:p14="http://schemas.microsoft.com/office/powerpoint/2010/main" val="32308000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1C003-8725-430C-8844-39C0D3CEB83C}"/>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smtClean="0"/>
              <a:t>SYMBOLS AND INSTITUTIONS (HOW)</a:t>
            </a:r>
            <a:endParaRPr lang="en-GB" dirty="0"/>
          </a:p>
        </p:txBody>
      </p:sp>
      <p:sp>
        <p:nvSpPr>
          <p:cNvPr id="3" name="Content Placeholder 2">
            <a:extLst>
              <a:ext uri="{FF2B5EF4-FFF2-40B4-BE49-F238E27FC236}">
                <a16:creationId xmlns:a16="http://schemas.microsoft.com/office/drawing/2014/main" xmlns="" id="{D83275B6-E7A1-4E1F-927F-F7EC35B3968B}"/>
              </a:ext>
            </a:extLst>
          </p:cNvPr>
          <p:cNvSpPr>
            <a:spLocks noGrp="1"/>
          </p:cNvSpPr>
          <p:nvPr>
            <p:ph idx="1"/>
          </p:nvPr>
        </p:nvSpPr>
        <p:spPr/>
        <p:txBody>
          <a:bodyPr>
            <a:noAutofit/>
          </a:bodyPr>
          <a:lstStyle/>
          <a:p>
            <a:pPr marL="0" indent="0">
              <a:buNone/>
            </a:pPr>
            <a:r>
              <a:rPr lang="en-US" dirty="0"/>
              <a:t>To give concrete form to this abstract concept, the EU has created tangible elements that reinforce the sense of belonging</a:t>
            </a:r>
            <a:r>
              <a:rPr lang="en-US" dirty="0" smtClean="0"/>
              <a:t>:</a:t>
            </a:r>
          </a:p>
          <a:p>
            <a:pPr marL="0" indent="0">
              <a:buNone/>
            </a:pPr>
            <a:endParaRPr lang="en-US" dirty="0"/>
          </a:p>
          <a:p>
            <a:r>
              <a:rPr lang="en-US" b="1" dirty="0"/>
              <a:t>European Citizenship</a:t>
            </a:r>
            <a:r>
              <a:rPr lang="en-US" dirty="0"/>
              <a:t>: Introduced in 1992 (Maastricht Treaty), it grants rights such as freedom of movement and the right to vote in European elections</a:t>
            </a:r>
            <a:r>
              <a:rPr lang="en-US" dirty="0" smtClean="0"/>
              <a:t>. Common policies and solidarity (for example, COVID)</a:t>
            </a:r>
            <a:endParaRPr lang="en-US" dirty="0"/>
          </a:p>
          <a:p>
            <a:r>
              <a:rPr lang="en-US" b="1" dirty="0"/>
              <a:t>Common Symbols</a:t>
            </a:r>
            <a:r>
              <a:rPr lang="en-US" dirty="0"/>
              <a:t>: The Euro, the blue flag with stars, the anthem (Ode to Joy), and Europe Day (May 9</a:t>
            </a:r>
            <a:r>
              <a:rPr lang="en-US" dirty="0" smtClean="0"/>
              <a:t>).</a:t>
            </a:r>
            <a:endParaRPr lang="en-US" dirty="0"/>
          </a:p>
          <a:p>
            <a:r>
              <a:rPr lang="en-US" b="1" dirty="0"/>
              <a:t>Mobility Programs</a:t>
            </a:r>
            <a:r>
              <a:rPr lang="en-US" dirty="0"/>
              <a:t>: Initiatives such as the Erasmus+ program are considered fundamental drivers for young people to experience "</a:t>
            </a:r>
            <a:r>
              <a:rPr lang="en-US" b="1" dirty="0" err="1"/>
              <a:t>Europeanness</a:t>
            </a:r>
            <a:r>
              <a:rPr lang="en-US" dirty="0"/>
              <a:t>" firsthand</a:t>
            </a:r>
            <a:r>
              <a:rPr lang="en-US" dirty="0" smtClean="0"/>
              <a:t>. </a:t>
            </a:r>
          </a:p>
          <a:p>
            <a:pPr marL="0" indent="0">
              <a:buNone/>
            </a:pPr>
            <a:r>
              <a:rPr lang="en-US" b="1" dirty="0" smtClean="0"/>
              <a:t>Other cultural exchange</a:t>
            </a:r>
            <a:r>
              <a:rPr lang="en-US" dirty="0" smtClean="0"/>
              <a:t>: Media, sport, food exchange, arts, Eurovision….</a:t>
            </a:r>
            <a:endParaRPr lang="en-US" dirty="0"/>
          </a:p>
        </p:txBody>
      </p:sp>
    </p:spTree>
    <p:extLst>
      <p:ext uri="{BB962C8B-B14F-4D97-AF65-F5344CB8AC3E}">
        <p14:creationId xmlns:p14="http://schemas.microsoft.com/office/powerpoint/2010/main" val="36664743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1C003-8725-430C-8844-39C0D3CEB83C}"/>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smtClean="0"/>
              <a:t>Key DRIVERS AND CHALLENGES</a:t>
            </a:r>
            <a:endParaRPr lang="en-GB" dirty="0"/>
          </a:p>
        </p:txBody>
      </p:sp>
      <p:sp>
        <p:nvSpPr>
          <p:cNvPr id="3" name="Content Placeholder 2">
            <a:extLst>
              <a:ext uri="{FF2B5EF4-FFF2-40B4-BE49-F238E27FC236}">
                <a16:creationId xmlns:a16="http://schemas.microsoft.com/office/drawing/2014/main" xmlns="" id="{D83275B6-E7A1-4E1F-927F-F7EC35B3968B}"/>
              </a:ext>
            </a:extLst>
          </p:cNvPr>
          <p:cNvSpPr>
            <a:spLocks noGrp="1"/>
          </p:cNvSpPr>
          <p:nvPr>
            <p:ph idx="1"/>
          </p:nvPr>
        </p:nvSpPr>
        <p:spPr/>
        <p:txBody>
          <a:bodyPr>
            <a:normAutofit/>
          </a:bodyPr>
          <a:lstStyle/>
          <a:p>
            <a:r>
              <a:rPr lang="en-US" b="1" dirty="0"/>
              <a:t>The European Union (EU):</a:t>
            </a:r>
            <a:r>
              <a:rPr lang="en-US" dirty="0"/>
              <a:t> Acts as a primary driver for creating a common identity through symbols (flag, currency), policies, and economic integration.</a:t>
            </a:r>
          </a:p>
          <a:p>
            <a:r>
              <a:rPr lang="en-US" b="1" dirty="0"/>
              <a:t>Top-Down vs. Bottom-Up:</a:t>
            </a:r>
            <a:r>
              <a:rPr lang="en-US" dirty="0"/>
              <a:t> It is a mixture of institutional efforts (top-down) and personal, lived experiences (bottom-up).</a:t>
            </a:r>
          </a:p>
          <a:p>
            <a:r>
              <a:rPr lang="en-US" b="1" dirty="0"/>
              <a:t>Challenges:</a:t>
            </a:r>
            <a:r>
              <a:rPr lang="en-US" dirty="0"/>
              <a:t> The lack of a single, clear definition makes it difficult to grasp. Regional disparities, the "urban-rural" divide, and strong national identities can limit the reach of a unified identity.</a:t>
            </a:r>
          </a:p>
          <a:p>
            <a:r>
              <a:rPr lang="en-US" b="1" dirty="0"/>
              <a:t>Generational Shift:</a:t>
            </a:r>
            <a:r>
              <a:rPr lang="en-US" dirty="0"/>
              <a:t> Younger generations are often more likely to feel a sense of European identity compared to older generations</a:t>
            </a:r>
          </a:p>
        </p:txBody>
      </p:sp>
    </p:spTree>
    <p:extLst>
      <p:ext uri="{BB962C8B-B14F-4D97-AF65-F5344CB8AC3E}">
        <p14:creationId xmlns:p14="http://schemas.microsoft.com/office/powerpoint/2010/main" val="31934528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1C003-8725-430C-8844-39C0D3CEB83C}"/>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smtClean="0"/>
              <a:t>DIFFERENT VISIONS</a:t>
            </a:r>
            <a:endParaRPr lang="en-GB"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644900" y="2286000"/>
            <a:ext cx="5391150" cy="3594100"/>
          </a:xfrm>
        </p:spPr>
      </p:pic>
    </p:spTree>
    <p:extLst>
      <p:ext uri="{BB962C8B-B14F-4D97-AF65-F5344CB8AC3E}">
        <p14:creationId xmlns:p14="http://schemas.microsoft.com/office/powerpoint/2010/main" val="40605168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1C003-8725-430C-8844-39C0D3CEB83C}"/>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smtClean="0"/>
              <a:t>OTHER EUROPE(S)</a:t>
            </a:r>
            <a:endParaRPr lang="en-GB" dirty="0"/>
          </a:p>
        </p:txBody>
      </p:sp>
      <p:pic>
        <p:nvPicPr>
          <p:cNvPr id="2050" name="Picture 2" descr="r/MapPorn - Regiones históricas de Europa [versión bet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00692" y="2286000"/>
            <a:ext cx="5679565" cy="359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4350797"/>
      </p:ext>
    </p:extLst>
  </p:cSld>
  <p:clrMapOvr>
    <a:masterClrMapping/>
  </p:clrMapOvr>
  <p:timing>
    <p:tnLst>
      <p:par>
        <p:cTn id="1" dur="indefinite" restart="never" nodeType="tmRoot"/>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1C266872DD8C4699140ABCF4701477" ma:contentTypeVersion="12" ma:contentTypeDescription="Create a new document." ma:contentTypeScope="" ma:versionID="8712a6bca791adb5cda0bf6241e143c6">
  <xsd:schema xmlns:xsd="http://www.w3.org/2001/XMLSchema" xmlns:xs="http://www.w3.org/2001/XMLSchema" xmlns:p="http://schemas.microsoft.com/office/2006/metadata/properties" xmlns:ns2="8fea1787-2ef9-4f1d-aacd-0861f6e873fa" xmlns:ns3="0c0b9f58-b642-446f-914d-3f292fb83902" targetNamespace="http://schemas.microsoft.com/office/2006/metadata/properties" ma:root="true" ma:fieldsID="cbf496898916a0ccd3f2cb11a3c66241" ns2:_="" ns3:_="">
    <xsd:import namespace="8fea1787-2ef9-4f1d-aacd-0861f6e873fa"/>
    <xsd:import namespace="0c0b9f58-b642-446f-914d-3f292fb8390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ea1787-2ef9-4f1d-aacd-0861f6e873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b630b34-ef66-4a23-b54c-047f976c1c4e"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c0b9f58-b642-446f-914d-3f292fb8390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9920f2c-1fdf-4626-9c5d-e072731e0ce9}" ma:internalName="TaxCatchAll" ma:showField="CatchAllData" ma:web="0c0b9f58-b642-446f-914d-3f292fb839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fea1787-2ef9-4f1d-aacd-0861f6e873fa">
      <Terms xmlns="http://schemas.microsoft.com/office/infopath/2007/PartnerControls"/>
    </lcf76f155ced4ddcb4097134ff3c332f>
    <TaxCatchAll xmlns="0c0b9f58-b642-446f-914d-3f292fb8390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2B989AC-0703-4F4B-9C7B-7B0698242D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ea1787-2ef9-4f1d-aacd-0861f6e873fa"/>
    <ds:schemaRef ds:uri="0c0b9f58-b642-446f-914d-3f292fb839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786C66F-D3C1-4627-8781-BE29A15785A4}">
  <ds:schemaRefs>
    <ds:schemaRef ds:uri="http://schemas.microsoft.com/office/2006/metadata/properties"/>
    <ds:schemaRef ds:uri="http://schemas.microsoft.com/office/infopath/2007/PartnerControls"/>
    <ds:schemaRef ds:uri="8fea1787-2ef9-4f1d-aacd-0861f6e873fa"/>
    <ds:schemaRef ds:uri="0c0b9f58-b642-446f-914d-3f292fb83902"/>
  </ds:schemaRefs>
</ds:datastoreItem>
</file>

<file path=customXml/itemProps3.xml><?xml version="1.0" encoding="utf-8"?>
<ds:datastoreItem xmlns:ds="http://schemas.openxmlformats.org/officeDocument/2006/customXml" ds:itemID="{7136745C-997C-412D-97A3-9085EFCD18D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42</TotalTime>
  <Words>350</Words>
  <Application>Microsoft Office PowerPoint</Application>
  <PresentationFormat>Widescreen</PresentationFormat>
  <Paragraphs>27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Gill Sans MT</vt:lpstr>
      <vt:lpstr>Impact</vt:lpstr>
      <vt:lpstr>Badge</vt:lpstr>
      <vt:lpstr>EuropEAN IDENTITY II</vt:lpstr>
      <vt:lpstr>BUILDING EUROPEAN IDENTITY: WHO ARE “WE”?</vt:lpstr>
      <vt:lpstr>DECLARATION OF EUROPEAN IDENTITY, 1973</vt:lpstr>
      <vt:lpstr>THE “EUROPE OF VALUES”</vt:lpstr>
      <vt:lpstr>Key components of European identity (WHAT)</vt:lpstr>
      <vt:lpstr>SYMBOLS AND INSTITUTIONS (HOW)</vt:lpstr>
      <vt:lpstr>Key DRIVERS AND CHALLENGES</vt:lpstr>
      <vt:lpstr>DIFFERENT VISIONS</vt:lpstr>
      <vt:lpstr>OTHER EUROPE(S)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Europe 1973 –1992</dc:title>
  <dc:creator>Vassiliki Knitou</dc:creator>
  <cp:lastModifiedBy>Don Patx</cp:lastModifiedBy>
  <cp:revision>21</cp:revision>
  <dcterms:created xsi:type="dcterms:W3CDTF">2021-02-05T09:13:51Z</dcterms:created>
  <dcterms:modified xsi:type="dcterms:W3CDTF">2026-04-20T08:19:20Z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0x0101006C1C266872DD8C4699140ABCF4701477</vt:lpwstr>
  </property>
</Properties>
</file>
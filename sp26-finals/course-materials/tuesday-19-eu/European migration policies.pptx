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90" r:id="rId6"/>
    <p:sldId id="294" r:id="rId7"/>
    <p:sldId id="295" r:id="rId8"/>
    <p:sldId id="296" r:id="rId9"/>
    <p:sldId id="297" r:id="rId10"/>
    <p:sldId id="298" r:id="rId11"/>
    <p:sldId id="293" r:id="rId12"/>
    <p:sldId id="299" r:id="rId13"/>
    <p:sldId id="300" r:id="rId14"/>
    <p:sldId id="262" r:id="rId15"/>
    <p:sldId id="301" r:id="rId16"/>
    <p:sldId id="30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5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C2171EEA-12DD-4C1E-85C2-44E40B2983BB}" type="datetimeFigureOut">
              <a:rPr lang="en-GB" smtClean="0"/>
              <a:t>27/04/2026</a:t>
            </a:fld>
            <a:endParaRPr lang="en-GB"/>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GB"/>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A8B0FE7D-A83A-48B1-9573-0529CB531FF8}" type="slidenum">
              <a:rPr lang="en-GB" smtClean="0"/>
              <a:t>‹#›</a:t>
            </a:fld>
            <a:endParaRPr lang="en-GB"/>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64487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08330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2171EEA-12DD-4C1E-85C2-44E40B2983BB}" type="datetimeFigureOut">
              <a:rPr lang="en-GB" smtClean="0"/>
              <a:t>27/04/2026</a:t>
            </a:fld>
            <a:endParaRPr lang="en-GB"/>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GB"/>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A8B0FE7D-A83A-48B1-9573-0529CB531FF8}" type="slidenum">
              <a:rPr lang="en-GB" smtClean="0"/>
              <a:t>‹#›</a:t>
            </a:fld>
            <a:endParaRPr lang="en-GB"/>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25710056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171EEA-12DD-4C1E-85C2-44E40B2983BB}" type="datetimeFigureOut">
              <a:rPr lang="en-GB" smtClean="0"/>
              <a:t>27/04/2026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410175714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171EEA-12DD-4C1E-85C2-44E40B2983BB}" type="datetimeFigureOut">
              <a:rPr lang="en-GB" smtClean="0"/>
              <a:t>27/04/2026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16689290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171EEA-12DD-4C1E-85C2-44E40B2983BB}" type="datetimeFigureOut">
              <a:rPr lang="en-GB" smtClean="0"/>
              <a:t>27/04/2026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703659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171EEA-12DD-4C1E-85C2-44E40B2983BB}" type="datetimeFigureOut">
              <a:rPr lang="en-GB" smtClean="0"/>
              <a:t>27/04/2026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9538786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C2171EEA-12DD-4C1E-85C2-44E40B2983BB}" type="datetimeFigureOut">
              <a:rPr lang="en-GB" smtClean="0"/>
              <a:t>27/04/2026</a:t>
            </a:fld>
            <a:endParaRPr lang="en-GB"/>
          </a:p>
        </p:txBody>
      </p:sp>
      <p:sp>
        <p:nvSpPr>
          <p:cNvPr id="6" name="Footer Placeholder 5"/>
          <p:cNvSpPr>
            <a:spLocks noGrp="1"/>
          </p:cNvSpPr>
          <p:nvPr>
            <p:ph type="ftr" sz="quarter" idx="11"/>
          </p:nvPr>
        </p:nvSpPr>
        <p:spPr>
          <a:xfrm>
            <a:off x="2103620" y="6375679"/>
            <a:ext cx="3482179" cy="345796"/>
          </a:xfrm>
        </p:spPr>
        <p:txBody>
          <a:bodyPr/>
          <a:lstStyle/>
          <a:p>
            <a:endParaRPr lang="en-GB"/>
          </a:p>
        </p:txBody>
      </p:sp>
      <p:sp>
        <p:nvSpPr>
          <p:cNvPr id="7" name="Slide Number Placeholder 6"/>
          <p:cNvSpPr>
            <a:spLocks noGrp="1"/>
          </p:cNvSpPr>
          <p:nvPr>
            <p:ph type="sldNum" sz="quarter" idx="12"/>
          </p:nvPr>
        </p:nvSpPr>
        <p:spPr>
          <a:xfrm>
            <a:off x="5691014" y="6375679"/>
            <a:ext cx="1232456" cy="345796"/>
          </a:xfrm>
        </p:spPr>
        <p:txBody>
          <a:bodyPr/>
          <a:lstStyle/>
          <a:p>
            <a:fld id="{A8B0FE7D-A83A-48B1-9573-0529CB531FF8}" type="slidenum">
              <a:rPr lang="en-GB" smtClean="0"/>
              <a:t>‹#›</a:t>
            </a:fld>
            <a:endParaRPr lang="en-GB"/>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47273796"/>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2171EEA-12DD-4C1E-85C2-44E40B2983BB}" type="datetimeFigureOut">
              <a:rPr lang="en-GB" smtClean="0"/>
              <a:t>27/04/2026</a:t>
            </a:fld>
            <a:endParaRPr lang="en-GB"/>
          </a:p>
        </p:txBody>
      </p:sp>
      <p:sp>
        <p:nvSpPr>
          <p:cNvPr id="6" name="Footer Placeholder 5"/>
          <p:cNvSpPr>
            <a:spLocks noGrp="1"/>
          </p:cNvSpPr>
          <p:nvPr>
            <p:ph type="ftr" sz="quarter" idx="11"/>
          </p:nvPr>
        </p:nvSpPr>
        <p:spPr>
          <a:xfrm>
            <a:off x="2103621" y="6375679"/>
            <a:ext cx="3482178" cy="345796"/>
          </a:xfrm>
        </p:spPr>
        <p:txBody>
          <a:bodyPr/>
          <a:lstStyle/>
          <a:p>
            <a:endParaRPr lang="en-GB"/>
          </a:p>
        </p:txBody>
      </p:sp>
      <p:sp>
        <p:nvSpPr>
          <p:cNvPr id="7" name="Slide Number Placeholder 6"/>
          <p:cNvSpPr>
            <a:spLocks noGrp="1"/>
          </p:cNvSpPr>
          <p:nvPr>
            <p:ph type="sldNum" sz="quarter" idx="12"/>
          </p:nvPr>
        </p:nvSpPr>
        <p:spPr>
          <a:xfrm>
            <a:off x="5687568" y="6375679"/>
            <a:ext cx="1234440" cy="345796"/>
          </a:xfrm>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136696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29881908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171EEA-12DD-4C1E-85C2-44E40B2983BB}" type="datetimeFigureOut">
              <a:rPr lang="en-GB" smtClean="0"/>
              <a:t>27/04/2026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8B0FE7D-A83A-48B1-9573-0529CB531FF8}" type="slidenum">
              <a:rPr lang="en-GB" smtClean="0"/>
              <a:t>‹#›</a:t>
            </a:fld>
            <a:endParaRPr lang="en-GB"/>
          </a:p>
        </p:txBody>
      </p:sp>
    </p:spTree>
    <p:extLst>
      <p:ext uri="{BB962C8B-B14F-4D97-AF65-F5344CB8AC3E}">
        <p14:creationId xmlns:p14="http://schemas.microsoft.com/office/powerpoint/2010/main" val="30787643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C2171EEA-12DD-4C1E-85C2-44E40B2983BB}" type="datetimeFigureOut">
              <a:rPr lang="en-GB" smtClean="0"/>
              <a:t>27/04/2026</a:t>
            </a:fld>
            <a:endParaRPr lang="en-GB"/>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GB"/>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A8B0FE7D-A83A-48B1-9573-0529CB531FF8}" type="slidenum">
              <a:rPr lang="en-GB" smtClean="0"/>
              <a:t>‹#›</a:t>
            </a:fld>
            <a:endParaRPr lang="en-GB"/>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4362204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633148C-BD48-40C0-A531-5EBB94C738A0}"/>
              </a:ext>
            </a:extLst>
          </p:cNvPr>
          <p:cNvSpPr>
            <a:spLocks noGrp="1"/>
          </p:cNvSpPr>
          <p:nvPr>
            <p:ph type="ctrTitle"/>
          </p:nvPr>
        </p:nvSpPr>
        <p:spPr/>
        <p:txBody>
          <a:bodyPr/>
          <a:lstStyle/>
          <a:p>
            <a:r>
              <a:rPr lang="en-GB" dirty="0" err="1" smtClean="0"/>
              <a:t>EuropEAN</a:t>
            </a:r>
            <a:r>
              <a:rPr lang="en-GB" dirty="0" smtClean="0"/>
              <a:t> </a:t>
            </a:r>
            <a:r>
              <a:rPr lang="en-GB" dirty="0" smtClean="0"/>
              <a:t>MIGRATION POLICIES</a:t>
            </a:r>
            <a:endParaRPr lang="en-GB" dirty="0"/>
          </a:p>
        </p:txBody>
      </p:sp>
      <p:sp>
        <p:nvSpPr>
          <p:cNvPr id="3" name="Subtitle 2">
            <a:extLst>
              <a:ext uri="{FF2B5EF4-FFF2-40B4-BE49-F238E27FC236}">
                <a16:creationId xmlns="" xmlns:a16="http://schemas.microsoft.com/office/drawing/2014/main" id="{F71D1030-33A2-4E8E-9091-21D85FBE04C0}"/>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395628814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251678" y="382385"/>
            <a:ext cx="10487740" cy="1492132"/>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5400" b="1" dirty="0"/>
              <a:t>The Foundation: Building a Common Asylum System</a:t>
            </a:r>
            <a:endParaRPr lang="en-US" sz="5400" b="1" dirty="0"/>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p:txBody>
          <a:bodyPr>
            <a:normAutofit fontScale="92500" lnSpcReduction="10000"/>
          </a:bodyPr>
          <a:lstStyle/>
          <a:p>
            <a:pPr marL="0" lvl="0" indent="0" eaLnBrk="0" fontAlgn="base" hangingPunct="0">
              <a:lnSpc>
                <a:spcPct val="100000"/>
              </a:lnSpc>
              <a:spcBef>
                <a:spcPct val="0"/>
              </a:spcBef>
              <a:spcAft>
                <a:spcPct val="0"/>
              </a:spcAft>
              <a:buClrTx/>
              <a:buNone/>
            </a:pPr>
            <a:r>
              <a:rPr lang="es-ES" altLang="es-ES" sz="1900" dirty="0" err="1" smtClean="0">
                <a:solidFill>
                  <a:schemeClr val="tx1"/>
                </a:solidFill>
                <a:latin typeface="Gill Sans MT" panose="020B0502020104020203" pitchFamily="34" charset="0"/>
              </a:rPr>
              <a:t>The</a:t>
            </a:r>
            <a:r>
              <a:rPr lang="es-ES" altLang="es-ES" sz="1900" dirty="0" smtClean="0">
                <a:solidFill>
                  <a:schemeClr val="tx1"/>
                </a:solidFill>
                <a:latin typeface="Gill Sans MT" panose="020B0502020104020203" pitchFamily="34" charset="0"/>
              </a:rPr>
              <a:t> </a:t>
            </a:r>
            <a:r>
              <a:rPr lang="es-ES" altLang="es-ES" sz="1900" b="1" dirty="0" err="1">
                <a:solidFill>
                  <a:schemeClr val="tx1"/>
                </a:solidFill>
                <a:latin typeface="Gill Sans MT" panose="020B0502020104020203" pitchFamily="34" charset="0"/>
              </a:rPr>
              <a:t>Treaty</a:t>
            </a:r>
            <a:r>
              <a:rPr lang="es-ES" altLang="es-ES" sz="1900" b="1" dirty="0">
                <a:solidFill>
                  <a:schemeClr val="tx1"/>
                </a:solidFill>
                <a:latin typeface="Gill Sans MT" panose="020B0502020104020203" pitchFamily="34" charset="0"/>
              </a:rPr>
              <a:t> of </a:t>
            </a:r>
            <a:r>
              <a:rPr lang="es-ES" altLang="es-ES" sz="1900" b="1" dirty="0" err="1">
                <a:solidFill>
                  <a:schemeClr val="tx1"/>
                </a:solidFill>
                <a:latin typeface="Gill Sans MT" panose="020B0502020104020203" pitchFamily="34" charset="0"/>
              </a:rPr>
              <a:t>Amsterdam</a:t>
            </a:r>
            <a:r>
              <a:rPr lang="es-ES" altLang="es-ES" sz="1900" b="1" dirty="0">
                <a:solidFill>
                  <a:schemeClr val="tx1"/>
                </a:solidFill>
                <a:latin typeface="Gill Sans MT" panose="020B0502020104020203" pitchFamily="34" charset="0"/>
              </a:rPr>
              <a:t> (1999</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marked</a:t>
            </a:r>
            <a:r>
              <a:rPr lang="es-ES" altLang="es-ES" sz="1900" dirty="0">
                <a:solidFill>
                  <a:schemeClr val="tx1"/>
                </a:solidFill>
                <a:latin typeface="Gill Sans MT" panose="020B0502020104020203" pitchFamily="34" charset="0"/>
              </a:rPr>
              <a:t> a </a:t>
            </a:r>
            <a:r>
              <a:rPr lang="es-ES" altLang="es-ES" sz="1900" dirty="0" err="1">
                <a:solidFill>
                  <a:schemeClr val="tx1"/>
                </a:solidFill>
                <a:latin typeface="Gill Sans MT" panose="020B0502020104020203" pitchFamily="34" charset="0"/>
              </a:rPr>
              <a:t>turning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point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by</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granting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European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Union</a:t>
            </a:r>
            <a:r>
              <a:rPr lang="es-ES" altLang="es-ES" sz="1900" dirty="0">
                <a:solidFill>
                  <a:schemeClr val="tx1"/>
                </a:solidFill>
                <a:latin typeface="Gill Sans MT" panose="020B0502020104020203" pitchFamily="34" charset="0"/>
              </a:rPr>
              <a:t> formal </a:t>
            </a:r>
            <a:r>
              <a:rPr lang="es-ES" altLang="es-ES" sz="1900" dirty="0" err="1">
                <a:solidFill>
                  <a:schemeClr val="tx1"/>
                </a:solidFill>
                <a:latin typeface="Gill Sans MT" panose="020B0502020104020203" pitchFamily="34" charset="0"/>
              </a:rPr>
              <a:t>authority</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over</a:t>
            </a:r>
            <a:r>
              <a:rPr lang="es-ES" altLang="es-ES" sz="1900" dirty="0">
                <a:solidFill>
                  <a:schemeClr val="tx1"/>
                </a:solidFill>
                <a:latin typeface="Gill Sans MT" panose="020B0502020104020203" pitchFamily="34" charset="0"/>
              </a:rPr>
              <a:t> </a:t>
            </a:r>
            <a:r>
              <a:rPr lang="es-ES" altLang="es-ES" sz="1900" u="sng" dirty="0" err="1">
                <a:solidFill>
                  <a:schemeClr val="tx1"/>
                </a:solidFill>
                <a:latin typeface="Gill Sans MT" panose="020B0502020104020203" pitchFamily="34" charset="0"/>
              </a:rPr>
              <a:t>migration</a:t>
            </a:r>
            <a:r>
              <a:rPr lang="es-ES" altLang="es-ES" sz="1900" u="sng" dirty="0">
                <a:solidFill>
                  <a:schemeClr val="tx1"/>
                </a:solidFill>
                <a:latin typeface="Gill Sans MT" panose="020B0502020104020203" pitchFamily="34" charset="0"/>
              </a:rPr>
              <a:t> and </a:t>
            </a:r>
            <a:r>
              <a:rPr lang="es-ES" altLang="es-ES" sz="1900" u="sng" dirty="0" err="1">
                <a:solidFill>
                  <a:schemeClr val="tx1"/>
                </a:solidFill>
                <a:latin typeface="Gill Sans MT" panose="020B0502020104020203" pitchFamily="34" charset="0"/>
              </a:rPr>
              <a:t>asylum</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matters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transferring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key</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competencies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from</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national</a:t>
            </a:r>
            <a:r>
              <a:rPr lang="es-ES" altLang="es-ES" sz="1900" dirty="0">
                <a:solidFill>
                  <a:schemeClr val="tx1"/>
                </a:solidFill>
                <a:latin typeface="Gill Sans MT" panose="020B0502020104020203" pitchFamily="34" charset="0"/>
              </a:rPr>
              <a:t> to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supranational</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level</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This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laid</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institutional</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foundation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for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developing</a:t>
            </a:r>
            <a:r>
              <a:rPr lang="es-ES" altLang="es-ES" sz="1900" dirty="0">
                <a:solidFill>
                  <a:schemeClr val="tx1"/>
                </a:solidFill>
                <a:latin typeface="Gill Sans MT" panose="020B0502020104020203" pitchFamily="34" charset="0"/>
              </a:rPr>
              <a:t> a more </a:t>
            </a:r>
            <a:r>
              <a:rPr lang="es-ES" altLang="es-ES" sz="1900" dirty="0" err="1">
                <a:solidFill>
                  <a:schemeClr val="tx1"/>
                </a:solidFill>
                <a:latin typeface="Gill Sans MT" panose="020B0502020104020203" pitchFamily="34" charset="0"/>
              </a:rPr>
              <a:t>coordinated</a:t>
            </a:r>
            <a:r>
              <a:rPr lang="es-ES" altLang="es-ES" sz="1900" dirty="0">
                <a:solidFill>
                  <a:schemeClr val="tx1"/>
                </a:solidFill>
                <a:latin typeface="Gill Sans MT" panose="020B0502020104020203" pitchFamily="34" charset="0"/>
              </a:rPr>
              <a:t> and </a:t>
            </a:r>
            <a:r>
              <a:rPr lang="es-ES" altLang="es-ES" sz="1900" dirty="0" err="1">
                <a:solidFill>
                  <a:schemeClr val="tx1"/>
                </a:solidFill>
                <a:latin typeface="Gill Sans MT" panose="020B0502020104020203" pitchFamily="34" charset="0"/>
              </a:rPr>
              <a:t>harmonized</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approach</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among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member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states</a:t>
            </a:r>
            <a:r>
              <a:rPr lang="es-ES" altLang="es-ES" sz="1900" dirty="0">
                <a:solidFill>
                  <a:schemeClr val="tx1"/>
                </a:solidFill>
                <a:latin typeface="Gill Sans MT" panose="020B0502020104020203" pitchFamily="34" charset="0"/>
              </a:rPr>
              <a:t>.</a:t>
            </a:r>
          </a:p>
          <a:p>
            <a:pPr marL="0" lvl="0" indent="0" eaLnBrk="0" fontAlgn="base" hangingPunct="0">
              <a:lnSpc>
                <a:spcPct val="100000"/>
              </a:lnSpc>
              <a:spcBef>
                <a:spcPct val="0"/>
              </a:spcBef>
              <a:spcAft>
                <a:spcPct val="0"/>
              </a:spcAft>
              <a:buClrTx/>
              <a:buNone/>
            </a:pPr>
            <a:endParaRPr lang="es-ES" altLang="es-ES" sz="1900" dirty="0" smtClean="0">
              <a:solidFill>
                <a:schemeClr val="tx1"/>
              </a:solidFill>
              <a:latin typeface="Gill Sans MT" panose="020B0502020104020203" pitchFamily="34" charset="0"/>
            </a:endParaRPr>
          </a:p>
          <a:p>
            <a:pPr marL="0" lvl="0" indent="0" eaLnBrk="0" fontAlgn="base" hangingPunct="0">
              <a:lnSpc>
                <a:spcPct val="100000"/>
              </a:lnSpc>
              <a:spcBef>
                <a:spcPct val="0"/>
              </a:spcBef>
              <a:spcAft>
                <a:spcPct val="0"/>
              </a:spcAft>
              <a:buClrTx/>
              <a:buNone/>
            </a:pPr>
            <a:r>
              <a:rPr lang="es-ES" altLang="es-ES" sz="1900" dirty="0" err="1" smtClean="0">
                <a:solidFill>
                  <a:schemeClr val="tx1"/>
                </a:solidFill>
                <a:latin typeface="Gill Sans MT" panose="020B0502020104020203" pitchFamily="34" charset="0"/>
              </a:rPr>
              <a:t>Building</a:t>
            </a:r>
            <a:r>
              <a:rPr lang="es-ES" altLang="es-ES" sz="1900" dirty="0" smtClean="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this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b="1" dirty="0" err="1">
                <a:solidFill>
                  <a:schemeClr val="tx1"/>
                </a:solidFill>
                <a:latin typeface="Gill Sans MT" panose="020B0502020104020203" pitchFamily="34" charset="0"/>
              </a:rPr>
              <a:t>Tampere</a:t>
            </a:r>
            <a:r>
              <a:rPr lang="es-ES" altLang="es-ES" sz="1900" b="1" dirty="0">
                <a:solidFill>
                  <a:schemeClr val="tx1"/>
                </a:solidFill>
                <a:latin typeface="Gill Sans MT" panose="020B0502020104020203" pitchFamily="34" charset="0"/>
              </a:rPr>
              <a:t> </a:t>
            </a:r>
            <a:r>
              <a:rPr lang="es-ES" altLang="es-ES" sz="1900" b="1" dirty="0" err="1">
                <a:solidFill>
                  <a:schemeClr val="tx1"/>
                </a:solidFill>
                <a:latin typeface="Gill Sans MT" panose="020B0502020104020203" pitchFamily="34" charset="0"/>
              </a:rPr>
              <a:t>European</a:t>
            </a:r>
            <a:r>
              <a:rPr lang="es-ES" altLang="es-ES" sz="1900" b="1" dirty="0">
                <a:solidFill>
                  <a:schemeClr val="tx1"/>
                </a:solidFill>
                <a:latin typeface="Gill Sans MT" panose="020B0502020104020203" pitchFamily="34" charset="0"/>
              </a:rPr>
              <a:t> Council (1999)</a:t>
            </a:r>
            <a:r>
              <a:rPr lang="es-ES" altLang="es-ES" sz="1900" dirty="0">
                <a:solidFill>
                  <a:schemeClr val="tx1"/>
                </a:solidFill>
                <a:latin typeface="Gill Sans MT" panose="020B0502020104020203" pitchFamily="34" charset="0"/>
              </a:rPr>
              <a:t> set </a:t>
            </a:r>
            <a:r>
              <a:rPr lang="es-ES" altLang="es-ES" sz="1900" dirty="0" err="1">
                <a:solidFill>
                  <a:schemeClr val="tx1"/>
                </a:solidFill>
                <a:latin typeface="Gill Sans MT" panose="020B0502020104020203" pitchFamily="34" charset="0"/>
              </a:rPr>
              <a:t>out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ambitious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political</a:t>
            </a:r>
            <a:r>
              <a:rPr lang="es-ES" altLang="es-ES" sz="1900" dirty="0">
                <a:solidFill>
                  <a:schemeClr val="tx1"/>
                </a:solidFill>
                <a:latin typeface="Gill Sans MT" panose="020B0502020104020203" pitchFamily="34" charset="0"/>
              </a:rPr>
              <a:t> agenda, </a:t>
            </a:r>
            <a:r>
              <a:rPr lang="es-ES" altLang="es-ES" sz="1900" dirty="0" err="1">
                <a:solidFill>
                  <a:schemeClr val="tx1"/>
                </a:solidFill>
                <a:latin typeface="Gill Sans MT" panose="020B0502020104020203" pitchFamily="34" charset="0"/>
              </a:rPr>
              <a:t>proposing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creation</a:t>
            </a:r>
            <a:r>
              <a:rPr lang="es-ES" altLang="es-ES" sz="1900" dirty="0">
                <a:solidFill>
                  <a:schemeClr val="tx1"/>
                </a:solidFill>
                <a:latin typeface="Gill Sans MT" panose="020B0502020104020203" pitchFamily="34" charset="0"/>
              </a:rPr>
              <a:t> of a </a:t>
            </a:r>
            <a:r>
              <a:rPr lang="es-ES" altLang="es-ES" sz="1900" u="sng" dirty="0" err="1">
                <a:solidFill>
                  <a:schemeClr val="tx1"/>
                </a:solidFill>
                <a:latin typeface="Gill Sans MT" panose="020B0502020104020203" pitchFamily="34" charset="0"/>
              </a:rPr>
              <a:t>Common</a:t>
            </a:r>
            <a:r>
              <a:rPr lang="es-ES" altLang="es-ES" sz="1900" u="sng" dirty="0">
                <a:solidFill>
                  <a:schemeClr val="tx1"/>
                </a:solidFill>
                <a:latin typeface="Gill Sans MT" panose="020B0502020104020203" pitchFamily="34" charset="0"/>
              </a:rPr>
              <a:t> </a:t>
            </a:r>
            <a:r>
              <a:rPr lang="es-ES" altLang="es-ES" sz="1900" u="sng" dirty="0" err="1">
                <a:solidFill>
                  <a:schemeClr val="tx1"/>
                </a:solidFill>
                <a:latin typeface="Gill Sans MT" panose="020B0502020104020203" pitchFamily="34" charset="0"/>
              </a:rPr>
              <a:t>European</a:t>
            </a:r>
            <a:r>
              <a:rPr lang="es-ES" altLang="es-ES" sz="1900" u="sng" dirty="0">
                <a:solidFill>
                  <a:schemeClr val="tx1"/>
                </a:solidFill>
                <a:latin typeface="Gill Sans MT" panose="020B0502020104020203" pitchFamily="34" charset="0"/>
              </a:rPr>
              <a:t> </a:t>
            </a:r>
            <a:r>
              <a:rPr lang="es-ES" altLang="es-ES" sz="1900" u="sng" dirty="0" err="1">
                <a:solidFill>
                  <a:schemeClr val="tx1"/>
                </a:solidFill>
                <a:latin typeface="Gill Sans MT" panose="020B0502020104020203" pitchFamily="34" charset="0"/>
              </a:rPr>
              <a:t>Asylum</a:t>
            </a:r>
            <a:r>
              <a:rPr lang="es-ES" altLang="es-ES" sz="1900" u="sng" dirty="0">
                <a:solidFill>
                  <a:schemeClr val="tx1"/>
                </a:solidFill>
                <a:latin typeface="Gill Sans MT" panose="020B0502020104020203" pitchFamily="34" charset="0"/>
              </a:rPr>
              <a:t> </a:t>
            </a:r>
            <a:r>
              <a:rPr lang="es-ES" altLang="es-ES" sz="1900" u="sng" dirty="0" err="1">
                <a:solidFill>
                  <a:schemeClr val="tx1"/>
                </a:solidFill>
                <a:latin typeface="Gill Sans MT" panose="020B0502020104020203" pitchFamily="34" charset="0"/>
              </a:rPr>
              <a:t>System</a:t>
            </a:r>
            <a:r>
              <a:rPr lang="es-ES" altLang="es-ES" sz="1900" u="sng" dirty="0">
                <a:solidFill>
                  <a:schemeClr val="tx1"/>
                </a:solidFill>
                <a:latin typeface="Gill Sans MT" panose="020B0502020104020203" pitchFamily="34" charset="0"/>
              </a:rPr>
              <a:t> </a:t>
            </a:r>
            <a:r>
              <a:rPr lang="es-ES" altLang="es-ES" sz="1900" dirty="0">
                <a:solidFill>
                  <a:schemeClr val="tx1"/>
                </a:solidFill>
                <a:latin typeface="Gill Sans MT" panose="020B0502020104020203" pitchFamily="34" charset="0"/>
              </a:rPr>
              <a:t>(CEAS). </a:t>
            </a:r>
            <a:r>
              <a:rPr lang="es-ES" altLang="es-ES" sz="1900" dirty="0" err="1">
                <a:solidFill>
                  <a:schemeClr val="tx1"/>
                </a:solidFill>
                <a:latin typeface="Gill Sans MT" panose="020B0502020104020203" pitchFamily="34" charset="0"/>
              </a:rPr>
              <a:t>It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emphasized</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need</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for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fair</a:t>
            </a:r>
            <a:r>
              <a:rPr lang="es-ES" altLang="es-ES" sz="1900" dirty="0">
                <a:solidFill>
                  <a:schemeClr val="tx1"/>
                </a:solidFill>
                <a:latin typeface="Gill Sans MT" panose="020B0502020104020203" pitchFamily="34" charset="0"/>
              </a:rPr>
              <a:t> and </a:t>
            </a:r>
            <a:r>
              <a:rPr lang="es-ES" altLang="es-ES" sz="1900" dirty="0" err="1">
                <a:solidFill>
                  <a:schemeClr val="tx1"/>
                </a:solidFill>
                <a:latin typeface="Gill Sans MT" panose="020B0502020104020203" pitchFamily="34" charset="0"/>
              </a:rPr>
              <a:t>efficient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asylum</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procedures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approximation</a:t>
            </a:r>
            <a:r>
              <a:rPr lang="es-ES" altLang="es-ES" sz="1900" dirty="0">
                <a:solidFill>
                  <a:schemeClr val="tx1"/>
                </a:solidFill>
                <a:latin typeface="Gill Sans MT" panose="020B0502020104020203" pitchFamily="34" charset="0"/>
              </a:rPr>
              <a:t> of </a:t>
            </a:r>
            <a:r>
              <a:rPr lang="es-ES" altLang="es-ES" sz="1900" dirty="0" err="1">
                <a:solidFill>
                  <a:schemeClr val="tx1"/>
                </a:solidFill>
                <a:latin typeface="Gill Sans MT" panose="020B0502020104020203" pitchFamily="34" charset="0"/>
              </a:rPr>
              <a:t>national</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legislations</a:t>
            </a:r>
            <a:r>
              <a:rPr lang="es-ES" altLang="es-ES" sz="1900" dirty="0">
                <a:solidFill>
                  <a:schemeClr val="tx1"/>
                </a:solidFill>
                <a:latin typeface="Gill Sans MT" panose="020B0502020104020203" pitchFamily="34" charset="0"/>
              </a:rPr>
              <a:t>, and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establishment of </a:t>
            </a:r>
            <a:r>
              <a:rPr lang="es-ES" altLang="es-ES" sz="1900" dirty="0" err="1">
                <a:solidFill>
                  <a:schemeClr val="tx1"/>
                </a:solidFill>
                <a:latin typeface="Gill Sans MT" panose="020B0502020104020203" pitchFamily="34" charset="0"/>
              </a:rPr>
              <a:t>common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standards</a:t>
            </a:r>
            <a:r>
              <a:rPr lang="es-ES" altLang="es-ES" sz="1900" dirty="0">
                <a:solidFill>
                  <a:schemeClr val="tx1"/>
                </a:solidFill>
                <a:latin typeface="Gill Sans MT" panose="020B0502020104020203" pitchFamily="34" charset="0"/>
              </a:rPr>
              <a:t> to </a:t>
            </a:r>
            <a:r>
              <a:rPr lang="es-ES" altLang="es-ES" sz="1900" dirty="0" err="1">
                <a:solidFill>
                  <a:schemeClr val="tx1"/>
                </a:solidFill>
                <a:latin typeface="Gill Sans MT" panose="020B0502020104020203" pitchFamily="34" charset="0"/>
              </a:rPr>
              <a:t>ensure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protection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for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those</a:t>
            </a:r>
            <a:r>
              <a:rPr lang="es-ES" altLang="es-ES" sz="1900" dirty="0">
                <a:solidFill>
                  <a:schemeClr val="tx1"/>
                </a:solidFill>
                <a:latin typeface="Gill Sans MT" panose="020B0502020104020203" pitchFamily="34" charset="0"/>
              </a:rPr>
              <a:t> in </a:t>
            </a:r>
            <a:r>
              <a:rPr lang="es-ES" altLang="es-ES" sz="1900" dirty="0" err="1">
                <a:solidFill>
                  <a:schemeClr val="tx1"/>
                </a:solidFill>
                <a:latin typeface="Gill Sans MT" panose="020B0502020104020203" pitchFamily="34" charset="0"/>
              </a:rPr>
              <a:t>need</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while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also</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managing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migration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flows</a:t>
            </a:r>
            <a:r>
              <a:rPr lang="es-ES" altLang="es-ES" sz="1900" dirty="0">
                <a:solidFill>
                  <a:schemeClr val="tx1"/>
                </a:solidFill>
                <a:latin typeface="Gill Sans MT" panose="020B0502020104020203" pitchFamily="34" charset="0"/>
              </a:rPr>
              <a:t> more </a:t>
            </a:r>
            <a:r>
              <a:rPr lang="es-ES" altLang="es-ES" sz="1900" dirty="0" err="1">
                <a:solidFill>
                  <a:schemeClr val="tx1"/>
                </a:solidFill>
                <a:latin typeface="Gill Sans MT" panose="020B0502020104020203" pitchFamily="34" charset="0"/>
              </a:rPr>
              <a:t>effectively</a:t>
            </a:r>
            <a:r>
              <a:rPr lang="es-ES" altLang="es-ES" sz="1900" dirty="0">
                <a:solidFill>
                  <a:schemeClr val="tx1"/>
                </a:solidFill>
                <a:latin typeface="Gill Sans MT" panose="020B0502020104020203" pitchFamily="34" charset="0"/>
              </a:rPr>
              <a:t>.</a:t>
            </a:r>
          </a:p>
          <a:p>
            <a:pPr marL="0" lvl="0" indent="0" eaLnBrk="0" fontAlgn="base" hangingPunct="0">
              <a:lnSpc>
                <a:spcPct val="100000"/>
              </a:lnSpc>
              <a:spcBef>
                <a:spcPct val="0"/>
              </a:spcBef>
              <a:spcAft>
                <a:spcPct val="0"/>
              </a:spcAft>
              <a:buClrTx/>
              <a:buNone/>
            </a:pPr>
            <a:endParaRPr lang="es-ES" altLang="es-ES" sz="1900" dirty="0" smtClean="0">
              <a:solidFill>
                <a:schemeClr val="tx1"/>
              </a:solidFill>
              <a:latin typeface="Gill Sans MT" panose="020B0502020104020203" pitchFamily="34" charset="0"/>
            </a:endParaRPr>
          </a:p>
          <a:p>
            <a:pPr marL="0" lvl="0" indent="0" eaLnBrk="0" fontAlgn="base" hangingPunct="0">
              <a:lnSpc>
                <a:spcPct val="100000"/>
              </a:lnSpc>
              <a:spcBef>
                <a:spcPct val="0"/>
              </a:spcBef>
              <a:spcAft>
                <a:spcPct val="0"/>
              </a:spcAft>
              <a:buClrTx/>
              <a:buNone/>
            </a:pPr>
            <a:r>
              <a:rPr lang="es-ES" altLang="es-ES" sz="1900" dirty="0" err="1" smtClean="0">
                <a:solidFill>
                  <a:schemeClr val="tx1"/>
                </a:solidFill>
                <a:latin typeface="Gill Sans MT" panose="020B0502020104020203" pitchFamily="34" charset="0"/>
              </a:rPr>
              <a:t>Within</a:t>
            </a:r>
            <a:r>
              <a:rPr lang="es-ES" altLang="es-ES" sz="1900" dirty="0" smtClean="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this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framework</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b="1" dirty="0" err="1">
                <a:solidFill>
                  <a:schemeClr val="tx1"/>
                </a:solidFill>
                <a:latin typeface="Gill Sans MT" panose="020B0502020104020203" pitchFamily="34" charset="0"/>
              </a:rPr>
              <a:t>Dublin</a:t>
            </a:r>
            <a:r>
              <a:rPr lang="es-ES" altLang="es-ES" sz="1900" b="1" dirty="0">
                <a:solidFill>
                  <a:schemeClr val="tx1"/>
                </a:solidFill>
                <a:latin typeface="Gill Sans MT" panose="020B0502020104020203" pitchFamily="34" charset="0"/>
              </a:rPr>
              <a:t> II </a:t>
            </a:r>
            <a:r>
              <a:rPr lang="es-ES" altLang="es-ES" sz="1900" b="1" dirty="0" err="1">
                <a:solidFill>
                  <a:schemeClr val="tx1"/>
                </a:solidFill>
                <a:latin typeface="Gill Sans MT" panose="020B0502020104020203" pitchFamily="34" charset="0"/>
              </a:rPr>
              <a:t>Regulation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introduced</a:t>
            </a:r>
            <a:r>
              <a:rPr lang="es-ES" altLang="es-ES" sz="1900" dirty="0">
                <a:solidFill>
                  <a:schemeClr val="tx1"/>
                </a:solidFill>
                <a:latin typeface="Gill Sans MT" panose="020B0502020104020203" pitchFamily="34" charset="0"/>
              </a:rPr>
              <a:t> a </a:t>
            </a:r>
            <a:r>
              <a:rPr lang="es-ES" altLang="es-ES" sz="1900" dirty="0" err="1">
                <a:solidFill>
                  <a:schemeClr val="tx1"/>
                </a:solidFill>
                <a:latin typeface="Gill Sans MT" panose="020B0502020104020203" pitchFamily="34" charset="0"/>
              </a:rPr>
              <a:t>clear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mechanism</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for</a:t>
            </a:r>
            <a:r>
              <a:rPr lang="es-ES" altLang="es-ES" sz="1900" dirty="0">
                <a:solidFill>
                  <a:schemeClr val="tx1"/>
                </a:solidFill>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determining</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which</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member</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state</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is</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effectLst>
                  <a:outerShdw blurRad="38100" dist="38100" dir="2700000" algn="tl">
                    <a:srgbClr val="000000">
                      <a:alpha val="43137"/>
                    </a:srgbClr>
                  </a:outerShdw>
                </a:effectLst>
                <a:latin typeface="Gill Sans MT" panose="020B0502020104020203" pitchFamily="34" charset="0"/>
              </a:rPr>
              <a:t>responsible</a:t>
            </a:r>
            <a:r>
              <a:rPr lang="es-ES" altLang="es-ES" sz="1900" dirty="0">
                <a:solidFill>
                  <a:schemeClr val="tx1"/>
                </a:solidFill>
                <a:effectLst>
                  <a:outerShdw blurRad="38100" dist="38100" dir="2700000" algn="tl">
                    <a:srgbClr val="000000">
                      <a:alpha val="43137"/>
                    </a:srgbClr>
                  </a:outerShdw>
                </a:effectLst>
                <a:latin typeface="Gill Sans MT" panose="020B0502020104020203" pitchFamily="34" charset="0"/>
              </a:rPr>
              <a:t> </a:t>
            </a:r>
            <a:r>
              <a:rPr lang="es-ES" altLang="es-ES" sz="1900" dirty="0" err="1">
                <a:solidFill>
                  <a:schemeClr val="tx1"/>
                </a:solidFill>
                <a:latin typeface="Gill Sans MT" panose="020B0502020104020203" pitchFamily="34" charset="0"/>
              </a:rPr>
              <a:t>for</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examining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asylum</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application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Its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main</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objective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was</a:t>
            </a:r>
            <a:r>
              <a:rPr lang="es-ES" altLang="es-ES" sz="1900" dirty="0">
                <a:solidFill>
                  <a:schemeClr val="tx1"/>
                </a:solidFill>
                <a:latin typeface="Gill Sans MT" panose="020B0502020104020203" pitchFamily="34" charset="0"/>
              </a:rPr>
              <a:t> to </a:t>
            </a:r>
            <a:r>
              <a:rPr lang="es-ES" altLang="es-ES" sz="1900" dirty="0" err="1">
                <a:solidFill>
                  <a:schemeClr val="tx1"/>
                </a:solidFill>
                <a:latin typeface="Gill Sans MT" panose="020B0502020104020203" pitchFamily="34" charset="0"/>
              </a:rPr>
              <a:t>prevent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asylum</a:t>
            </a:r>
            <a:r>
              <a:rPr lang="es-ES" altLang="es-ES" sz="1900" dirty="0">
                <a:solidFill>
                  <a:schemeClr val="tx1"/>
                </a:solidFill>
                <a:latin typeface="Gill Sans MT" panose="020B0502020104020203" pitchFamily="34" charset="0"/>
              </a:rPr>
              <a:t> shopping” and </a:t>
            </a:r>
            <a:r>
              <a:rPr lang="es-ES" altLang="es-ES" sz="1900" dirty="0" err="1">
                <a:solidFill>
                  <a:schemeClr val="tx1"/>
                </a:solidFill>
                <a:latin typeface="Gill Sans MT" panose="020B0502020104020203" pitchFamily="34" charset="0"/>
              </a:rPr>
              <a:t>multiple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applications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across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different</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countries</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by</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assigning</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responsibility</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primarily</a:t>
            </a:r>
            <a:r>
              <a:rPr lang="es-ES" altLang="es-ES" sz="1900" dirty="0">
                <a:solidFill>
                  <a:schemeClr val="tx1"/>
                </a:solidFill>
                <a:latin typeface="Gill Sans MT" panose="020B0502020104020203" pitchFamily="34" charset="0"/>
              </a:rPr>
              <a:t> to </a:t>
            </a:r>
            <a:r>
              <a:rPr lang="es-ES" altLang="es-ES" sz="1900" dirty="0" err="1">
                <a:solidFill>
                  <a:schemeClr val="tx1"/>
                </a:solidFill>
                <a:latin typeface="Gill Sans MT" panose="020B0502020104020203" pitchFamily="34" charset="0"/>
              </a:rPr>
              <a:t>the</a:t>
            </a:r>
            <a:r>
              <a:rPr lang="es-ES" altLang="es-ES" sz="1900" dirty="0">
                <a:solidFill>
                  <a:schemeClr val="tx1"/>
                </a:solidFill>
                <a:latin typeface="Gill Sans MT" panose="020B0502020104020203" pitchFamily="34" charset="0"/>
              </a:rPr>
              <a:t> </a:t>
            </a:r>
            <a:r>
              <a:rPr lang="es-ES" altLang="es-ES" sz="1900" dirty="0" err="1">
                <a:solidFill>
                  <a:schemeClr val="tx1"/>
                </a:solidFill>
                <a:latin typeface="Gill Sans MT" panose="020B0502020104020203" pitchFamily="34" charset="0"/>
              </a:rPr>
              <a:t>first</a:t>
            </a:r>
            <a:r>
              <a:rPr lang="es-ES" altLang="es-ES" sz="1900" dirty="0">
                <a:solidFill>
                  <a:schemeClr val="tx1"/>
                </a:solidFill>
                <a:latin typeface="Gill Sans MT" panose="020B0502020104020203" pitchFamily="34" charset="0"/>
              </a:rPr>
              <a:t> EU country of </a:t>
            </a:r>
            <a:r>
              <a:rPr lang="es-ES" altLang="es-ES" sz="1900" dirty="0" err="1">
                <a:solidFill>
                  <a:schemeClr val="tx1"/>
                </a:solidFill>
                <a:latin typeface="Gill Sans MT" panose="020B0502020104020203" pitchFamily="34" charset="0"/>
              </a:rPr>
              <a:t>entry</a:t>
            </a:r>
            <a:r>
              <a:rPr lang="es-ES" altLang="es-ES" sz="1900" dirty="0">
                <a:solidFill>
                  <a:schemeClr val="tx1"/>
                </a:solidFill>
                <a:latin typeface="Gill Sans MT" panose="020B0502020104020203" pitchFamily="34" charset="0"/>
              </a:rPr>
              <a:t>.</a:t>
            </a:r>
          </a:p>
          <a:p>
            <a:pPr marL="0" indent="0">
              <a:buNone/>
            </a:pPr>
            <a:endParaRPr lang="en-US" sz="1800" dirty="0"/>
          </a:p>
        </p:txBody>
      </p:sp>
    </p:spTree>
    <p:extLst>
      <p:ext uri="{BB962C8B-B14F-4D97-AF65-F5344CB8AC3E}">
        <p14:creationId xmlns:p14="http://schemas.microsoft.com/office/powerpoint/2010/main" val="6897298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251678" y="382385"/>
            <a:ext cx="10487740" cy="1492132"/>
          </a:xfrm>
        </p:spPr>
        <p:style>
          <a:lnRef idx="2">
            <a:schemeClr val="accent2">
              <a:shade val="50000"/>
            </a:schemeClr>
          </a:lnRef>
          <a:fillRef idx="1">
            <a:schemeClr val="accent2"/>
          </a:fillRef>
          <a:effectRef idx="0">
            <a:schemeClr val="accent2"/>
          </a:effectRef>
          <a:fontRef idx="minor">
            <a:schemeClr val="lt1"/>
          </a:fontRef>
        </p:style>
        <p:txBody>
          <a:bodyPr>
            <a:normAutofit/>
          </a:bodyPr>
          <a:lstStyle/>
          <a:p>
            <a:r>
              <a:rPr lang="en-US" sz="4800" b="1" dirty="0"/>
              <a:t>Evolution and Reform: From CEAS to the Pact</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p:txBody>
          <a:bodyPr>
            <a:normAutofit fontScale="92500" lnSpcReduction="20000"/>
          </a:bodyPr>
          <a:lstStyle/>
          <a:p>
            <a:pPr marL="0" indent="0">
              <a:buNone/>
            </a:pPr>
            <a:r>
              <a:rPr lang="en-US" sz="1900" b="1" dirty="0" smtClean="0">
                <a:solidFill>
                  <a:schemeClr val="tx1"/>
                </a:solidFill>
              </a:rPr>
              <a:t>The </a:t>
            </a:r>
            <a:r>
              <a:rPr lang="en-US" sz="1900" b="1" dirty="0">
                <a:solidFill>
                  <a:schemeClr val="tx1"/>
                </a:solidFill>
              </a:rPr>
              <a:t>first phase of the Common European Asylum System (CEAS) </a:t>
            </a:r>
            <a:r>
              <a:rPr lang="en-US" sz="1900" dirty="0">
                <a:solidFill>
                  <a:schemeClr val="tx1"/>
                </a:solidFill>
              </a:rPr>
              <a:t>was completed by 2005, introducing a set of minimum standards on asylum procedures, reception conditions, and qualification criteria across member states. However, significant disparities in implementation led to a second phase of reforms, finalized in 2013, which strengthened and harmonized these rules through updated directives and regulations aimed at ensuring more consistent protection standards throughout the EU.</a:t>
            </a:r>
          </a:p>
          <a:p>
            <a:pPr marL="0" indent="0">
              <a:buNone/>
            </a:pPr>
            <a:r>
              <a:rPr lang="en-US" sz="1900" b="1" dirty="0">
                <a:solidFill>
                  <a:schemeClr val="tx1"/>
                </a:solidFill>
              </a:rPr>
              <a:t>As part of these efforts, the European Asylum Support Office (EASO) was established </a:t>
            </a:r>
            <a:r>
              <a:rPr lang="en-US" sz="1900" dirty="0">
                <a:solidFill>
                  <a:schemeClr val="tx1"/>
                </a:solidFill>
              </a:rPr>
              <a:t>to enhance practical cooperation among member states. Its role includes providing technical and operational support, facilitating information exchange, and assisting countries facing particular pressure on their asylum systems.</a:t>
            </a:r>
          </a:p>
          <a:p>
            <a:pPr marL="0" indent="0">
              <a:buNone/>
            </a:pPr>
            <a:r>
              <a:rPr lang="en-US" sz="1900" b="1" dirty="0">
                <a:solidFill>
                  <a:schemeClr val="tx1"/>
                </a:solidFill>
              </a:rPr>
              <a:t>The 2015 migrant crisis exposed structural weaknesses </a:t>
            </a:r>
            <a:r>
              <a:rPr lang="en-US" sz="1900" dirty="0">
                <a:solidFill>
                  <a:schemeClr val="tx1"/>
                </a:solidFill>
              </a:rPr>
              <a:t>in the CEAS, particularly regarding burden-sharing and solidarity between member states. In response, the European Commission proposed a third phase of reforms, seeking to create a more resilient and equitable system, including changes to the Dublin framework and stronger mechanisms for responsibility-sharing across the EU.</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8280141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071419" y="382384"/>
            <a:ext cx="10852726" cy="1649615"/>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4800" b="1" dirty="0"/>
              <a:t>The New Era: Pact on Migration and </a:t>
            </a:r>
            <a:r>
              <a:rPr lang="en-US" sz="4800" b="1" dirty="0" smtClean="0"/>
              <a:t>Asylum (2024-26)</a:t>
            </a:r>
            <a:endParaRPr lang="en-US" sz="4800" b="1" dirty="0"/>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p:txBody>
          <a:bodyPr>
            <a:normAutofit/>
          </a:bodyPr>
          <a:lstStyle/>
          <a:p>
            <a:pPr marL="0" indent="0">
              <a:buNone/>
            </a:pPr>
            <a:r>
              <a:rPr lang="en-US" sz="2200" dirty="0">
                <a:solidFill>
                  <a:schemeClr val="tx1"/>
                </a:solidFill>
              </a:rPr>
              <a:t>A </a:t>
            </a:r>
            <a:r>
              <a:rPr lang="en-US" sz="2200" b="1" dirty="0">
                <a:solidFill>
                  <a:schemeClr val="tx1"/>
                </a:solidFill>
              </a:rPr>
              <a:t>comprehensive approach </a:t>
            </a:r>
            <a:r>
              <a:rPr lang="en-US" sz="2200" dirty="0">
                <a:solidFill>
                  <a:schemeClr val="tx1"/>
                </a:solidFill>
              </a:rPr>
              <a:t>was developed to strengthen and better integrate EU policies on migration, asylum, and border management, recognizing that these areas are deeply interconnected and require coordinated action at the European level. This approach seeks to balance effective control of external borders with the protection of fundamental rights and the need for international protection.</a:t>
            </a:r>
          </a:p>
          <a:p>
            <a:pPr marL="0" indent="0">
              <a:buNone/>
            </a:pPr>
            <a:r>
              <a:rPr lang="en-US" sz="2200" dirty="0">
                <a:solidFill>
                  <a:schemeClr val="tx1"/>
                </a:solidFill>
              </a:rPr>
              <a:t>It aims to establish firm but fair </a:t>
            </a:r>
            <a:r>
              <a:rPr lang="en-US" sz="2200" b="1" dirty="0">
                <a:solidFill>
                  <a:schemeClr val="tx1"/>
                </a:solidFill>
              </a:rPr>
              <a:t>rules for managing migration </a:t>
            </a:r>
            <a:r>
              <a:rPr lang="en-US" sz="2200" dirty="0">
                <a:solidFill>
                  <a:schemeClr val="tx1"/>
                </a:solidFill>
              </a:rPr>
              <a:t>in the long term, ensuring both efficiency and solidarity among member states. At the same time, it allows for a degree of </a:t>
            </a:r>
            <a:r>
              <a:rPr lang="en-US" sz="2200" b="1" dirty="0">
                <a:solidFill>
                  <a:schemeClr val="tx1"/>
                </a:solidFill>
              </a:rPr>
              <a:t>flexibility</a:t>
            </a:r>
            <a:r>
              <a:rPr lang="en-US" sz="2200" dirty="0">
                <a:solidFill>
                  <a:schemeClr val="tx1"/>
                </a:solidFill>
              </a:rPr>
              <a:t>, acknowledging the different capacities and circumstances of individual countries while maintaining a common framework.</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40549756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071419" y="382384"/>
            <a:ext cx="10261599" cy="1649615"/>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4400" b="1" dirty="0"/>
              <a:t>Four Pillars of the New Pact: Securing Borders and Fair Procedures</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154696" y="2276765"/>
            <a:ext cx="10178322" cy="3593591"/>
          </a:xfrm>
        </p:spPr>
        <p:txBody>
          <a:bodyPr>
            <a:normAutofit/>
          </a:bodyPr>
          <a:lstStyle/>
          <a:p>
            <a:r>
              <a:rPr lang="en-US" sz="2200" b="1" dirty="0"/>
              <a:t>Secure External Borders:</a:t>
            </a:r>
            <a:r>
              <a:rPr lang="en-US" sz="2200" dirty="0"/>
              <a:t> Robust screening, identification, security, and health checks for all illegal arrivals.</a:t>
            </a:r>
          </a:p>
          <a:p>
            <a:r>
              <a:rPr lang="en-US" sz="2200" b="1" dirty="0" err="1"/>
              <a:t>Eurodac</a:t>
            </a:r>
            <a:r>
              <a:rPr lang="en-US" sz="2200" b="1" dirty="0"/>
              <a:t> Database:</a:t>
            </a:r>
            <a:r>
              <a:rPr lang="en-US" sz="2200" dirty="0"/>
              <a:t> A fully-fledged asylum and migration database for clear identification.</a:t>
            </a:r>
          </a:p>
          <a:p>
            <a:r>
              <a:rPr lang="en-US" sz="2200" b="1" dirty="0"/>
              <a:t>Border Procedure &amp; Returns:</a:t>
            </a:r>
            <a:r>
              <a:rPr lang="en-US" sz="2200" dirty="0"/>
              <a:t> Mandatory border procedures for those unlikely to need protection, with efficient returns.</a:t>
            </a:r>
          </a:p>
          <a:p>
            <a:r>
              <a:rPr lang="en-US" sz="2200" b="1" dirty="0"/>
              <a:t>Crisis Protocols:</a:t>
            </a:r>
            <a:r>
              <a:rPr lang="en-US" sz="2200" dirty="0"/>
              <a:t> Quick response mechanisms and funding for emergency situations.</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4067608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071419" y="382384"/>
            <a:ext cx="10261599" cy="1649615"/>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4000" b="1" dirty="0"/>
              <a:t>Asylum and Migration Management: Responsibility and Solidarity</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154696" y="2276765"/>
            <a:ext cx="10178322" cy="3593591"/>
          </a:xfrm>
        </p:spPr>
        <p:txBody>
          <a:bodyPr>
            <a:normAutofit/>
          </a:bodyPr>
          <a:lstStyle/>
          <a:p>
            <a:r>
              <a:rPr lang="en-US" sz="2400" b="1" dirty="0"/>
              <a:t>Asylum Migration Management Regulation </a:t>
            </a:r>
            <a:r>
              <a:rPr lang="en-US" sz="2400" dirty="0"/>
              <a:t>(AMMR) ensures effective determination of responsible EU countries.</a:t>
            </a:r>
          </a:p>
          <a:p>
            <a:r>
              <a:rPr lang="en-US" sz="2400" b="1" dirty="0"/>
              <a:t>New solidarity mechanism</a:t>
            </a:r>
            <a:r>
              <a:rPr lang="en-US" sz="2400" dirty="0"/>
              <a:t>: Mandatory contributions from member states (relocation, financial, or capacity building).</a:t>
            </a:r>
          </a:p>
          <a:p>
            <a:r>
              <a:rPr lang="en-US" sz="2400" b="1" dirty="0"/>
              <a:t>Fast-track procedures </a:t>
            </a:r>
            <a:r>
              <a:rPr lang="en-US" sz="2400" dirty="0"/>
              <a:t>for asylum seekers from countries with low acceptance rates (under 20%).</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13849474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071419" y="382384"/>
            <a:ext cx="10261599" cy="1649615"/>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sz="4000" b="1" dirty="0"/>
              <a:t>Asylum and Migration Management: Responsibility and Solidarity</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154696" y="2276765"/>
            <a:ext cx="10178322" cy="3593591"/>
          </a:xfrm>
        </p:spPr>
        <p:txBody>
          <a:bodyPr>
            <a:normAutofit/>
          </a:bodyPr>
          <a:lstStyle/>
          <a:p>
            <a:r>
              <a:rPr lang="en-US" sz="2400" b="1" dirty="0"/>
              <a:t>Asylum Migration Management Regulation </a:t>
            </a:r>
            <a:r>
              <a:rPr lang="en-US" sz="2400" dirty="0"/>
              <a:t>(AMMR) ensures effective determination of responsible EU countries.</a:t>
            </a:r>
          </a:p>
          <a:p>
            <a:r>
              <a:rPr lang="en-US" sz="2400" b="1" dirty="0"/>
              <a:t>New solidarity mechanism</a:t>
            </a:r>
            <a:r>
              <a:rPr lang="en-US" sz="2400" dirty="0"/>
              <a:t>: Mandatory contributions from member states (relocation, financial, or capacity building).</a:t>
            </a:r>
          </a:p>
          <a:p>
            <a:r>
              <a:rPr lang="en-US" sz="2400" b="1" dirty="0"/>
              <a:t>Fast-track procedures </a:t>
            </a:r>
            <a:r>
              <a:rPr lang="en-US" sz="2400" dirty="0"/>
              <a:t>for asylum seekers from countries with low acceptance rates (under 20%).</a:t>
            </a:r>
          </a:p>
          <a:p>
            <a:pPr marL="0" indent="0">
              <a:buNone/>
            </a:pPr>
            <a:endParaRPr lang="en-US" sz="1800" dirty="0"/>
          </a:p>
          <a:p>
            <a:pPr marL="0" indent="0">
              <a:buNone/>
            </a:pPr>
            <a:endParaRPr lang="en-US" sz="1800" dirty="0"/>
          </a:p>
        </p:txBody>
      </p:sp>
    </p:spTree>
    <p:extLst>
      <p:ext uri="{BB962C8B-B14F-4D97-AF65-F5344CB8AC3E}">
        <p14:creationId xmlns:p14="http://schemas.microsoft.com/office/powerpoint/2010/main" val="32929230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IRREGULAR BORDER CROSSINGS</a:t>
            </a:r>
            <a:endParaRPr lang="en-GB" dirty="0"/>
          </a:p>
        </p:txBody>
      </p:sp>
      <p:pic>
        <p:nvPicPr>
          <p:cNvPr id="2054" name="Picture 6" descr="Migratory rout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71747" y="2101273"/>
            <a:ext cx="6290726" cy="44097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40588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p:style>
          <a:lnRef idx="2">
            <a:schemeClr val="accent2">
              <a:shade val="50000"/>
            </a:schemeClr>
          </a:lnRef>
          <a:fillRef idx="1">
            <a:schemeClr val="accent2"/>
          </a:fillRef>
          <a:effectRef idx="0">
            <a:schemeClr val="accent2"/>
          </a:effectRef>
          <a:fontRef idx="minor">
            <a:schemeClr val="lt1"/>
          </a:fontRef>
        </p:style>
        <p:txBody>
          <a:bodyPr/>
          <a:lstStyle/>
          <a:p>
            <a:pPr algn="ctr"/>
            <a:r>
              <a:rPr lang="en-GB" dirty="0" smtClean="0"/>
              <a:t>EUROPE BORDER STRATEGY</a:t>
            </a:r>
            <a:endParaRPr lang="en-GB" dirty="0"/>
          </a:p>
        </p:txBody>
      </p:sp>
      <p:pic>
        <p:nvPicPr>
          <p:cNvPr id="2050" name="Picture 2" descr="r/MapPorn - Closed Border Strict Border Control Moderate Border Control Minimal Border Control No Border Control"/>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863273" y="2141720"/>
            <a:ext cx="6687127" cy="41144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21259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251677" y="382385"/>
            <a:ext cx="10062867" cy="1390997"/>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b="1" dirty="0"/>
              <a:t>Key Priorities of the 2026 Strategy</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251677" y="2267528"/>
            <a:ext cx="10178322" cy="3593591"/>
          </a:xfrm>
        </p:spPr>
        <p:txBody>
          <a:bodyPr>
            <a:normAutofit/>
          </a:bodyPr>
          <a:lstStyle/>
          <a:p>
            <a:r>
              <a:rPr lang="en-US" sz="2800" b="1" dirty="0"/>
              <a:t>Migration Diplomacy:</a:t>
            </a:r>
            <a:r>
              <a:rPr lang="en-US" sz="2800" dirty="0"/>
              <a:t> Mutually beneficial partnerships, using incentives (visa, trade), and a whole-of-route approach.</a:t>
            </a:r>
          </a:p>
          <a:p>
            <a:r>
              <a:rPr lang="en-US" sz="2800" b="1" dirty="0"/>
              <a:t>Strong EU Borders:</a:t>
            </a:r>
            <a:r>
              <a:rPr lang="en-US" sz="2800" dirty="0"/>
              <a:t> Roll-out of EES and ETIAS, enhanced </a:t>
            </a:r>
            <a:r>
              <a:rPr lang="en-US" sz="2800" dirty="0" err="1"/>
              <a:t>Frontex</a:t>
            </a:r>
            <a:r>
              <a:rPr lang="en-US" sz="2800" dirty="0"/>
              <a:t> role.</a:t>
            </a:r>
          </a:p>
          <a:p>
            <a:r>
              <a:rPr lang="en-US" sz="2800" b="1" dirty="0"/>
              <a:t>Fair &amp; Adaptable System:</a:t>
            </a:r>
            <a:r>
              <a:rPr lang="en-US" sz="2800" dirty="0"/>
              <a:t> Continued focus on implementing the Pact on Migration and Asylum.</a:t>
            </a:r>
          </a:p>
          <a:p>
            <a:pPr marL="0" indent="0" algn="just">
              <a:buNone/>
            </a:pPr>
            <a:endParaRPr lang="en-US" sz="2600" dirty="0" smtClean="0"/>
          </a:p>
        </p:txBody>
      </p:sp>
    </p:spTree>
    <p:extLst>
      <p:ext uri="{BB962C8B-B14F-4D97-AF65-F5344CB8AC3E}">
        <p14:creationId xmlns:p14="http://schemas.microsoft.com/office/powerpoint/2010/main" val="13366787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1251678" y="382385"/>
            <a:ext cx="10533922" cy="1903616"/>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b="1" dirty="0"/>
              <a:t>The Five-Year Strategy (2026-2031): A Forward-Looking Approach</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251678" y="2563092"/>
            <a:ext cx="10178322" cy="3593591"/>
          </a:xfrm>
        </p:spPr>
        <p:txBody>
          <a:bodyPr>
            <a:normAutofit lnSpcReduction="10000"/>
          </a:bodyPr>
          <a:lstStyle/>
          <a:p>
            <a:r>
              <a:rPr lang="en-US" sz="2800" dirty="0"/>
              <a:t>Presented January 29, 2026, by the European Commission.</a:t>
            </a:r>
          </a:p>
          <a:p>
            <a:r>
              <a:rPr lang="en-US" sz="2800" b="1" dirty="0"/>
              <a:t>Objective 1:</a:t>
            </a:r>
            <a:r>
              <a:rPr lang="en-US" sz="2800" dirty="0"/>
              <a:t> Prevent illegal migration and break criminal smuggling networks.</a:t>
            </a:r>
          </a:p>
          <a:p>
            <a:r>
              <a:rPr lang="en-US" sz="2800" b="1" dirty="0"/>
              <a:t>Objective 2:</a:t>
            </a:r>
            <a:r>
              <a:rPr lang="en-US" sz="2800" dirty="0"/>
              <a:t> Protect those fleeing war and persecution while preventing asylum system abuse.</a:t>
            </a:r>
          </a:p>
          <a:p>
            <a:r>
              <a:rPr lang="en-US" sz="2800" b="1" dirty="0"/>
              <a:t>Objective 3:</a:t>
            </a:r>
            <a:r>
              <a:rPr lang="en-US" sz="2800" dirty="0"/>
              <a:t> Attract talent to boost EU economic competitiveness.</a:t>
            </a:r>
          </a:p>
          <a:p>
            <a:pPr marL="0" indent="0" algn="just">
              <a:buNone/>
            </a:pPr>
            <a:endParaRPr lang="en-US" sz="2600" dirty="0" smtClean="0"/>
          </a:p>
        </p:txBody>
      </p:sp>
    </p:spTree>
    <p:extLst>
      <p:ext uri="{BB962C8B-B14F-4D97-AF65-F5344CB8AC3E}">
        <p14:creationId xmlns:p14="http://schemas.microsoft.com/office/powerpoint/2010/main" val="3968592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895927" y="382385"/>
            <a:ext cx="10889673" cy="1354051"/>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b="1" dirty="0"/>
              <a:t>The Road Ahead: Challenges and Opportunities</a:t>
            </a:r>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048477" y="2008910"/>
            <a:ext cx="10460031" cy="4849090"/>
          </a:xfrm>
        </p:spPr>
        <p:txBody>
          <a:bodyPr>
            <a:normAutofit fontScale="55000" lnSpcReduction="20000"/>
          </a:bodyPr>
          <a:lstStyle/>
          <a:p>
            <a:pPr marL="0" indent="0">
              <a:buNone/>
            </a:pPr>
            <a:r>
              <a:rPr lang="en-US" sz="4000" b="1" dirty="0"/>
              <a:t>Balancing security with humanitarian values </a:t>
            </a:r>
            <a:r>
              <a:rPr lang="en-US" sz="4000" dirty="0"/>
              <a:t>remains one of the central challenges of European migration policy, requiring the EU to protect its external borders while upholding its commitments to human rights and international protection.</a:t>
            </a:r>
          </a:p>
          <a:p>
            <a:pPr marL="0" indent="0">
              <a:buNone/>
            </a:pPr>
            <a:r>
              <a:rPr lang="en-US" sz="4000" b="1" dirty="0"/>
              <a:t>Ensuring effective solidarity </a:t>
            </a:r>
            <a:r>
              <a:rPr lang="en-US" sz="4000" dirty="0"/>
              <a:t>among member states is equally crucial, as uneven responsibility-sharing has historically created tensions within the Union. </a:t>
            </a:r>
            <a:r>
              <a:rPr lang="en-US" sz="4000" dirty="0" smtClean="0"/>
              <a:t> A </a:t>
            </a:r>
            <a:r>
              <a:rPr lang="en-US" sz="4000" dirty="0"/>
              <a:t>more cohesive system depends on mutual trust, cooperation, and fair distribution of obligations.</a:t>
            </a:r>
          </a:p>
          <a:p>
            <a:pPr marL="0" indent="0">
              <a:buNone/>
            </a:pPr>
            <a:r>
              <a:rPr lang="en-US" sz="4000" dirty="0"/>
              <a:t>At the same time, </a:t>
            </a:r>
            <a:r>
              <a:rPr lang="en-US" sz="4000" b="1" dirty="0"/>
              <a:t>EU policies must continuously adapt </a:t>
            </a:r>
            <a:r>
              <a:rPr lang="en-US" sz="4000" dirty="0"/>
              <a:t>to evolving global migration patterns and shifting geopolitical contexts, including conflicts, climate change, and economic disparities that influence migration flows.</a:t>
            </a:r>
          </a:p>
          <a:p>
            <a:pPr marL="0" indent="0">
              <a:buNone/>
            </a:pPr>
            <a:r>
              <a:rPr lang="en-US" sz="4000" dirty="0"/>
              <a:t>Ultimately, the future of migration management in a dynamic Europe will depend on the EU’s ability to remain </a:t>
            </a:r>
            <a:r>
              <a:rPr lang="en-US" sz="4000" b="1" dirty="0"/>
              <a:t>flexible, resilient, and united </a:t>
            </a:r>
            <a:r>
              <a:rPr lang="en-US" sz="4000" dirty="0"/>
              <a:t>in addressing both immediate pressures and long-term structural challenges.</a:t>
            </a:r>
          </a:p>
          <a:p>
            <a:pPr marL="0" indent="0" algn="just">
              <a:buNone/>
            </a:pPr>
            <a:endParaRPr lang="en-US" sz="2600" dirty="0" smtClean="0"/>
          </a:p>
        </p:txBody>
      </p:sp>
    </p:spTree>
    <p:extLst>
      <p:ext uri="{BB962C8B-B14F-4D97-AF65-F5344CB8AC3E}">
        <p14:creationId xmlns:p14="http://schemas.microsoft.com/office/powerpoint/2010/main" val="5316257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81C003-8725-430C-8844-39C0D3CEB83C}"/>
              </a:ext>
            </a:extLst>
          </p:cNvPr>
          <p:cNvSpPr>
            <a:spLocks noGrp="1"/>
          </p:cNvSpPr>
          <p:nvPr>
            <p:ph type="title"/>
          </p:nvPr>
        </p:nvSpPr>
        <p:spPr>
          <a:xfrm>
            <a:off x="895927" y="382385"/>
            <a:ext cx="10889673" cy="1354051"/>
          </a:xfrm>
        </p:spPr>
        <p:style>
          <a:lnRef idx="2">
            <a:schemeClr val="accent2">
              <a:shade val="50000"/>
            </a:schemeClr>
          </a:lnRef>
          <a:fillRef idx="1">
            <a:schemeClr val="accent2"/>
          </a:fillRef>
          <a:effectRef idx="0">
            <a:schemeClr val="accent2"/>
          </a:effectRef>
          <a:fontRef idx="minor">
            <a:schemeClr val="lt1"/>
          </a:fontRef>
        </p:style>
        <p:txBody>
          <a:bodyPr>
            <a:normAutofit fontScale="90000"/>
          </a:bodyPr>
          <a:lstStyle/>
          <a:p>
            <a:r>
              <a:rPr lang="en-US" dirty="0"/>
              <a:t>Criticisms of the EU 2026 Migration Strategy</a:t>
            </a:r>
            <a:endParaRPr lang="en-US" b="1" dirty="0"/>
          </a:p>
        </p:txBody>
      </p:sp>
      <p:sp>
        <p:nvSpPr>
          <p:cNvPr id="3" name="Content Placeholder 2">
            <a:extLst>
              <a:ext uri="{FF2B5EF4-FFF2-40B4-BE49-F238E27FC236}">
                <a16:creationId xmlns="" xmlns:a16="http://schemas.microsoft.com/office/drawing/2014/main" id="{D83275B6-E7A1-4E1F-927F-F7EC35B3968B}"/>
              </a:ext>
            </a:extLst>
          </p:cNvPr>
          <p:cNvSpPr>
            <a:spLocks noGrp="1"/>
          </p:cNvSpPr>
          <p:nvPr>
            <p:ph idx="1"/>
          </p:nvPr>
        </p:nvSpPr>
        <p:spPr>
          <a:xfrm>
            <a:off x="1030005" y="1898074"/>
            <a:ext cx="10460031" cy="4849090"/>
          </a:xfrm>
        </p:spPr>
        <p:txBody>
          <a:bodyPr>
            <a:normAutofit fontScale="85000" lnSpcReduction="20000"/>
          </a:bodyPr>
          <a:lstStyle/>
          <a:p>
            <a:pPr marL="0" lvl="0" indent="0" eaLnBrk="0" fontAlgn="base" hangingPunct="0">
              <a:lnSpc>
                <a:spcPct val="100000"/>
              </a:lnSpc>
              <a:spcBef>
                <a:spcPct val="0"/>
              </a:spcBef>
              <a:spcAft>
                <a:spcPct val="0"/>
              </a:spcAft>
              <a:buClrTx/>
              <a:buNone/>
            </a:pPr>
            <a:r>
              <a:rPr lang="es-ES" altLang="es-ES" sz="2800" b="1" dirty="0">
                <a:solidFill>
                  <a:schemeClr val="tx1"/>
                </a:solidFill>
                <a:latin typeface="Arial" panose="020B0604020202020204" pitchFamily="34" charset="0"/>
              </a:rPr>
              <a:t>Security-</a:t>
            </a:r>
            <a:r>
              <a:rPr lang="es-ES" altLang="es-ES" sz="2800" b="1" dirty="0" err="1">
                <a:solidFill>
                  <a:schemeClr val="tx1"/>
                </a:solidFill>
                <a:latin typeface="Arial" panose="020B0604020202020204" pitchFamily="34" charset="0"/>
              </a:rPr>
              <a:t>focused</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approach</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Prioritises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border</a:t>
            </a:r>
            <a:r>
              <a:rPr lang="es-ES" altLang="es-ES" sz="2800" dirty="0">
                <a:solidFill>
                  <a:schemeClr val="tx1"/>
                </a:solidFill>
                <a:latin typeface="Arial" panose="020B0604020202020204" pitchFamily="34" charset="0"/>
              </a:rPr>
              <a:t> control and </a:t>
            </a:r>
            <a:r>
              <a:rPr lang="es-ES" altLang="es-ES" sz="2800" dirty="0" err="1">
                <a:solidFill>
                  <a:schemeClr val="tx1"/>
                </a:solidFill>
                <a:latin typeface="Arial" panose="020B0604020202020204" pitchFamily="34" charset="0"/>
              </a:rPr>
              <a:t>returns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over</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humanitarian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protection</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err="1">
                <a:solidFill>
                  <a:schemeClr val="tx1"/>
                </a:solidFill>
                <a:latin typeface="Arial" panose="020B0604020202020204" pitchFamily="34" charset="0"/>
              </a:rPr>
              <a:t>Weakened</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asylum</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safeguards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Faster</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procedures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may</a:t>
            </a:r>
            <a:r>
              <a:rPr lang="es-ES" altLang="es-ES" sz="2800" dirty="0">
                <a:solidFill>
                  <a:schemeClr val="tx1"/>
                </a:solidFill>
                <a:latin typeface="Arial" panose="020B0604020202020204" pitchFamily="34" charset="0"/>
              </a:rPr>
              <a:t> reduce full individual </a:t>
            </a:r>
            <a:r>
              <a:rPr lang="es-ES" altLang="es-ES" sz="2800" dirty="0" err="1">
                <a:solidFill>
                  <a:schemeClr val="tx1"/>
                </a:solidFill>
                <a:latin typeface="Arial" panose="020B0604020202020204" pitchFamily="34" charset="0"/>
              </a:rPr>
              <a:t>assessment</a:t>
            </a:r>
            <a:r>
              <a:rPr lang="es-ES" altLang="es-ES" sz="2800" dirty="0">
                <a:solidFill>
                  <a:schemeClr val="tx1"/>
                </a:solidFill>
                <a:latin typeface="Arial" panose="020B0604020202020204" pitchFamily="34" charset="0"/>
              </a:rPr>
              <a:t> of </a:t>
            </a:r>
            <a:r>
              <a:rPr lang="es-ES" altLang="es-ES" sz="2800" dirty="0" err="1">
                <a:solidFill>
                  <a:schemeClr val="tx1"/>
                </a:solidFill>
                <a:latin typeface="Arial" panose="020B0604020202020204" pitchFamily="34" charset="0"/>
              </a:rPr>
              <a:t>claims</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err="1">
                <a:solidFill>
                  <a:schemeClr val="tx1"/>
                </a:solidFill>
                <a:latin typeface="Arial" panose="020B0604020202020204" pitchFamily="34" charset="0"/>
              </a:rPr>
              <a:t>Externalisation</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concerns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Cooperation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with</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third</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countries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raises</a:t>
            </a:r>
            <a:r>
              <a:rPr lang="es-ES" altLang="es-ES" sz="2800" dirty="0">
                <a:solidFill>
                  <a:schemeClr val="tx1"/>
                </a:solidFill>
                <a:latin typeface="Arial" panose="020B0604020202020204" pitchFamily="34" charset="0"/>
              </a:rPr>
              <a:t> human </a:t>
            </a:r>
            <a:r>
              <a:rPr lang="es-ES" altLang="es-ES" sz="2800" dirty="0" err="1">
                <a:solidFill>
                  <a:schemeClr val="tx1"/>
                </a:solidFill>
                <a:latin typeface="Arial" panose="020B0604020202020204" pitchFamily="34" charset="0"/>
              </a:rPr>
              <a:t>rights</a:t>
            </a:r>
            <a:r>
              <a:rPr lang="es-ES" altLang="es-ES" sz="2800" dirty="0">
                <a:solidFill>
                  <a:schemeClr val="tx1"/>
                </a:solidFill>
                <a:latin typeface="Arial" panose="020B0604020202020204" pitchFamily="34" charset="0"/>
              </a:rPr>
              <a:t> and legal </a:t>
            </a:r>
            <a:r>
              <a:rPr lang="es-ES" altLang="es-ES" sz="2800" dirty="0" err="1">
                <a:solidFill>
                  <a:schemeClr val="tx1"/>
                </a:solidFill>
                <a:latin typeface="Arial" panose="020B0604020202020204" pitchFamily="34" charset="0"/>
              </a:rPr>
              <a:t>risks</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a:solidFill>
                  <a:schemeClr val="tx1"/>
                </a:solidFill>
                <a:latin typeface="Arial" panose="020B0604020202020204" pitchFamily="34" charset="0"/>
              </a:rPr>
              <a:t>Human </a:t>
            </a:r>
            <a:r>
              <a:rPr lang="es-ES" altLang="es-ES" sz="2800" b="1" dirty="0" err="1">
                <a:solidFill>
                  <a:schemeClr val="tx1"/>
                </a:solidFill>
                <a:latin typeface="Arial" panose="020B0604020202020204" pitchFamily="34" charset="0"/>
              </a:rPr>
              <a:t>rights</a:t>
            </a:r>
            <a:r>
              <a:rPr lang="es-ES" altLang="es-ES" sz="2800" b="1" dirty="0">
                <a:solidFill>
                  <a:schemeClr val="tx1"/>
                </a:solidFill>
                <a:latin typeface="Arial" panose="020B0604020202020204" pitchFamily="34" charset="0"/>
              </a:rPr>
              <a:t> at </a:t>
            </a:r>
            <a:r>
              <a:rPr lang="es-ES" altLang="es-ES" sz="2800" b="1" dirty="0" err="1">
                <a:solidFill>
                  <a:schemeClr val="tx1"/>
                </a:solidFill>
                <a:latin typeface="Arial" panose="020B0604020202020204" pitchFamily="34" charset="0"/>
              </a:rPr>
              <a:t>risk</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Concerns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about</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detention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pushbacks</a:t>
            </a:r>
            <a:r>
              <a:rPr lang="es-ES" altLang="es-ES" sz="2800" dirty="0">
                <a:solidFill>
                  <a:schemeClr val="tx1"/>
                </a:solidFill>
                <a:latin typeface="Arial" panose="020B0604020202020204" pitchFamily="34" charset="0"/>
              </a:rPr>
              <a:t>, and </a:t>
            </a:r>
            <a:r>
              <a:rPr lang="es-ES" altLang="es-ES" sz="2800" dirty="0" err="1">
                <a:solidFill>
                  <a:schemeClr val="tx1"/>
                </a:solidFill>
                <a:latin typeface="Arial" panose="020B0604020202020204" pitchFamily="34" charset="0"/>
              </a:rPr>
              <a:t>limited</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access</a:t>
            </a:r>
            <a:r>
              <a:rPr lang="es-ES" altLang="es-ES" sz="2800" dirty="0">
                <a:solidFill>
                  <a:schemeClr val="tx1"/>
                </a:solidFill>
                <a:latin typeface="Arial" panose="020B0604020202020204" pitchFamily="34" charset="0"/>
              </a:rPr>
              <a:t> to </a:t>
            </a:r>
            <a:r>
              <a:rPr lang="es-ES" altLang="es-ES" sz="2800" dirty="0" err="1">
                <a:solidFill>
                  <a:schemeClr val="tx1"/>
                </a:solidFill>
                <a:latin typeface="Arial" panose="020B0604020202020204" pitchFamily="34" charset="0"/>
              </a:rPr>
              <a:t>asylum</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procedures</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err="1">
                <a:solidFill>
                  <a:schemeClr val="tx1"/>
                </a:solidFill>
                <a:latin typeface="Arial" panose="020B0604020202020204" pitchFamily="34" charset="0"/>
              </a:rPr>
              <a:t>Contested</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solidarity</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system</a:t>
            </a:r>
            <a:r>
              <a:rPr lang="es-ES" altLang="es-ES" sz="2800" dirty="0">
                <a:solidFill>
                  <a:schemeClr val="tx1"/>
                </a:solidFill>
                <a:latin typeface="Arial" panose="020B0604020202020204" pitchFamily="34" charset="0"/>
              </a:rPr>
              <a:t>: Debate </a:t>
            </a:r>
            <a:r>
              <a:rPr lang="es-ES" altLang="es-ES" sz="2800" dirty="0" err="1">
                <a:solidFill>
                  <a:schemeClr val="tx1"/>
                </a:solidFill>
                <a:latin typeface="Arial" panose="020B0604020202020204" pitchFamily="34" charset="0"/>
              </a:rPr>
              <a:t>over</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fairness</a:t>
            </a:r>
            <a:r>
              <a:rPr lang="es-ES" altLang="es-ES" sz="2800" dirty="0">
                <a:solidFill>
                  <a:schemeClr val="tx1"/>
                </a:solidFill>
                <a:latin typeface="Arial" panose="020B0604020202020204" pitchFamily="34" charset="0"/>
              </a:rPr>
              <a:t> of </a:t>
            </a:r>
            <a:r>
              <a:rPr lang="es-ES" altLang="es-ES" sz="2800" dirty="0" err="1">
                <a:solidFill>
                  <a:schemeClr val="tx1"/>
                </a:solidFill>
                <a:latin typeface="Arial" panose="020B0604020202020204" pitchFamily="34" charset="0"/>
              </a:rPr>
              <a:t>mandatory</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contributions</a:t>
            </a:r>
            <a:r>
              <a:rPr lang="es-ES" altLang="es-ES" sz="2800" dirty="0">
                <a:solidFill>
                  <a:schemeClr val="tx1"/>
                </a:solidFill>
                <a:latin typeface="Arial" panose="020B0604020202020204" pitchFamily="34" charset="0"/>
              </a:rPr>
              <a:t> vs. </a:t>
            </a:r>
            <a:r>
              <a:rPr lang="es-ES" altLang="es-ES" sz="2800" dirty="0" err="1">
                <a:solidFill>
                  <a:schemeClr val="tx1"/>
                </a:solidFill>
                <a:latin typeface="Arial" panose="020B0604020202020204" pitchFamily="34" charset="0"/>
              </a:rPr>
              <a:t>national</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sovereignty</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err="1">
                <a:solidFill>
                  <a:schemeClr val="tx1"/>
                </a:solidFill>
                <a:latin typeface="Arial" panose="020B0604020202020204" pitchFamily="34" charset="0"/>
              </a:rPr>
              <a:t>Uneven</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burden-sharing</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Frontline</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states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remain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under</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disproportionate</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pressure</a:t>
            </a:r>
            <a:r>
              <a:rPr lang="es-ES" altLang="es-ES" sz="2800" dirty="0">
                <a:solidFill>
                  <a:schemeClr val="tx1"/>
                </a:solidFill>
                <a:latin typeface="Arial" panose="020B0604020202020204" pitchFamily="34" charset="0"/>
              </a:rPr>
              <a:t> </a:t>
            </a:r>
          </a:p>
          <a:p>
            <a:pPr marL="0" lvl="0" indent="0" eaLnBrk="0" fontAlgn="base" hangingPunct="0">
              <a:lnSpc>
                <a:spcPct val="100000"/>
              </a:lnSpc>
              <a:spcBef>
                <a:spcPct val="0"/>
              </a:spcBef>
              <a:spcAft>
                <a:spcPct val="0"/>
              </a:spcAft>
              <a:buClrTx/>
              <a:buNone/>
            </a:pPr>
            <a:r>
              <a:rPr lang="es-ES" altLang="es-ES" sz="2800" b="1" dirty="0" err="1">
                <a:solidFill>
                  <a:schemeClr val="tx1"/>
                </a:solidFill>
                <a:latin typeface="Arial" panose="020B0604020202020204" pitchFamily="34" charset="0"/>
              </a:rPr>
              <a:t>Limited</a:t>
            </a:r>
            <a:r>
              <a:rPr lang="es-ES" altLang="es-ES" sz="2800" b="1" dirty="0">
                <a:solidFill>
                  <a:schemeClr val="tx1"/>
                </a:solidFill>
                <a:latin typeface="Arial" panose="020B0604020202020204" pitchFamily="34" charset="0"/>
              </a:rPr>
              <a:t> </a:t>
            </a:r>
            <a:r>
              <a:rPr lang="es-ES" altLang="es-ES" sz="2800" b="1" dirty="0" err="1">
                <a:solidFill>
                  <a:schemeClr val="tx1"/>
                </a:solidFill>
                <a:latin typeface="Arial" panose="020B0604020202020204" pitchFamily="34" charset="0"/>
              </a:rPr>
              <a:t>effectiveness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Risk</a:t>
            </a:r>
            <a:r>
              <a:rPr lang="es-ES" altLang="es-ES" sz="2800" dirty="0">
                <a:solidFill>
                  <a:schemeClr val="tx1"/>
                </a:solidFill>
                <a:latin typeface="Arial" panose="020B0604020202020204" pitchFamily="34" charset="0"/>
              </a:rPr>
              <a:t> of </a:t>
            </a:r>
            <a:r>
              <a:rPr lang="es-ES" altLang="es-ES" sz="2800" dirty="0" err="1">
                <a:solidFill>
                  <a:schemeClr val="tx1"/>
                </a:solidFill>
                <a:latin typeface="Arial" panose="020B0604020202020204" pitchFamily="34" charset="0"/>
              </a:rPr>
              <a:t>shifting</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migration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routes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rather</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than</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reducing</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flows</a:t>
            </a:r>
            <a:r>
              <a:rPr lang="es-ES" altLang="es-ES" sz="2800" dirty="0">
                <a:solidFill>
                  <a:schemeClr val="tx1"/>
                </a:solidFill>
                <a:latin typeface="Arial" panose="020B0604020202020204" pitchFamily="34" charset="0"/>
              </a:rPr>
              <a:t> </a:t>
            </a:r>
            <a:r>
              <a:rPr lang="es-ES" altLang="es-ES" sz="2800" dirty="0" err="1">
                <a:solidFill>
                  <a:schemeClr val="tx1"/>
                </a:solidFill>
                <a:latin typeface="Arial" panose="020B0604020202020204" pitchFamily="34" charset="0"/>
              </a:rPr>
              <a:t>overall</a:t>
            </a:r>
            <a:r>
              <a:rPr lang="es-ES" altLang="es-ES" sz="2800" dirty="0">
                <a:solidFill>
                  <a:schemeClr val="tx1"/>
                </a:solidFill>
                <a:latin typeface="Arial" panose="020B0604020202020204" pitchFamily="34" charset="0"/>
              </a:rPr>
              <a:t> </a:t>
            </a:r>
          </a:p>
          <a:p>
            <a:pPr marL="0" indent="0" algn="just">
              <a:buNone/>
            </a:pPr>
            <a:r>
              <a:rPr lang="en-US" sz="2600" dirty="0" smtClean="0"/>
              <a:t> </a:t>
            </a:r>
            <a:endParaRPr lang="en-US" sz="2600" dirty="0" smtClean="0"/>
          </a:p>
        </p:txBody>
      </p:sp>
    </p:spTree>
    <p:extLst>
      <p:ext uri="{BB962C8B-B14F-4D97-AF65-F5344CB8AC3E}">
        <p14:creationId xmlns:p14="http://schemas.microsoft.com/office/powerpoint/2010/main" val="2640533726"/>
      </p:ext>
    </p:extLst>
  </p:cSld>
  <p:clrMapOvr>
    <a:masterClrMapping/>
  </p:clrMapOvr>
  <p:timing>
    <p:tnLst>
      <p:par>
        <p:cTn id="1" dur="indefinite" restart="never" nodeType="tmRoot"/>
      </p:par>
    </p:tn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fea1787-2ef9-4f1d-aacd-0861f6e873fa">
      <Terms xmlns="http://schemas.microsoft.com/office/infopath/2007/PartnerControls"/>
    </lcf76f155ced4ddcb4097134ff3c332f>
    <TaxCatchAll xmlns="0c0b9f58-b642-446f-914d-3f292fb8390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C1C266872DD8C4699140ABCF4701477" ma:contentTypeVersion="12" ma:contentTypeDescription="Create a new document." ma:contentTypeScope="" ma:versionID="8712a6bca791adb5cda0bf6241e143c6">
  <xsd:schema xmlns:xsd="http://www.w3.org/2001/XMLSchema" xmlns:xs="http://www.w3.org/2001/XMLSchema" xmlns:p="http://schemas.microsoft.com/office/2006/metadata/properties" xmlns:ns2="8fea1787-2ef9-4f1d-aacd-0861f6e873fa" xmlns:ns3="0c0b9f58-b642-446f-914d-3f292fb83902" targetNamespace="http://schemas.microsoft.com/office/2006/metadata/properties" ma:root="true" ma:fieldsID="cbf496898916a0ccd3f2cb11a3c66241" ns2:_="" ns3:_="">
    <xsd:import namespace="8fea1787-2ef9-4f1d-aacd-0861f6e873fa"/>
    <xsd:import namespace="0c0b9f58-b642-446f-914d-3f292fb8390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ea1787-2ef9-4f1d-aacd-0861f6e873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b630b34-ef66-4a23-b54c-047f976c1c4e"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c0b9f58-b642-446f-914d-3f292fb8390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9920f2c-1fdf-4626-9c5d-e072731e0ce9}" ma:internalName="TaxCatchAll" ma:showField="CatchAllData" ma:web="0c0b9f58-b642-446f-914d-3f292fb839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786C66F-D3C1-4627-8781-BE29A15785A4}">
  <ds:schemaRefs>
    <ds:schemaRef ds:uri="http://schemas.microsoft.com/office/2006/metadata/properties"/>
    <ds:schemaRef ds:uri="http://schemas.microsoft.com/office/2006/documentManagement/types"/>
    <ds:schemaRef ds:uri="http://purl.org/dc/elements/1.1/"/>
    <ds:schemaRef ds:uri="http://schemas.openxmlformats.org/package/2006/metadata/core-properties"/>
    <ds:schemaRef ds:uri="8fea1787-2ef9-4f1d-aacd-0861f6e873fa"/>
    <ds:schemaRef ds:uri="http://purl.org/dc/dcmitype/"/>
    <ds:schemaRef ds:uri="http://schemas.microsoft.com/office/infopath/2007/PartnerControls"/>
    <ds:schemaRef ds:uri="http://purl.org/dc/terms/"/>
    <ds:schemaRef ds:uri="0c0b9f58-b642-446f-914d-3f292fb83902"/>
    <ds:schemaRef ds:uri="http://www.w3.org/XML/1998/namespace"/>
  </ds:schemaRefs>
</ds:datastoreItem>
</file>

<file path=customXml/itemProps2.xml><?xml version="1.0" encoding="utf-8"?>
<ds:datastoreItem xmlns:ds="http://schemas.openxmlformats.org/officeDocument/2006/customXml" ds:itemID="{02B989AC-0703-4F4B-9C7B-7B0698242D5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ea1787-2ef9-4f1d-aacd-0861f6e873fa"/>
    <ds:schemaRef ds:uri="0c0b9f58-b642-446f-914d-3f292fb839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136745C-997C-412D-97A3-9085EFCD18D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75</TotalTime>
  <Words>1055</Words>
  <Application>Microsoft Office PowerPoint</Application>
  <PresentationFormat>Widescreen</PresentationFormat>
  <Paragraphs>52</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Gill Sans MT</vt:lpstr>
      <vt:lpstr>Impact</vt:lpstr>
      <vt:lpstr>Badge</vt:lpstr>
      <vt:lpstr>EuropEAN MIGRATION POLICIES</vt:lpstr>
      <vt:lpstr>The Foundation: Building a Common Asylum System</vt:lpstr>
      <vt:lpstr>Evolution and Reform: From CEAS to the Pact</vt:lpstr>
      <vt:lpstr>The New Era: Pact on Migration and Asylum (2024-26)</vt:lpstr>
      <vt:lpstr>Four Pillars of the New Pact: Securing Borders and Fair Procedures</vt:lpstr>
      <vt:lpstr>Asylum and Migration Management: Responsibility and Solidarity</vt:lpstr>
      <vt:lpstr>Asylum and Migration Management: Responsibility and Solidarity</vt:lpstr>
      <vt:lpstr>IRREGULAR BORDER CROSSINGS</vt:lpstr>
      <vt:lpstr>EUROPE BORDER STRATEGY</vt:lpstr>
      <vt:lpstr>Key Priorities of the 2026 Strategy</vt:lpstr>
      <vt:lpstr>The Five-Year Strategy (2026-2031): A Forward-Looking Approach</vt:lpstr>
      <vt:lpstr>The Road Ahead: Challenges and Opportunities</vt:lpstr>
      <vt:lpstr>Criticisms of the EU 2026 Migration Strategy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Europe 1973 –1992</dc:title>
  <dc:creator>Vassiliki Knitou</dc:creator>
  <cp:lastModifiedBy>Don Patx</cp:lastModifiedBy>
  <cp:revision>25</cp:revision>
  <dcterms:created xsi:type="dcterms:W3CDTF">2021-02-05T09:13:51Z</dcterms:created>
  <dcterms:modified xsi:type="dcterms:W3CDTF">2026-04-27T08:29:01Z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0x0101006C1C266872DD8C4699140ABCF4701477</vt:lpwstr>
  </property>
</Properties>
</file>
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sldIdLst>
    <p:sldId id="256" r:id="rId5"/>
    <p:sldId id="258" r:id="rId6"/>
    <p:sldId id="259" r:id="rId7"/>
    <p:sldId id="260" r:id="rId8"/>
    <p:sldId id="261" r:id="rId9"/>
    <p:sldId id="262" r:id="rId10"/>
    <p:sldId id="263" r:id="rId11"/>
    <p:sldId id="264" r:id="rId12"/>
    <p:sldId id="284" r:id="rId13"/>
    <p:sldId id="265" r:id="rId14"/>
    <p:sldId id="266" r:id="rId15"/>
    <p:sldId id="267" r:id="rId16"/>
    <p:sldId id="268" r:id="rId17"/>
    <p:sldId id="269" r:id="rId18"/>
    <p:sldId id="270" r:id="rId19"/>
    <p:sldId id="272" r:id="rId20"/>
    <p:sldId id="273" r:id="rId21"/>
    <p:sldId id="274" r:id="rId22"/>
    <p:sldId id="275" r:id="rId23"/>
    <p:sldId id="276" r:id="rId24"/>
    <p:sldId id="277" r:id="rId25"/>
    <p:sldId id="278" r:id="rId26"/>
    <p:sldId id="279" r:id="rId27"/>
    <p:sldId id="280" r:id="rId28"/>
    <p:sldId id="281" r:id="rId29"/>
    <p:sldId id="285"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43" d="100"/>
          <a:sy n="43" d="100"/>
        </p:scale>
        <p:origin x="72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C2171EEA-12DD-4C1E-85C2-44E40B2983BB}" type="datetimeFigureOut">
              <a:rPr lang="en-GB" smtClean="0"/>
              <a:t>09/03/2026</a:t>
            </a:fld>
            <a:endParaRPr lang="en-GB"/>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GB"/>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A8B0FE7D-A83A-48B1-9573-0529CB531FF8}" type="slidenum">
              <a:rPr lang="en-GB" smtClean="0"/>
              <a:t>‹#›</a:t>
            </a:fld>
            <a:endParaRPr lang="en-GB"/>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164487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171EEA-12DD-4C1E-85C2-44E40B2983BB}" type="datetimeFigureOut">
              <a:rPr lang="en-GB" smtClean="0"/>
              <a:t>09/03/2026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8B0FE7D-A83A-48B1-9573-0529CB531FF8}" type="slidenum">
              <a:rPr lang="en-GB" smtClean="0"/>
              <a:t>‹#›</a:t>
            </a:fld>
            <a:endParaRPr lang="en-GB"/>
          </a:p>
        </p:txBody>
      </p:sp>
    </p:spTree>
    <p:extLst>
      <p:ext uri="{BB962C8B-B14F-4D97-AF65-F5344CB8AC3E}">
        <p14:creationId xmlns:p14="http://schemas.microsoft.com/office/powerpoint/2010/main" val="20833048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C2171EEA-12DD-4C1E-85C2-44E40B2983BB}" type="datetimeFigureOut">
              <a:rPr lang="en-GB" smtClean="0"/>
              <a:t>09/03/2026</a:t>
            </a:fld>
            <a:endParaRPr lang="en-GB"/>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GB"/>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A8B0FE7D-A83A-48B1-9573-0529CB531FF8}" type="slidenum">
              <a:rPr lang="en-GB" smtClean="0"/>
              <a:t>‹#›</a:t>
            </a:fld>
            <a:endParaRPr lang="en-GB"/>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325710056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2171EEA-12DD-4C1E-85C2-44E40B2983BB}" type="datetimeFigureOut">
              <a:rPr lang="en-GB" smtClean="0"/>
              <a:t>09/03/2026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8B0FE7D-A83A-48B1-9573-0529CB531FF8}" type="slidenum">
              <a:rPr lang="en-GB" smtClean="0"/>
              <a:t>‹#›</a:t>
            </a:fld>
            <a:endParaRPr lang="en-GB"/>
          </a:p>
        </p:txBody>
      </p:sp>
    </p:spTree>
    <p:extLst>
      <p:ext uri="{BB962C8B-B14F-4D97-AF65-F5344CB8AC3E}">
        <p14:creationId xmlns:p14="http://schemas.microsoft.com/office/powerpoint/2010/main" val="4101757146"/>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2171EEA-12DD-4C1E-85C2-44E40B2983BB}" type="datetimeFigureOut">
              <a:rPr lang="en-GB" smtClean="0"/>
              <a:t>09/03/2026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8B0FE7D-A83A-48B1-9573-0529CB531FF8}" type="slidenum">
              <a:rPr lang="en-GB" smtClean="0"/>
              <a:t>‹#›</a:t>
            </a:fld>
            <a:endParaRPr lang="en-GB"/>
          </a:p>
        </p:txBody>
      </p:sp>
    </p:spTree>
    <p:extLst>
      <p:ext uri="{BB962C8B-B14F-4D97-AF65-F5344CB8AC3E}">
        <p14:creationId xmlns:p14="http://schemas.microsoft.com/office/powerpoint/2010/main" val="166892906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2171EEA-12DD-4C1E-85C2-44E40B2983BB}" type="datetimeFigureOut">
              <a:rPr lang="en-GB" smtClean="0"/>
              <a:t>09/03/2026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8B0FE7D-A83A-48B1-9573-0529CB531FF8}" type="slidenum">
              <a:rPr lang="en-GB" smtClean="0"/>
              <a:t>‹#›</a:t>
            </a:fld>
            <a:endParaRPr lang="en-GB"/>
          </a:p>
        </p:txBody>
      </p:sp>
    </p:spTree>
    <p:extLst>
      <p:ext uri="{BB962C8B-B14F-4D97-AF65-F5344CB8AC3E}">
        <p14:creationId xmlns:p14="http://schemas.microsoft.com/office/powerpoint/2010/main" val="703659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171EEA-12DD-4C1E-85C2-44E40B2983BB}" type="datetimeFigureOut">
              <a:rPr lang="en-GB" smtClean="0"/>
              <a:t>09/03/2026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A8B0FE7D-A83A-48B1-9573-0529CB531FF8}" type="slidenum">
              <a:rPr lang="en-GB" smtClean="0"/>
              <a:t>‹#›</a:t>
            </a:fld>
            <a:endParaRPr lang="en-GB"/>
          </a:p>
        </p:txBody>
      </p:sp>
    </p:spTree>
    <p:extLst>
      <p:ext uri="{BB962C8B-B14F-4D97-AF65-F5344CB8AC3E}">
        <p14:creationId xmlns:p14="http://schemas.microsoft.com/office/powerpoint/2010/main" val="9538786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C2171EEA-12DD-4C1E-85C2-44E40B2983BB}" type="datetimeFigureOut">
              <a:rPr lang="en-GB" smtClean="0"/>
              <a:t>09/03/2026</a:t>
            </a:fld>
            <a:endParaRPr lang="en-GB"/>
          </a:p>
        </p:txBody>
      </p:sp>
      <p:sp>
        <p:nvSpPr>
          <p:cNvPr id="6" name="Footer Placeholder 5"/>
          <p:cNvSpPr>
            <a:spLocks noGrp="1"/>
          </p:cNvSpPr>
          <p:nvPr>
            <p:ph type="ftr" sz="quarter" idx="11"/>
          </p:nvPr>
        </p:nvSpPr>
        <p:spPr>
          <a:xfrm>
            <a:off x="2103620" y="6375679"/>
            <a:ext cx="3482179" cy="345796"/>
          </a:xfrm>
        </p:spPr>
        <p:txBody>
          <a:bodyPr/>
          <a:lstStyle/>
          <a:p>
            <a:endParaRPr lang="en-GB"/>
          </a:p>
        </p:txBody>
      </p:sp>
      <p:sp>
        <p:nvSpPr>
          <p:cNvPr id="7" name="Slide Number Placeholder 6"/>
          <p:cNvSpPr>
            <a:spLocks noGrp="1"/>
          </p:cNvSpPr>
          <p:nvPr>
            <p:ph type="sldNum" sz="quarter" idx="12"/>
          </p:nvPr>
        </p:nvSpPr>
        <p:spPr>
          <a:xfrm>
            <a:off x="5691014" y="6375679"/>
            <a:ext cx="1232456" cy="345796"/>
          </a:xfrm>
        </p:spPr>
        <p:txBody>
          <a:bodyPr/>
          <a:lstStyle/>
          <a:p>
            <a:fld id="{A8B0FE7D-A83A-48B1-9573-0529CB531FF8}" type="slidenum">
              <a:rPr lang="en-GB" smtClean="0"/>
              <a:t>‹#›</a:t>
            </a:fld>
            <a:endParaRPr lang="en-GB"/>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447273796"/>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C2171EEA-12DD-4C1E-85C2-44E40B2983BB}" type="datetimeFigureOut">
              <a:rPr lang="en-GB" smtClean="0"/>
              <a:t>09/03/2026</a:t>
            </a:fld>
            <a:endParaRPr lang="en-GB"/>
          </a:p>
        </p:txBody>
      </p:sp>
      <p:sp>
        <p:nvSpPr>
          <p:cNvPr id="6" name="Footer Placeholder 5"/>
          <p:cNvSpPr>
            <a:spLocks noGrp="1"/>
          </p:cNvSpPr>
          <p:nvPr>
            <p:ph type="ftr" sz="quarter" idx="11"/>
          </p:nvPr>
        </p:nvSpPr>
        <p:spPr>
          <a:xfrm>
            <a:off x="2103621" y="6375679"/>
            <a:ext cx="3482178" cy="345796"/>
          </a:xfrm>
        </p:spPr>
        <p:txBody>
          <a:bodyPr/>
          <a:lstStyle/>
          <a:p>
            <a:endParaRPr lang="en-GB"/>
          </a:p>
        </p:txBody>
      </p:sp>
      <p:sp>
        <p:nvSpPr>
          <p:cNvPr id="7" name="Slide Number Placeholder 6"/>
          <p:cNvSpPr>
            <a:spLocks noGrp="1"/>
          </p:cNvSpPr>
          <p:nvPr>
            <p:ph type="sldNum" sz="quarter" idx="12"/>
          </p:nvPr>
        </p:nvSpPr>
        <p:spPr>
          <a:xfrm>
            <a:off x="5687568" y="6375679"/>
            <a:ext cx="1234440" cy="345796"/>
          </a:xfrm>
        </p:spPr>
        <p:txBody>
          <a:bodyPr/>
          <a:lstStyle/>
          <a:p>
            <a:fld id="{A8B0FE7D-A83A-48B1-9573-0529CB531FF8}" type="slidenum">
              <a:rPr lang="en-GB" smtClean="0"/>
              <a:t>‹#›</a:t>
            </a:fld>
            <a:endParaRPr lang="en-GB"/>
          </a:p>
        </p:txBody>
      </p:sp>
    </p:spTree>
    <p:extLst>
      <p:ext uri="{BB962C8B-B14F-4D97-AF65-F5344CB8AC3E}">
        <p14:creationId xmlns:p14="http://schemas.microsoft.com/office/powerpoint/2010/main" val="21366968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171EEA-12DD-4C1E-85C2-44E40B2983BB}" type="datetimeFigureOut">
              <a:rPr lang="en-GB" smtClean="0"/>
              <a:t>09/03/2026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8B0FE7D-A83A-48B1-9573-0529CB531FF8}" type="slidenum">
              <a:rPr lang="en-GB" smtClean="0"/>
              <a:t>‹#›</a:t>
            </a:fld>
            <a:endParaRPr lang="en-GB"/>
          </a:p>
        </p:txBody>
      </p:sp>
    </p:spTree>
    <p:extLst>
      <p:ext uri="{BB962C8B-B14F-4D97-AF65-F5344CB8AC3E}">
        <p14:creationId xmlns:p14="http://schemas.microsoft.com/office/powerpoint/2010/main" val="29881908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171EEA-12DD-4C1E-85C2-44E40B2983BB}" type="datetimeFigureOut">
              <a:rPr lang="en-GB" smtClean="0"/>
              <a:t>09/03/2026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8B0FE7D-A83A-48B1-9573-0529CB531FF8}" type="slidenum">
              <a:rPr lang="en-GB" smtClean="0"/>
              <a:t>‹#›</a:t>
            </a:fld>
            <a:endParaRPr lang="en-GB"/>
          </a:p>
        </p:txBody>
      </p:sp>
    </p:spTree>
    <p:extLst>
      <p:ext uri="{BB962C8B-B14F-4D97-AF65-F5344CB8AC3E}">
        <p14:creationId xmlns:p14="http://schemas.microsoft.com/office/powerpoint/2010/main" val="30787643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C2171EEA-12DD-4C1E-85C2-44E40B2983BB}" type="datetimeFigureOut">
              <a:rPr lang="en-GB" smtClean="0"/>
              <a:t>09/03/2026</a:t>
            </a:fld>
            <a:endParaRPr lang="en-GB"/>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GB"/>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A8B0FE7D-A83A-48B1-9573-0529CB531FF8}" type="slidenum">
              <a:rPr lang="en-GB" smtClean="0"/>
              <a:t>‹#›</a:t>
            </a:fld>
            <a:endParaRPr lang="en-GB"/>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43622049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633148C-BD48-40C0-A531-5EBB94C738A0}"/>
              </a:ext>
            </a:extLst>
          </p:cNvPr>
          <p:cNvSpPr>
            <a:spLocks noGrp="1"/>
          </p:cNvSpPr>
          <p:nvPr>
            <p:ph type="ctrTitle"/>
          </p:nvPr>
        </p:nvSpPr>
        <p:spPr/>
        <p:txBody>
          <a:bodyPr/>
          <a:lstStyle/>
          <a:p>
            <a:r>
              <a:rPr lang="en-GB" dirty="0"/>
              <a:t>Europe 1973 –1992</a:t>
            </a:r>
          </a:p>
        </p:txBody>
      </p:sp>
      <p:sp>
        <p:nvSpPr>
          <p:cNvPr id="3" name="Subtitle 2">
            <a:extLst>
              <a:ext uri="{FF2B5EF4-FFF2-40B4-BE49-F238E27FC236}">
                <a16:creationId xmlns:a16="http://schemas.microsoft.com/office/drawing/2014/main" xmlns="" id="{F71D1030-33A2-4E8E-9091-21D85FBE04C0}"/>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395628814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C85CEB2C-2C8C-4F14-A4C9-A611B4A556C6}"/>
              </a:ext>
            </a:extLst>
          </p:cNvPr>
          <p:cNvPicPr>
            <a:picLocks noChangeAspect="1"/>
          </p:cNvPicPr>
          <p:nvPr/>
        </p:nvPicPr>
        <p:blipFill rotWithShape="1">
          <a:blip r:embed="rId2"/>
          <a:srcRect l="42098" r="13848"/>
          <a:stretch/>
        </p:blipFill>
        <p:spPr>
          <a:xfrm>
            <a:off x="7338646" y="10"/>
            <a:ext cx="4853354" cy="6857990"/>
          </a:xfrm>
          <a:prstGeom prst="rect">
            <a:avLst/>
          </a:prstGeom>
        </p:spPr>
      </p:pic>
      <p:sp>
        <p:nvSpPr>
          <p:cNvPr id="18" name="Freeform 10">
            <a:extLst>
              <a:ext uri="{FF2B5EF4-FFF2-40B4-BE49-F238E27FC236}">
                <a16:creationId xmlns:a16="http://schemas.microsoft.com/office/drawing/2014/main" xmlns="" id="{FF606621-EDD0-4CB0-B5A0-2BD458842F01}"/>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solidFill>
          <a:ln w="0">
            <a:noFill/>
            <a:prstDash val="solid"/>
            <a:round/>
            <a:headEnd/>
            <a:tailEnd/>
          </a:ln>
        </p:spPr>
      </p:sp>
      <p:sp>
        <p:nvSpPr>
          <p:cNvPr id="20" name="Rectangle 19">
            <a:extLst>
              <a:ext uri="{FF2B5EF4-FFF2-40B4-BE49-F238E27FC236}">
                <a16:creationId xmlns:a16="http://schemas.microsoft.com/office/drawing/2014/main" xmlns="" id="{F7E0AF57-42C6-4312-BEDF-A384DC8E42D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Content Placeholder 2">
            <a:extLst>
              <a:ext uri="{FF2B5EF4-FFF2-40B4-BE49-F238E27FC236}">
                <a16:creationId xmlns:a16="http://schemas.microsoft.com/office/drawing/2014/main" xmlns="" id="{809855D5-711C-4CE7-99A1-009409A26F3B}"/>
              </a:ext>
            </a:extLst>
          </p:cNvPr>
          <p:cNvSpPr>
            <a:spLocks noGrp="1"/>
          </p:cNvSpPr>
          <p:nvPr>
            <p:ph idx="1"/>
          </p:nvPr>
        </p:nvSpPr>
        <p:spPr>
          <a:xfrm>
            <a:off x="605517" y="0"/>
            <a:ext cx="6015897" cy="3574473"/>
          </a:xfrm>
        </p:spPr>
        <p:style>
          <a:lnRef idx="1">
            <a:schemeClr val="accent1"/>
          </a:lnRef>
          <a:fillRef idx="2">
            <a:schemeClr val="accent1"/>
          </a:fillRef>
          <a:effectRef idx="1">
            <a:schemeClr val="accent1"/>
          </a:effectRef>
          <a:fontRef idx="minor">
            <a:schemeClr val="dk1"/>
          </a:fontRef>
        </p:style>
        <p:txBody>
          <a:bodyPr>
            <a:normAutofit lnSpcReduction="10000"/>
          </a:bodyPr>
          <a:lstStyle/>
          <a:p>
            <a:pPr algn="just">
              <a:lnSpc>
                <a:spcPct val="100000"/>
              </a:lnSpc>
            </a:pPr>
            <a:endParaRPr lang="en-GB" sz="2400" b="0" i="0" u="none" strike="noStrike" baseline="0" dirty="0">
              <a:latin typeface="Times New Roman" panose="02020603050405020304" pitchFamily="18" charset="0"/>
            </a:endParaRPr>
          </a:p>
          <a:p>
            <a:pPr algn="just">
              <a:lnSpc>
                <a:spcPct val="100000"/>
              </a:lnSpc>
            </a:pPr>
            <a:r>
              <a:rPr lang="en-GB" b="0" i="0" u="none" strike="noStrike" baseline="0" dirty="0">
                <a:latin typeface="Times New Roman" panose="02020603050405020304" pitchFamily="18" charset="0"/>
              </a:rPr>
              <a:t> This period in the history of the European Union, especially under the Commission of </a:t>
            </a:r>
            <a:r>
              <a:rPr lang="en-GB" b="1" i="0" u="none" strike="noStrike" baseline="0" dirty="0">
                <a:latin typeface="Times New Roman" panose="02020603050405020304" pitchFamily="18" charset="0"/>
              </a:rPr>
              <a:t>Jacques </a:t>
            </a:r>
            <a:r>
              <a:rPr lang="en-GB" b="1" i="0" u="none" strike="noStrike" baseline="0" dirty="0" err="1">
                <a:latin typeface="Times New Roman" panose="02020603050405020304" pitchFamily="18" charset="0"/>
              </a:rPr>
              <a:t>Delors</a:t>
            </a:r>
            <a:r>
              <a:rPr lang="en-GB" b="1" i="0" u="none" strike="noStrike" baseline="0" dirty="0">
                <a:latin typeface="Times New Roman" panose="02020603050405020304" pitchFamily="18" charset="0"/>
              </a:rPr>
              <a:t> from 1985</a:t>
            </a:r>
            <a:r>
              <a:rPr lang="en-GB" b="0" i="0" u="none" strike="noStrike" baseline="0" dirty="0">
                <a:latin typeface="Times New Roman" panose="02020603050405020304" pitchFamily="18" charset="0"/>
              </a:rPr>
              <a:t>, is considered to have been one of the most productive. </a:t>
            </a:r>
            <a:r>
              <a:rPr lang="en-GB" b="1" i="0" u="none" strike="noStrike" baseline="0" dirty="0" err="1">
                <a:latin typeface="Times New Roman" panose="02020603050405020304" pitchFamily="18" charset="0"/>
              </a:rPr>
              <a:t>Delors</a:t>
            </a:r>
            <a:r>
              <a:rPr lang="en-GB" b="1" i="0" u="none" strike="noStrike" baseline="0" dirty="0">
                <a:latin typeface="Times New Roman" panose="02020603050405020304" pitchFamily="18" charset="0"/>
              </a:rPr>
              <a:t> presided over the accession of Spain and Portugal, the fall of Communism with the reunification of Germany in 1990, the adoption of the European flag, Single European Act 1986, Erasmus 1987, Schengen Agreement 1990, Maastricht Treaty 1992, the beginnings of EMU and the completion of the single market. </a:t>
            </a:r>
            <a:endParaRPr lang="en-GB" b="1" dirty="0"/>
          </a:p>
        </p:txBody>
      </p:sp>
      <p:sp>
        <p:nvSpPr>
          <p:cNvPr id="2" name="ZoneTexte 1"/>
          <p:cNvSpPr txBox="1"/>
          <p:nvPr/>
        </p:nvSpPr>
        <p:spPr>
          <a:xfrm>
            <a:off x="619625" y="3724102"/>
            <a:ext cx="6001789" cy="1754326"/>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GB" dirty="0" err="1" smtClean="0"/>
              <a:t>Paquet</a:t>
            </a:r>
            <a:r>
              <a:rPr lang="en-GB" dirty="0" smtClean="0"/>
              <a:t> </a:t>
            </a:r>
            <a:r>
              <a:rPr lang="en-GB" dirty="0" err="1" smtClean="0"/>
              <a:t>Delors</a:t>
            </a:r>
            <a:endParaRPr lang="en-GB" dirty="0" smtClean="0"/>
          </a:p>
          <a:p>
            <a:pPr algn="just"/>
            <a:r>
              <a:rPr lang="en-GB" dirty="0" smtClean="0"/>
              <a:t>Reforms to the budgetary system of the EEC. </a:t>
            </a:r>
            <a:r>
              <a:rPr lang="en-GB" dirty="0" err="1" smtClean="0"/>
              <a:t>Delors</a:t>
            </a:r>
            <a:r>
              <a:rPr lang="en-GB" dirty="0" smtClean="0"/>
              <a:t> proposed changes to the budgetary process and to fund distribution. Establishes: the European Bank for Reconstruction and the Committee of the Regions. The system benefits poorer member states.</a:t>
            </a:r>
            <a:endParaRPr lang="fr-LU" dirty="0"/>
          </a:p>
        </p:txBody>
      </p:sp>
    </p:spTree>
    <p:extLst>
      <p:ext uri="{BB962C8B-B14F-4D97-AF65-F5344CB8AC3E}">
        <p14:creationId xmlns:p14="http://schemas.microsoft.com/office/powerpoint/2010/main" val="218670792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688E9F3-1AF7-46A4-8D57-651D7D443944}"/>
              </a:ext>
            </a:extLst>
          </p:cNvPr>
          <p:cNvSpPr>
            <a:spLocks noGrp="1"/>
          </p:cNvSpPr>
          <p:nvPr>
            <p:ph type="title"/>
          </p:nvPr>
        </p:nvSpPr>
        <p:spPr>
          <a:xfrm>
            <a:off x="1251679" y="645107"/>
            <a:ext cx="3384329" cy="1640894"/>
          </a:xfrm>
        </p:spPr>
        <p:txBody>
          <a:bodyPr anchor="t">
            <a:normAutofit/>
          </a:bodyPr>
          <a:lstStyle/>
          <a:p>
            <a:r>
              <a:rPr lang="en-GB" sz="3700"/>
              <a:t>The extent of enlargement since 1973</a:t>
            </a:r>
          </a:p>
        </p:txBody>
      </p:sp>
      <p:sp>
        <p:nvSpPr>
          <p:cNvPr id="3" name="Content Placeholder 2">
            <a:extLst>
              <a:ext uri="{FF2B5EF4-FFF2-40B4-BE49-F238E27FC236}">
                <a16:creationId xmlns:a16="http://schemas.microsoft.com/office/drawing/2014/main" xmlns="" id="{0363F2E7-7468-44B3-809B-078D601C954D}"/>
              </a:ext>
            </a:extLst>
          </p:cNvPr>
          <p:cNvSpPr>
            <a:spLocks noGrp="1"/>
          </p:cNvSpPr>
          <p:nvPr>
            <p:ph idx="1"/>
          </p:nvPr>
        </p:nvSpPr>
        <p:spPr>
          <a:xfrm>
            <a:off x="1251679" y="2286001"/>
            <a:ext cx="3384330" cy="3940844"/>
          </a:xfrm>
        </p:spPr>
        <p:txBody>
          <a:bodyPr>
            <a:normAutofit/>
          </a:bodyPr>
          <a:lstStyle/>
          <a:p>
            <a:pPr>
              <a:lnSpc>
                <a:spcPct val="100000"/>
              </a:lnSpc>
            </a:pPr>
            <a:endParaRPr lang="en-GB" sz="1700" b="0" i="0" u="none" strike="noStrike" baseline="0" dirty="0">
              <a:latin typeface="Times New Roman" panose="02020603050405020304" pitchFamily="18" charset="0"/>
            </a:endParaRPr>
          </a:p>
          <a:p>
            <a:pPr>
              <a:lnSpc>
                <a:spcPct val="100000"/>
              </a:lnSpc>
            </a:pPr>
            <a:r>
              <a:rPr lang="en-GB" sz="1700" b="0" i="0" u="none" strike="noStrike" baseline="0" dirty="0">
                <a:latin typeface="Times New Roman" panose="02020603050405020304" pitchFamily="18" charset="0"/>
              </a:rPr>
              <a:t> Seven processes of enlargement: </a:t>
            </a:r>
            <a:r>
              <a:rPr lang="en-GB" sz="1700" b="1" i="0" u="none" strike="noStrike" baseline="0" dirty="0">
                <a:latin typeface="Times New Roman" panose="02020603050405020304" pitchFamily="18" charset="0"/>
              </a:rPr>
              <a:t>1973</a:t>
            </a:r>
            <a:r>
              <a:rPr lang="en-GB" sz="1700" b="0" i="0" u="none" strike="noStrike" baseline="0" dirty="0">
                <a:latin typeface="Times New Roman" panose="02020603050405020304" pitchFamily="18" charset="0"/>
              </a:rPr>
              <a:t>: United Kingdom, Ireland and Denmark. </a:t>
            </a:r>
            <a:r>
              <a:rPr lang="en-GB" sz="1700" b="1" i="0" u="none" strike="noStrike" baseline="0" dirty="0">
                <a:latin typeface="Times New Roman" panose="02020603050405020304" pitchFamily="18" charset="0"/>
              </a:rPr>
              <a:t>1981</a:t>
            </a:r>
            <a:r>
              <a:rPr lang="en-GB" sz="1700" b="0" i="0" u="none" strike="noStrike" baseline="0" dirty="0">
                <a:latin typeface="Times New Roman" panose="02020603050405020304" pitchFamily="18" charset="0"/>
              </a:rPr>
              <a:t>: Greece. </a:t>
            </a:r>
            <a:r>
              <a:rPr lang="en-GB" sz="1700" b="1" i="0" u="none" strike="noStrike" baseline="0" dirty="0">
                <a:latin typeface="Times New Roman" panose="02020603050405020304" pitchFamily="18" charset="0"/>
              </a:rPr>
              <a:t>1986</a:t>
            </a:r>
            <a:r>
              <a:rPr lang="en-GB" sz="1700" b="0" i="0" u="none" strike="noStrike" baseline="0" dirty="0">
                <a:latin typeface="Times New Roman" panose="02020603050405020304" pitchFamily="18" charset="0"/>
              </a:rPr>
              <a:t>: Spain and Portugal. </a:t>
            </a:r>
            <a:r>
              <a:rPr lang="en-GB" sz="1700" b="1" i="0" u="none" strike="noStrike" baseline="0" dirty="0">
                <a:latin typeface="Times New Roman" panose="02020603050405020304" pitchFamily="18" charset="0"/>
              </a:rPr>
              <a:t>1995</a:t>
            </a:r>
            <a:r>
              <a:rPr lang="en-GB" sz="1700" b="0" i="0" u="none" strike="noStrike" baseline="0" dirty="0">
                <a:latin typeface="Times New Roman" panose="02020603050405020304" pitchFamily="18" charset="0"/>
              </a:rPr>
              <a:t>: Austria, Finland and Sweden. </a:t>
            </a:r>
            <a:r>
              <a:rPr lang="en-GB" sz="1700" b="1" i="0" u="none" strike="noStrike" baseline="0" dirty="0">
                <a:latin typeface="Times New Roman" panose="02020603050405020304" pitchFamily="18" charset="0"/>
              </a:rPr>
              <a:t>2004</a:t>
            </a:r>
            <a:r>
              <a:rPr lang="en-GB" sz="1700" b="0" i="0" u="none" strike="noStrike" baseline="0" dirty="0">
                <a:latin typeface="Times New Roman" panose="02020603050405020304" pitchFamily="18" charset="0"/>
              </a:rPr>
              <a:t>: Estonia, Latvia, Lithuania, Poland, Slovenia, Slovakia, Czech Republic, Hungary, Malta and Cyprus, </a:t>
            </a:r>
            <a:r>
              <a:rPr lang="en-GB" sz="1700" b="1" i="0" u="none" strike="noStrike" baseline="0" dirty="0">
                <a:latin typeface="Times New Roman" panose="02020603050405020304" pitchFamily="18" charset="0"/>
              </a:rPr>
              <a:t>2007</a:t>
            </a:r>
            <a:r>
              <a:rPr lang="en-GB" sz="1700" b="0" i="0" u="none" strike="noStrike" baseline="0" dirty="0">
                <a:latin typeface="Times New Roman" panose="02020603050405020304" pitchFamily="18" charset="0"/>
              </a:rPr>
              <a:t>: Bulgaria and Rumania. </a:t>
            </a:r>
            <a:r>
              <a:rPr lang="en-GB" sz="1700" b="1" i="0" u="none" strike="noStrike" baseline="0" dirty="0">
                <a:latin typeface="Times New Roman" panose="02020603050405020304" pitchFamily="18" charset="0"/>
              </a:rPr>
              <a:t>2013</a:t>
            </a:r>
            <a:r>
              <a:rPr lang="en-GB" sz="1700" b="0" i="0" u="none" strike="noStrike" baseline="0" dirty="0">
                <a:latin typeface="Times New Roman" panose="02020603050405020304" pitchFamily="18" charset="0"/>
              </a:rPr>
              <a:t>: Croatia. </a:t>
            </a:r>
            <a:endParaRPr lang="en-GB" sz="1700" b="0" i="0" u="none" strike="noStrike" baseline="0" dirty="0" smtClean="0">
              <a:latin typeface="Times New Roman" panose="02020603050405020304" pitchFamily="18" charset="0"/>
            </a:endParaRPr>
          </a:p>
          <a:p>
            <a:pPr>
              <a:lnSpc>
                <a:spcPct val="100000"/>
              </a:lnSpc>
            </a:pPr>
            <a:r>
              <a:rPr lang="en-GB" sz="1700" b="1" dirty="0" smtClean="0">
                <a:latin typeface="Times New Roman" panose="02020603050405020304" pitchFamily="18" charset="0"/>
              </a:rPr>
              <a:t>2020: BREXIT</a:t>
            </a:r>
            <a:endParaRPr lang="en-GB" sz="1700" b="1" i="0" u="none" strike="noStrike" baseline="0" dirty="0">
              <a:latin typeface="Times New Roman" panose="02020603050405020304" pitchFamily="18" charset="0"/>
            </a:endParaRPr>
          </a:p>
        </p:txBody>
      </p:sp>
      <p:pic>
        <p:nvPicPr>
          <p:cNvPr id="5" name="Picture 4">
            <a:extLst>
              <a:ext uri="{FF2B5EF4-FFF2-40B4-BE49-F238E27FC236}">
                <a16:creationId xmlns:a16="http://schemas.microsoft.com/office/drawing/2014/main" xmlns="" id="{CC491D65-2B65-4CB2-AEA6-553E9025CA92}"/>
              </a:ext>
            </a:extLst>
          </p:cNvPr>
          <p:cNvPicPr>
            <a:picLocks noChangeAspect="1"/>
          </p:cNvPicPr>
          <p:nvPr/>
        </p:nvPicPr>
        <p:blipFill rotWithShape="1">
          <a:blip r:embed="rId2"/>
          <a:srcRect r="19619" b="1"/>
          <a:stretch/>
        </p:blipFill>
        <p:spPr>
          <a:xfrm>
            <a:off x="5279472" y="645107"/>
            <a:ext cx="5995465" cy="5594047"/>
          </a:xfrm>
          <a:prstGeom prst="rect">
            <a:avLst/>
          </a:prstGeom>
        </p:spPr>
      </p:pic>
    </p:spTree>
    <p:extLst>
      <p:ext uri="{BB962C8B-B14F-4D97-AF65-F5344CB8AC3E}">
        <p14:creationId xmlns:p14="http://schemas.microsoft.com/office/powerpoint/2010/main" val="317887461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6FC52D1-1B07-48FD-890D-CE6F1A17BBB7}"/>
              </a:ext>
            </a:extLst>
          </p:cNvPr>
          <p:cNvSpPr>
            <a:spLocks noGrp="1"/>
          </p:cNvSpPr>
          <p:nvPr>
            <p:ph type="title"/>
          </p:nvPr>
        </p:nvSpPr>
        <p:spPr>
          <a:xfrm>
            <a:off x="1249960" y="360727"/>
            <a:ext cx="10180040" cy="1513790"/>
          </a:xfrm>
        </p:spPr>
        <p:txBody>
          <a:bodyPr/>
          <a:lstStyle/>
          <a:p>
            <a:pPr algn="ctr"/>
            <a:r>
              <a:rPr lang="en-GB" dirty="0"/>
              <a:t>Focus…</a:t>
            </a:r>
          </a:p>
        </p:txBody>
      </p:sp>
      <p:sp>
        <p:nvSpPr>
          <p:cNvPr id="3" name="Content Placeholder 2">
            <a:extLst>
              <a:ext uri="{FF2B5EF4-FFF2-40B4-BE49-F238E27FC236}">
                <a16:creationId xmlns:a16="http://schemas.microsoft.com/office/drawing/2014/main" xmlns="" id="{791F7A85-460C-49E3-A474-85938F713188}"/>
              </a:ext>
            </a:extLst>
          </p:cNvPr>
          <p:cNvSpPr>
            <a:spLocks noGrp="1"/>
          </p:cNvSpPr>
          <p:nvPr>
            <p:ph idx="1"/>
          </p:nvPr>
        </p:nvSpPr>
        <p:spPr>
          <a:xfrm>
            <a:off x="1251678" y="1117622"/>
            <a:ext cx="10178322" cy="3593591"/>
          </a:xfrm>
        </p:spPr>
        <p:txBody>
          <a:bodyPr>
            <a:normAutofit lnSpcReduction="10000"/>
          </a:bodyPr>
          <a:lstStyle/>
          <a:p>
            <a:pPr algn="l"/>
            <a:endParaRPr lang="en-GB" sz="1800" b="0" i="0" u="none" strike="noStrike" baseline="0" dirty="0">
              <a:solidFill>
                <a:srgbClr val="000000"/>
              </a:solidFill>
              <a:latin typeface="Times New Roman" panose="02020603050405020304" pitchFamily="18" charset="0"/>
            </a:endParaRPr>
          </a:p>
          <a:p>
            <a:pPr algn="just"/>
            <a:r>
              <a:rPr lang="en-GB" sz="1800" b="0" i="0" u="none" strike="noStrike" baseline="0" dirty="0">
                <a:solidFill>
                  <a:srgbClr val="000000"/>
                </a:solidFill>
                <a:latin typeface="Times New Roman" panose="02020603050405020304" pitchFamily="18" charset="0"/>
              </a:rPr>
              <a:t> In the </a:t>
            </a:r>
            <a:r>
              <a:rPr lang="en-GB" sz="1800" b="1" i="0" u="none" strike="noStrike" baseline="0" dirty="0">
                <a:solidFill>
                  <a:srgbClr val="000000"/>
                </a:solidFill>
                <a:latin typeface="Times New Roman" panose="02020603050405020304" pitchFamily="18" charset="0"/>
              </a:rPr>
              <a:t>1980s </a:t>
            </a:r>
            <a:r>
              <a:rPr lang="en-GB" sz="1800" b="0" i="0" u="none" strike="noStrike" baseline="0" dirty="0">
                <a:solidFill>
                  <a:srgbClr val="000000"/>
                </a:solidFill>
                <a:latin typeface="Times New Roman" panose="02020603050405020304" pitchFamily="18" charset="0"/>
              </a:rPr>
              <a:t>the focus of enlargement was on the countries of southern Europe which were in the process of consolidating their democratic credentials. As we seen, the prospect of EEC membership was a central motivation for all involved. From the point of view of member states it was hoped among the accession of </a:t>
            </a:r>
            <a:r>
              <a:rPr lang="en-GB" sz="1800" b="1" i="0" u="none" strike="noStrike" baseline="0" dirty="0">
                <a:solidFill>
                  <a:srgbClr val="000000"/>
                </a:solidFill>
                <a:latin typeface="Times New Roman" panose="02020603050405020304" pitchFamily="18" charset="0"/>
              </a:rPr>
              <a:t>Spain, Portugal and Greece </a:t>
            </a:r>
            <a:r>
              <a:rPr lang="en-GB" sz="1800" b="0" i="0" u="none" strike="noStrike" baseline="0" dirty="0">
                <a:solidFill>
                  <a:srgbClr val="000000"/>
                </a:solidFill>
                <a:latin typeface="Times New Roman" panose="02020603050405020304" pitchFamily="18" charset="0"/>
              </a:rPr>
              <a:t>would be the best </a:t>
            </a:r>
            <a:r>
              <a:rPr lang="en-GB" sz="1800" b="1" i="0" u="none" strike="noStrike" baseline="0" dirty="0">
                <a:solidFill>
                  <a:srgbClr val="000000"/>
                </a:solidFill>
                <a:latin typeface="Times New Roman" panose="02020603050405020304" pitchFamily="18" charset="0"/>
              </a:rPr>
              <a:t>security against a relapse into dictatorship</a:t>
            </a:r>
            <a:r>
              <a:rPr lang="en-GB" sz="1800" b="0" i="0" u="none" strike="noStrike" baseline="0" dirty="0">
                <a:solidFill>
                  <a:srgbClr val="000000"/>
                </a:solidFill>
                <a:latin typeface="Times New Roman" panose="02020603050405020304" pitchFamily="18" charset="0"/>
              </a:rPr>
              <a:t>. The negotiations were long and not without significant opposition. Spain, Portugal and Greece, as poorer members of the Community, were all likely to </a:t>
            </a:r>
            <a:r>
              <a:rPr lang="en-GB" sz="1800" b="1" i="0" u="none" strike="noStrike" baseline="0" dirty="0">
                <a:solidFill>
                  <a:srgbClr val="000000"/>
                </a:solidFill>
                <a:latin typeface="Times New Roman" panose="02020603050405020304" pitchFamily="18" charset="0"/>
              </a:rPr>
              <a:t>draw heavily on the Community's Social and Regional Funds. France and Italy were concerned about competition from cheap Spanish farm produce</a:t>
            </a:r>
            <a:r>
              <a:rPr lang="en-GB" sz="1800" b="0" i="0" u="none" strike="noStrike" baseline="0" dirty="0">
                <a:solidFill>
                  <a:srgbClr val="000000"/>
                </a:solidFill>
                <a:latin typeface="Times New Roman" panose="02020603050405020304" pitchFamily="18" charset="0"/>
              </a:rPr>
              <a:t>. The Common Fisheries Policy opened up the prospect of intense competition from the Spanish fishing fleet, which was almost as large as the other members' fleets combined. There was also </a:t>
            </a:r>
            <a:r>
              <a:rPr lang="en-GB" sz="1800" b="1" i="0" u="none" strike="noStrike" baseline="0" dirty="0">
                <a:solidFill>
                  <a:srgbClr val="000000"/>
                </a:solidFill>
                <a:latin typeface="Times New Roman" panose="02020603050405020304" pitchFamily="18" charset="0"/>
              </a:rPr>
              <a:t>concern over competition from the low-wage Spanish and Portuguese economies</a:t>
            </a:r>
            <a:r>
              <a:rPr lang="en-GB" sz="1800" b="0" i="0" u="none" strike="noStrike" baseline="0" dirty="0">
                <a:solidFill>
                  <a:srgbClr val="000000"/>
                </a:solidFill>
                <a:latin typeface="Times New Roman" panose="02020603050405020304" pitchFamily="18" charset="0"/>
              </a:rPr>
              <a:t>, and their large </a:t>
            </a:r>
            <a:r>
              <a:rPr lang="en-GB" sz="1800" b="1" i="0" u="none" strike="noStrike" baseline="0" dirty="0">
                <a:solidFill>
                  <a:srgbClr val="000000"/>
                </a:solidFill>
                <a:latin typeface="Times New Roman" panose="02020603050405020304" pitchFamily="18" charset="0"/>
              </a:rPr>
              <a:t>steel and textile </a:t>
            </a:r>
            <a:r>
              <a:rPr lang="en-GB" sz="1800" b="0" i="0" u="none" strike="noStrike" baseline="0" dirty="0">
                <a:solidFill>
                  <a:srgbClr val="000000"/>
                </a:solidFill>
                <a:latin typeface="Times New Roman" panose="02020603050405020304" pitchFamily="18" charset="0"/>
              </a:rPr>
              <a:t>industries, areas in which there was already overcapacity in the Community. </a:t>
            </a:r>
            <a:endParaRPr lang="en-GB" dirty="0"/>
          </a:p>
        </p:txBody>
      </p:sp>
      <p:pic>
        <p:nvPicPr>
          <p:cNvPr id="4" name="Image 3"/>
          <p:cNvPicPr>
            <a:picLocks noChangeAspect="1"/>
          </p:cNvPicPr>
          <p:nvPr/>
        </p:nvPicPr>
        <p:blipFill>
          <a:blip r:embed="rId2"/>
          <a:stretch>
            <a:fillRect/>
          </a:stretch>
        </p:blipFill>
        <p:spPr>
          <a:xfrm>
            <a:off x="1537854" y="4711213"/>
            <a:ext cx="3310544" cy="1681756"/>
          </a:xfrm>
          <a:prstGeom prst="rect">
            <a:avLst/>
          </a:prstGeom>
        </p:spPr>
      </p:pic>
      <p:pic>
        <p:nvPicPr>
          <p:cNvPr id="5" name="Image 4"/>
          <p:cNvPicPr>
            <a:picLocks noChangeAspect="1"/>
          </p:cNvPicPr>
          <p:nvPr/>
        </p:nvPicPr>
        <p:blipFill>
          <a:blip r:embed="rId3"/>
          <a:stretch>
            <a:fillRect/>
          </a:stretch>
        </p:blipFill>
        <p:spPr>
          <a:xfrm>
            <a:off x="6059977" y="4711213"/>
            <a:ext cx="4652399" cy="1723542"/>
          </a:xfrm>
          <a:prstGeom prst="rect">
            <a:avLst/>
          </a:prstGeom>
        </p:spPr>
      </p:pic>
    </p:spTree>
    <p:extLst>
      <p:ext uri="{BB962C8B-B14F-4D97-AF65-F5344CB8AC3E}">
        <p14:creationId xmlns:p14="http://schemas.microsoft.com/office/powerpoint/2010/main" val="401806508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71DBA2A-A9C3-4C1E-A6CB-CDC40010231A}"/>
              </a:ext>
            </a:extLst>
          </p:cNvPr>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lstStyle/>
          <a:p>
            <a:pPr algn="ctr"/>
            <a:r>
              <a:rPr lang="en-GB" dirty="0"/>
              <a:t>The situation of the Economy</a:t>
            </a:r>
          </a:p>
        </p:txBody>
      </p:sp>
      <p:sp>
        <p:nvSpPr>
          <p:cNvPr id="3" name="Content Placeholder 2">
            <a:extLst>
              <a:ext uri="{FF2B5EF4-FFF2-40B4-BE49-F238E27FC236}">
                <a16:creationId xmlns:a16="http://schemas.microsoft.com/office/drawing/2014/main" xmlns="" id="{1D2CA0DC-3D36-4F32-9789-4FF2BA594985}"/>
              </a:ext>
            </a:extLst>
          </p:cNvPr>
          <p:cNvSpPr>
            <a:spLocks noGrp="1"/>
          </p:cNvSpPr>
          <p:nvPr>
            <p:ph idx="1"/>
          </p:nvPr>
        </p:nvSpPr>
        <p:spPr>
          <a:xfrm>
            <a:off x="1251678" y="2286001"/>
            <a:ext cx="5581384" cy="3593591"/>
          </a:xfrm>
        </p:spPr>
        <p:txBody>
          <a:bodyPr/>
          <a:lstStyle/>
          <a:p>
            <a:pPr algn="just"/>
            <a:r>
              <a:rPr lang="en-GB" sz="1800" b="0" i="0" u="none" strike="noStrike" baseline="0" dirty="0">
                <a:solidFill>
                  <a:srgbClr val="000000"/>
                </a:solidFill>
                <a:latin typeface="Times New Roman" panose="02020603050405020304" pitchFamily="18" charset="0"/>
              </a:rPr>
              <a:t>But by </a:t>
            </a:r>
            <a:r>
              <a:rPr lang="en-GB" sz="1800" b="1" i="0" u="none" strike="noStrike" baseline="0" dirty="0">
                <a:solidFill>
                  <a:srgbClr val="000000"/>
                </a:solidFill>
                <a:latin typeface="Times New Roman" panose="02020603050405020304" pitchFamily="18" charset="0"/>
              </a:rPr>
              <a:t>1986, twelve member states of the Community now contained 345 million </a:t>
            </a:r>
            <a:r>
              <a:rPr lang="en-GB" sz="1800" b="0" i="0" u="none" strike="noStrike" baseline="0" dirty="0">
                <a:solidFill>
                  <a:srgbClr val="000000"/>
                </a:solidFill>
                <a:latin typeface="Times New Roman" panose="02020603050405020304" pitchFamily="18" charset="0"/>
              </a:rPr>
              <a:t>out of a European population (excluding the USSR) of 500 million. These numbers alone explain the main motivation for both the enlargement and integration of the individual EU nation states. Europe’s economic competitiveness was falling behind the world leaders and radical change was needed if Europe was to remain a global force. </a:t>
            </a:r>
            <a:r>
              <a:rPr lang="en-GB" sz="1800" b="0" i="0" u="none" strike="noStrike" baseline="0" dirty="0">
                <a:solidFill>
                  <a:srgbClr val="0070C0"/>
                </a:solidFill>
                <a:latin typeface="Times New Roman" panose="02020603050405020304" pitchFamily="18" charset="0"/>
              </a:rPr>
              <a:t>The twelve now accounted for almost 20 per cent of the world's Gross National Product, just behind the American share but double that of Japan.</a:t>
            </a:r>
            <a:endParaRPr lang="en-GB" dirty="0">
              <a:solidFill>
                <a:srgbClr val="0070C0"/>
              </a:solidFill>
            </a:endParaRPr>
          </a:p>
        </p:txBody>
      </p:sp>
      <p:pic>
        <p:nvPicPr>
          <p:cNvPr id="4" name="Image 3"/>
          <p:cNvPicPr>
            <a:picLocks noChangeAspect="1"/>
          </p:cNvPicPr>
          <p:nvPr/>
        </p:nvPicPr>
        <p:blipFill>
          <a:blip r:embed="rId2"/>
          <a:stretch>
            <a:fillRect/>
          </a:stretch>
        </p:blipFill>
        <p:spPr>
          <a:xfrm>
            <a:off x="7190509" y="2376028"/>
            <a:ext cx="4146664" cy="3172198"/>
          </a:xfrm>
          <a:prstGeom prst="rect">
            <a:avLst/>
          </a:prstGeom>
        </p:spPr>
      </p:pic>
    </p:spTree>
    <p:extLst>
      <p:ext uri="{BB962C8B-B14F-4D97-AF65-F5344CB8AC3E}">
        <p14:creationId xmlns:p14="http://schemas.microsoft.com/office/powerpoint/2010/main" val="411945326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81C003-8725-430C-8844-39C0D3CEB83C}"/>
              </a:ext>
            </a:extLst>
          </p:cNvPr>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lstStyle/>
          <a:p>
            <a:pPr algn="ctr"/>
            <a:r>
              <a:rPr lang="en-GB" dirty="0"/>
              <a:t>Other Applicants… </a:t>
            </a:r>
          </a:p>
        </p:txBody>
      </p:sp>
      <p:sp>
        <p:nvSpPr>
          <p:cNvPr id="3" name="Content Placeholder 2">
            <a:extLst>
              <a:ext uri="{FF2B5EF4-FFF2-40B4-BE49-F238E27FC236}">
                <a16:creationId xmlns:a16="http://schemas.microsoft.com/office/drawing/2014/main" xmlns="" id="{D83275B6-E7A1-4E1F-927F-F7EC35B3968B}"/>
              </a:ext>
            </a:extLst>
          </p:cNvPr>
          <p:cNvSpPr>
            <a:spLocks noGrp="1"/>
          </p:cNvSpPr>
          <p:nvPr>
            <p:ph idx="1"/>
          </p:nvPr>
        </p:nvSpPr>
        <p:spPr/>
        <p:txBody>
          <a:bodyPr/>
          <a:lstStyle/>
          <a:p>
            <a:pPr algn="just"/>
            <a:r>
              <a:rPr lang="en-GB" sz="1800" b="0" i="0" u="none" strike="noStrike" baseline="0" dirty="0">
                <a:solidFill>
                  <a:srgbClr val="000000"/>
                </a:solidFill>
                <a:latin typeface="Times New Roman" panose="02020603050405020304" pitchFamily="18" charset="0"/>
              </a:rPr>
              <a:t>Community membership was still an attractive prospect for many countries. </a:t>
            </a:r>
            <a:r>
              <a:rPr lang="en-GB" sz="1800" b="1" i="0" u="none" strike="noStrike" baseline="0" dirty="0">
                <a:solidFill>
                  <a:srgbClr val="000000"/>
                </a:solidFill>
                <a:latin typeface="Times New Roman" panose="02020603050405020304" pitchFamily="18" charset="0"/>
              </a:rPr>
              <a:t>Turkey applied </a:t>
            </a:r>
            <a:r>
              <a:rPr lang="en-GB" sz="1800" b="0" i="0" u="none" strike="noStrike" baseline="0" dirty="0">
                <a:solidFill>
                  <a:srgbClr val="000000"/>
                </a:solidFill>
                <a:latin typeface="Times New Roman" panose="02020603050405020304" pitchFamily="18" charset="0"/>
              </a:rPr>
              <a:t>for membership in </a:t>
            </a:r>
            <a:r>
              <a:rPr lang="en-GB" sz="1800" b="1" i="0" u="none" strike="noStrike" baseline="0" dirty="0">
                <a:solidFill>
                  <a:srgbClr val="000000"/>
                </a:solidFill>
                <a:latin typeface="Times New Roman" panose="02020603050405020304" pitchFamily="18" charset="0"/>
              </a:rPr>
              <a:t>1987</a:t>
            </a:r>
            <a:r>
              <a:rPr lang="en-GB" sz="1800" b="0" i="0" u="none" strike="noStrike" baseline="0" dirty="0">
                <a:solidFill>
                  <a:srgbClr val="000000"/>
                </a:solidFill>
                <a:latin typeface="Times New Roman" panose="02020603050405020304" pitchFamily="18" charset="0"/>
              </a:rPr>
              <a:t>. A decision was deferred in 1990, because of concerns as to whether Turkey met the relevant political and economic criteria for membership. </a:t>
            </a:r>
            <a:r>
              <a:rPr lang="en-GB" sz="1800" b="1" i="0" u="none" strike="noStrike" baseline="0" dirty="0">
                <a:solidFill>
                  <a:srgbClr val="000000"/>
                </a:solidFill>
                <a:latin typeface="Times New Roman" panose="02020603050405020304" pitchFamily="18" charset="0"/>
              </a:rPr>
              <a:t>Malta and Cyprus </a:t>
            </a:r>
            <a:r>
              <a:rPr lang="en-GB" sz="1800" b="0" i="0" u="none" strike="noStrike" baseline="0" dirty="0">
                <a:solidFill>
                  <a:srgbClr val="000000"/>
                </a:solidFill>
                <a:latin typeface="Times New Roman" panose="02020603050405020304" pitchFamily="18" charset="0"/>
              </a:rPr>
              <a:t>applied for membership in 1990. </a:t>
            </a:r>
            <a:r>
              <a:rPr lang="en-GB" sz="1800" b="1" i="0" u="none" strike="noStrike" baseline="0" dirty="0">
                <a:solidFill>
                  <a:srgbClr val="000000"/>
                </a:solidFill>
                <a:latin typeface="Times New Roman" panose="02020603050405020304" pitchFamily="18" charset="0"/>
              </a:rPr>
              <a:t>Austria</a:t>
            </a:r>
            <a:r>
              <a:rPr lang="en-GB" sz="1800" b="0" i="0" u="none" strike="noStrike" baseline="0" dirty="0">
                <a:solidFill>
                  <a:srgbClr val="000000"/>
                </a:solidFill>
                <a:latin typeface="Times New Roman" panose="02020603050405020304" pitchFamily="18" charset="0"/>
              </a:rPr>
              <a:t> had long been debarred from membership by its neutral status, but applied in July 1989, principally because two-thirds of its trade was with Community members. </a:t>
            </a:r>
            <a:r>
              <a:rPr lang="en-GB" sz="1800" b="1" i="0" u="none" strike="noStrike" baseline="0" dirty="0">
                <a:solidFill>
                  <a:srgbClr val="000000"/>
                </a:solidFill>
                <a:latin typeface="Times New Roman" panose="02020603050405020304" pitchFamily="18" charset="0"/>
              </a:rPr>
              <a:t>Norway</a:t>
            </a:r>
            <a:r>
              <a:rPr lang="en-GB" sz="1800" b="0" i="0" u="none" strike="noStrike" baseline="0" dirty="0">
                <a:solidFill>
                  <a:srgbClr val="000000"/>
                </a:solidFill>
                <a:latin typeface="Times New Roman" panose="02020603050405020304" pitchFamily="18" charset="0"/>
              </a:rPr>
              <a:t> reapplied for membership in 1992, but another referendum voted against joining. </a:t>
            </a:r>
            <a:r>
              <a:rPr lang="en-GB" sz="1800" b="1" i="0" u="none" strike="noStrike" baseline="0" dirty="0">
                <a:solidFill>
                  <a:srgbClr val="000000"/>
                </a:solidFill>
                <a:latin typeface="Times New Roman" panose="02020603050405020304" pitchFamily="18" charset="0"/>
              </a:rPr>
              <a:t>Sweden</a:t>
            </a:r>
            <a:r>
              <a:rPr lang="en-GB" sz="1800" b="0" i="0" u="none" strike="noStrike" baseline="0" dirty="0">
                <a:solidFill>
                  <a:srgbClr val="000000"/>
                </a:solidFill>
                <a:latin typeface="Times New Roman" panose="02020603050405020304" pitchFamily="18" charset="0"/>
              </a:rPr>
              <a:t> had rejected membership in 1958 because of its traditional neutral status, because it had reservations about the Common Agricultural Policy, and because its taxation and welfare systems were not in harmony with those of many Western European states. However, it applied for membership in 1991, followed by </a:t>
            </a:r>
            <a:r>
              <a:rPr lang="en-GB" sz="1800" b="1" i="0" u="none" strike="noStrike" baseline="0" dirty="0">
                <a:solidFill>
                  <a:srgbClr val="000000"/>
                </a:solidFill>
                <a:latin typeface="Times New Roman" panose="02020603050405020304" pitchFamily="18" charset="0"/>
              </a:rPr>
              <a:t>Finland</a:t>
            </a:r>
            <a:r>
              <a:rPr lang="en-GB" sz="1800" b="0" i="0" u="none" strike="noStrike" baseline="0" dirty="0">
                <a:solidFill>
                  <a:srgbClr val="000000"/>
                </a:solidFill>
                <a:latin typeface="Times New Roman" panose="02020603050405020304" pitchFamily="18" charset="0"/>
              </a:rPr>
              <a:t>.</a:t>
            </a:r>
            <a:endParaRPr lang="en-GB" dirty="0"/>
          </a:p>
        </p:txBody>
      </p:sp>
    </p:spTree>
    <p:extLst>
      <p:ext uri="{BB962C8B-B14F-4D97-AF65-F5344CB8AC3E}">
        <p14:creationId xmlns:p14="http://schemas.microsoft.com/office/powerpoint/2010/main" val="39685920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213D53-A415-4B56-9348-B702FEC9C5C5}"/>
              </a:ext>
            </a:extLst>
          </p:cNvPr>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lstStyle/>
          <a:p>
            <a:pPr algn="ctr"/>
            <a:r>
              <a:rPr lang="en-GB" dirty="0"/>
              <a:t>Deepening integration</a:t>
            </a:r>
            <a:br>
              <a:rPr lang="en-GB" dirty="0"/>
            </a:br>
            <a:r>
              <a:rPr lang="en-GB" dirty="0"/>
              <a:t>Monetary Union</a:t>
            </a:r>
          </a:p>
        </p:txBody>
      </p:sp>
      <p:sp>
        <p:nvSpPr>
          <p:cNvPr id="3" name="Content Placeholder 2">
            <a:extLst>
              <a:ext uri="{FF2B5EF4-FFF2-40B4-BE49-F238E27FC236}">
                <a16:creationId xmlns:a16="http://schemas.microsoft.com/office/drawing/2014/main" xmlns="" id="{17A7F61A-E617-4633-B807-E1C9CD6CA966}"/>
              </a:ext>
            </a:extLst>
          </p:cNvPr>
          <p:cNvSpPr>
            <a:spLocks noGrp="1"/>
          </p:cNvSpPr>
          <p:nvPr>
            <p:ph idx="1"/>
          </p:nvPr>
        </p:nvSpPr>
        <p:spPr/>
        <p:txBody>
          <a:bodyPr/>
          <a:lstStyle/>
          <a:p>
            <a:r>
              <a:rPr lang="en-GB" sz="1800" b="1" i="0" u="none" strike="noStrike" baseline="0" dirty="0">
                <a:solidFill>
                  <a:srgbClr val="000000"/>
                </a:solidFill>
                <a:latin typeface="Times New Roman" panose="02020603050405020304" pitchFamily="18" charset="0"/>
              </a:rPr>
              <a:t>The Hague summit in 1969 agreed to aim for Economic and Monetary Union (EMU) by 1980</a:t>
            </a:r>
            <a:r>
              <a:rPr lang="en-GB" sz="1800" b="0" i="0" u="none" strike="noStrike" baseline="0" dirty="0">
                <a:solidFill>
                  <a:srgbClr val="000000"/>
                </a:solidFill>
                <a:latin typeface="Times New Roman" panose="02020603050405020304" pitchFamily="18" charset="0"/>
              </a:rPr>
              <a:t>, to be achieved in stages, but there were disagreements about the best route. Attempts at monetary cooperation, let alone integration, proved difficult.</a:t>
            </a:r>
          </a:p>
          <a:p>
            <a:r>
              <a:rPr lang="en-GB" sz="1800" b="0" i="0" u="none" strike="noStrike" baseline="0" dirty="0">
                <a:solidFill>
                  <a:srgbClr val="000000"/>
                </a:solidFill>
                <a:latin typeface="Times New Roman" panose="02020603050405020304" pitchFamily="18" charset="0"/>
              </a:rPr>
              <a:t>In </a:t>
            </a:r>
            <a:r>
              <a:rPr lang="en-GB" sz="1800" b="1" i="0" u="none" strike="noStrike" baseline="0" dirty="0">
                <a:solidFill>
                  <a:srgbClr val="000000"/>
                </a:solidFill>
                <a:latin typeface="Times New Roman" panose="02020603050405020304" pitchFamily="18" charset="0"/>
              </a:rPr>
              <a:t>1978 a limited European Monetary System (EMS) </a:t>
            </a:r>
            <a:r>
              <a:rPr lang="en-GB" sz="1800" b="0" i="0" u="none" strike="noStrike" baseline="0" dirty="0">
                <a:solidFill>
                  <a:srgbClr val="000000"/>
                </a:solidFill>
                <a:latin typeface="Times New Roman" panose="02020603050405020304" pitchFamily="18" charset="0"/>
              </a:rPr>
              <a:t>was agreed at the Bremen and Brussels Summits in 1978. </a:t>
            </a:r>
            <a:r>
              <a:rPr lang="en-GB" sz="1800" b="1" i="0" u="none" strike="noStrike" baseline="0" dirty="0">
                <a:solidFill>
                  <a:srgbClr val="000000"/>
                </a:solidFill>
                <a:latin typeface="Times New Roman" panose="02020603050405020304" pitchFamily="18" charset="0"/>
              </a:rPr>
              <a:t>The European Currency Unit (ECU) </a:t>
            </a:r>
            <a:r>
              <a:rPr lang="en-GB" sz="1800" b="0" i="0" u="none" strike="noStrike" baseline="0" dirty="0">
                <a:solidFill>
                  <a:srgbClr val="000000"/>
                </a:solidFill>
                <a:latin typeface="Times New Roman" panose="02020603050405020304" pitchFamily="18" charset="0"/>
              </a:rPr>
              <a:t>was introduced as a means for authorities in the Community to settle transactions between themselves. The </a:t>
            </a:r>
            <a:r>
              <a:rPr lang="en-GB" sz="1800" b="1" i="0" u="none" strike="noStrike" baseline="0" dirty="0">
                <a:solidFill>
                  <a:srgbClr val="000000"/>
                </a:solidFill>
                <a:latin typeface="Times New Roman" panose="02020603050405020304" pitchFamily="18" charset="0"/>
              </a:rPr>
              <a:t>Exchange Rate Mechanism (ERM</a:t>
            </a:r>
            <a:r>
              <a:rPr lang="en-GB" sz="1800" b="0" i="0" u="none" strike="noStrike" baseline="0" dirty="0">
                <a:solidFill>
                  <a:srgbClr val="000000"/>
                </a:solidFill>
                <a:latin typeface="Times New Roman" panose="02020603050405020304" pitchFamily="18" charset="0"/>
              </a:rPr>
              <a:t>) was also introduced: it allowed currencies to fluctuate up to 2.25 per cent either side of a central rate, before dropping out of the system. But this was all a long way off from economic union and a single currency.</a:t>
            </a:r>
            <a:endParaRPr lang="en-GB" dirty="0"/>
          </a:p>
        </p:txBody>
      </p:sp>
    </p:spTree>
    <p:extLst>
      <p:ext uri="{BB962C8B-B14F-4D97-AF65-F5344CB8AC3E}">
        <p14:creationId xmlns:p14="http://schemas.microsoft.com/office/powerpoint/2010/main" val="95089478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F04D5E5-8EBD-4E24-A588-80CD441387D5}"/>
              </a:ext>
            </a:extLst>
          </p:cNvPr>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lstStyle/>
          <a:p>
            <a:pPr algn="ctr"/>
            <a:r>
              <a:rPr lang="en-GB" dirty="0"/>
              <a:t>A European Union</a:t>
            </a:r>
          </a:p>
        </p:txBody>
      </p:sp>
      <p:sp>
        <p:nvSpPr>
          <p:cNvPr id="3" name="Content Placeholder 2">
            <a:extLst>
              <a:ext uri="{FF2B5EF4-FFF2-40B4-BE49-F238E27FC236}">
                <a16:creationId xmlns:a16="http://schemas.microsoft.com/office/drawing/2014/main" xmlns="" id="{B4B7468A-58C7-4399-BE58-3F2EBC51F92E}"/>
              </a:ext>
            </a:extLst>
          </p:cNvPr>
          <p:cNvSpPr>
            <a:spLocks noGrp="1"/>
          </p:cNvSpPr>
          <p:nvPr>
            <p:ph idx="1"/>
          </p:nvPr>
        </p:nvSpPr>
        <p:spPr>
          <a:xfrm>
            <a:off x="1251678" y="2286001"/>
            <a:ext cx="10178322" cy="4571999"/>
          </a:xfrm>
        </p:spPr>
        <p:txBody>
          <a:bodyPr/>
          <a:lstStyle/>
          <a:p>
            <a:r>
              <a:rPr lang="en-GB" sz="1800" b="0" i="0" u="none" strike="noStrike" baseline="0" dirty="0">
                <a:solidFill>
                  <a:srgbClr val="000000"/>
                </a:solidFill>
                <a:latin typeface="Times New Roman" panose="02020603050405020304" pitchFamily="18" charset="0"/>
              </a:rPr>
              <a:t>The Community made progress but also ran into difficulties as it moved into the late 1980s and the 1990s. One proposal not adopted was a draft treaty of European Union. The draft was approved by the European Parliament in </a:t>
            </a:r>
            <a:r>
              <a:rPr lang="en-GB" sz="1800" b="1" i="0" u="none" strike="noStrike" baseline="0" dirty="0">
                <a:solidFill>
                  <a:srgbClr val="000000"/>
                </a:solidFill>
                <a:latin typeface="Times New Roman" panose="02020603050405020304" pitchFamily="18" charset="0"/>
              </a:rPr>
              <a:t>February 1984 (Spinelli plan), </a:t>
            </a:r>
            <a:r>
              <a:rPr lang="en-GB" sz="1800" b="0" i="0" u="none" strike="noStrike" baseline="0" dirty="0">
                <a:solidFill>
                  <a:srgbClr val="000000"/>
                </a:solidFill>
                <a:latin typeface="Times New Roman" panose="02020603050405020304" pitchFamily="18" charset="0"/>
              </a:rPr>
              <a:t>and would have </a:t>
            </a:r>
            <a:r>
              <a:rPr lang="en-GB" sz="1800" b="1" i="0" u="none" strike="noStrike" baseline="0" dirty="0">
                <a:solidFill>
                  <a:srgbClr val="000000"/>
                </a:solidFill>
                <a:latin typeface="Times New Roman" panose="02020603050405020304" pitchFamily="18" charset="0"/>
              </a:rPr>
              <a:t>increased the powers of the Commission and the Parliament, thereby reducing those of the Council.</a:t>
            </a:r>
            <a:r>
              <a:rPr lang="en-GB" sz="1800" b="0" i="0" u="none" strike="noStrike" baseline="0" dirty="0">
                <a:solidFill>
                  <a:srgbClr val="000000"/>
                </a:solidFill>
                <a:latin typeface="Times New Roman" panose="02020603050405020304" pitchFamily="18" charset="0"/>
              </a:rPr>
              <a:t> </a:t>
            </a:r>
            <a:r>
              <a:rPr lang="en-GB" sz="1800" b="0" i="0" u="none" strike="noStrike" baseline="0" dirty="0">
                <a:solidFill>
                  <a:srgbClr val="FF0000"/>
                </a:solidFill>
                <a:latin typeface="Times New Roman" panose="02020603050405020304" pitchFamily="18" charset="0"/>
              </a:rPr>
              <a:t>The aim was to promote supranationalism over intergovernmentalism</a:t>
            </a:r>
            <a:r>
              <a:rPr lang="en-GB" sz="1800" b="0" i="0" u="none" strike="noStrike" baseline="0" dirty="0">
                <a:solidFill>
                  <a:srgbClr val="000000"/>
                </a:solidFill>
                <a:latin typeface="Times New Roman" panose="02020603050405020304" pitchFamily="18" charset="0"/>
              </a:rPr>
              <a:t>. It was rejected for this reason</a:t>
            </a:r>
            <a:r>
              <a:rPr lang="en-GB" sz="1800" b="1" i="0" u="none" strike="noStrike" baseline="0" dirty="0">
                <a:solidFill>
                  <a:srgbClr val="000000"/>
                </a:solidFill>
                <a:latin typeface="Times New Roman" panose="02020603050405020304" pitchFamily="18" charset="0"/>
              </a:rPr>
              <a:t>: national governments preferred to maintain their sovereignty.</a:t>
            </a:r>
            <a:r>
              <a:rPr lang="en-GB" sz="1800" b="0" i="0" u="none" strike="noStrike" baseline="0" dirty="0">
                <a:solidFill>
                  <a:srgbClr val="000000"/>
                </a:solidFill>
                <a:latin typeface="Times New Roman" panose="02020603050405020304" pitchFamily="18" charset="0"/>
              </a:rPr>
              <a:t> </a:t>
            </a:r>
          </a:p>
          <a:p>
            <a:r>
              <a:rPr lang="en-GB" sz="1800" b="1" i="0" u="none" strike="noStrike" baseline="0" dirty="0">
                <a:solidFill>
                  <a:srgbClr val="000000"/>
                </a:solidFill>
                <a:latin typeface="Times New Roman" panose="02020603050405020304" pitchFamily="18" charset="0"/>
              </a:rPr>
              <a:t>A </a:t>
            </a:r>
            <a:r>
              <a:rPr lang="en-GB" sz="1800" b="1" i="1" u="none" strike="noStrike" baseline="0" dirty="0">
                <a:solidFill>
                  <a:srgbClr val="000000"/>
                </a:solidFill>
                <a:latin typeface="Times New Roman" panose="02020603050405020304" pitchFamily="18" charset="0"/>
              </a:rPr>
              <a:t>Single European Act </a:t>
            </a:r>
            <a:r>
              <a:rPr lang="en-GB" sz="1800" b="0" i="0" u="none" strike="noStrike" baseline="0" dirty="0">
                <a:solidFill>
                  <a:srgbClr val="000000"/>
                </a:solidFill>
                <a:latin typeface="Times New Roman" panose="02020603050405020304" pitchFamily="18" charset="0"/>
              </a:rPr>
              <a:t>however was signed by the foreign ministers in February </a:t>
            </a:r>
            <a:r>
              <a:rPr lang="en-GB" sz="1800" b="1" i="0" u="none" strike="noStrike" baseline="0" dirty="0">
                <a:solidFill>
                  <a:srgbClr val="000000"/>
                </a:solidFill>
                <a:latin typeface="Times New Roman" panose="02020603050405020304" pitchFamily="18" charset="0"/>
              </a:rPr>
              <a:t>1986</a:t>
            </a:r>
            <a:r>
              <a:rPr lang="en-GB" sz="1800" b="0" i="0" u="none" strike="noStrike" baseline="0" dirty="0">
                <a:solidFill>
                  <a:srgbClr val="000000"/>
                </a:solidFill>
                <a:latin typeface="Times New Roman" panose="02020603050405020304" pitchFamily="18" charset="0"/>
              </a:rPr>
              <a:t>. Jacques </a:t>
            </a:r>
            <a:r>
              <a:rPr lang="en-GB" sz="1800" b="0" i="0" u="none" strike="noStrike" baseline="0" dirty="0" err="1">
                <a:solidFill>
                  <a:srgbClr val="000000"/>
                </a:solidFill>
                <a:latin typeface="Times New Roman" panose="02020603050405020304" pitchFamily="18" charset="0"/>
              </a:rPr>
              <a:t>Delors</a:t>
            </a:r>
            <a:r>
              <a:rPr lang="en-GB" sz="1800" b="0" i="0" u="none" strike="noStrike" baseline="0" dirty="0">
                <a:solidFill>
                  <a:srgbClr val="000000"/>
                </a:solidFill>
                <a:latin typeface="Times New Roman" panose="02020603050405020304" pitchFamily="18" charset="0"/>
              </a:rPr>
              <a:t>, president of the European Commission, summarised the main objectives of the Single European Act in the following way:</a:t>
            </a:r>
            <a:r>
              <a:rPr lang="en-GB" sz="1800" b="0" i="1" u="none" strike="noStrike" baseline="0" dirty="0">
                <a:solidFill>
                  <a:srgbClr val="000000"/>
                </a:solidFill>
                <a:latin typeface="Times New Roman" panose="02020603050405020304" pitchFamily="18" charset="0"/>
              </a:rPr>
              <a:t> </a:t>
            </a:r>
          </a:p>
          <a:p>
            <a:r>
              <a:rPr lang="en-GB" sz="1800" b="0" i="1" u="none" strike="noStrike" baseline="0" dirty="0">
                <a:solidFill>
                  <a:srgbClr val="000000"/>
                </a:solidFill>
                <a:latin typeface="Times New Roman" panose="02020603050405020304" pitchFamily="18" charset="0"/>
              </a:rPr>
              <a:t>The Single Act means, in a few words, the commitment of implementing simultaneously the great market without frontiers, more economic and social cohesion, a European research and technology policy, the strengthening of the European Monetary System, the beginning of a European social area and significant actions on the environment </a:t>
            </a:r>
            <a:r>
              <a:rPr lang="en-GB" sz="1800" b="0" i="0" u="none" strike="noStrike" baseline="0" dirty="0">
                <a:solidFill>
                  <a:srgbClr val="000000"/>
                </a:solidFill>
                <a:latin typeface="Times New Roman" panose="02020603050405020304" pitchFamily="18" charset="0"/>
              </a:rPr>
              <a:t>	</a:t>
            </a:r>
          </a:p>
          <a:p>
            <a:endParaRPr lang="en-GB" dirty="0"/>
          </a:p>
        </p:txBody>
      </p:sp>
    </p:spTree>
    <p:extLst>
      <p:ext uri="{BB962C8B-B14F-4D97-AF65-F5344CB8AC3E}">
        <p14:creationId xmlns:p14="http://schemas.microsoft.com/office/powerpoint/2010/main" val="227342064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lstStyle/>
          <a:p>
            <a:pPr algn="ctr"/>
            <a:r>
              <a:rPr lang="fr-LU" dirty="0"/>
              <a:t>The Schengen Agreement </a:t>
            </a:r>
          </a:p>
        </p:txBody>
      </p:sp>
      <p:sp>
        <p:nvSpPr>
          <p:cNvPr id="3" name="Espace réservé du contenu 2"/>
          <p:cNvSpPr>
            <a:spLocks noGrp="1"/>
          </p:cNvSpPr>
          <p:nvPr>
            <p:ph idx="1"/>
          </p:nvPr>
        </p:nvSpPr>
        <p:spPr/>
        <p:txBody>
          <a:bodyPr>
            <a:normAutofit fontScale="85000" lnSpcReduction="20000"/>
          </a:bodyPr>
          <a:lstStyle/>
          <a:p>
            <a:pPr algn="just"/>
            <a:r>
              <a:rPr lang="en-US" dirty="0"/>
              <a:t>The Schengen </a:t>
            </a:r>
            <a:r>
              <a:rPr lang="en-US" dirty="0" smtClean="0"/>
              <a:t>Agreement </a:t>
            </a:r>
            <a:r>
              <a:rPr lang="en-US" dirty="0"/>
              <a:t>is a treaty which led to the creation of </a:t>
            </a:r>
            <a:r>
              <a:rPr lang="en-US" b="1" dirty="0"/>
              <a:t>Europe's Schengen Area</a:t>
            </a:r>
            <a:r>
              <a:rPr lang="en-US" dirty="0"/>
              <a:t>, in which internal border checks have largely been abolished. It was signed on 14 June 1985, near the town of Schengen, Luxembourg, by </a:t>
            </a:r>
            <a:r>
              <a:rPr lang="en-US" b="1" dirty="0"/>
              <a:t>five of the ten member states </a:t>
            </a:r>
            <a:r>
              <a:rPr lang="en-US" dirty="0"/>
              <a:t>of the then European Economic Community. It proposed measures intended to </a:t>
            </a:r>
            <a:r>
              <a:rPr lang="en-US" b="1" dirty="0"/>
              <a:t>gradually abolish border checks </a:t>
            </a:r>
            <a:r>
              <a:rPr lang="en-US" dirty="0"/>
              <a:t>at the signatories' common borders, including reduced-speed vehicle checks which allowed vehicles to cross borders without stopping, allowing residents in border areas freedom to cross borders away from fixed checkpoints, and the </a:t>
            </a:r>
            <a:r>
              <a:rPr lang="en-US" dirty="0" err="1"/>
              <a:t>harmonisation</a:t>
            </a:r>
            <a:r>
              <a:rPr lang="en-US" dirty="0"/>
              <a:t> of visa policies</a:t>
            </a:r>
            <a:r>
              <a:rPr lang="en-US" dirty="0" smtClean="0"/>
              <a:t>.</a:t>
            </a:r>
            <a:endParaRPr lang="en-US" dirty="0"/>
          </a:p>
          <a:p>
            <a:endParaRPr lang="en-US" dirty="0"/>
          </a:p>
          <a:p>
            <a:pPr algn="just"/>
            <a:r>
              <a:rPr lang="en-US" dirty="0"/>
              <a:t>In </a:t>
            </a:r>
            <a:r>
              <a:rPr lang="en-US" b="1" dirty="0"/>
              <a:t>1990, the Agreement was supplemented by the Schengen Convention </a:t>
            </a:r>
            <a:r>
              <a:rPr lang="en-US" dirty="0"/>
              <a:t>which proposed the complete abolition of systematic internal border controls and a common visa policy. The Schengen Area operates very much like a single state for international travel purposes with external border controls for </a:t>
            </a:r>
            <a:r>
              <a:rPr lang="en-US" dirty="0" err="1"/>
              <a:t>travellers</a:t>
            </a:r>
            <a:r>
              <a:rPr lang="en-US" dirty="0"/>
              <a:t> entering and exiting the area, and common visas, but with no internal border controls. It currently consists of 26 European countries covering a population of over 400 million people and an area of 4,312,099 square </a:t>
            </a:r>
            <a:r>
              <a:rPr lang="en-US" dirty="0" err="1" smtClean="0"/>
              <a:t>kilometres</a:t>
            </a:r>
            <a:r>
              <a:rPr lang="en-US" dirty="0" smtClean="0"/>
              <a:t>.</a:t>
            </a:r>
            <a:endParaRPr lang="fr-LU" dirty="0"/>
          </a:p>
        </p:txBody>
      </p:sp>
    </p:spTree>
    <p:extLst>
      <p:ext uri="{BB962C8B-B14F-4D97-AF65-F5344CB8AC3E}">
        <p14:creationId xmlns:p14="http://schemas.microsoft.com/office/powerpoint/2010/main" val="166892785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95CA81D-FF9B-46B4-A603-D482FE57D69B}"/>
              </a:ext>
            </a:extLst>
          </p:cNvPr>
          <p:cNvSpPr>
            <a:spLocks noGrp="1"/>
          </p:cNvSpPr>
          <p:nvPr>
            <p:ph type="title"/>
          </p:nvPr>
        </p:nvSpPr>
        <p:spPr>
          <a:xfrm>
            <a:off x="5195727" y="382385"/>
            <a:ext cx="6335338" cy="1492132"/>
          </a:xfrm>
        </p:spPr>
        <p:txBody>
          <a:bodyPr>
            <a:normAutofit/>
          </a:bodyPr>
          <a:lstStyle/>
          <a:p>
            <a:r>
              <a:rPr lang="en-GB" dirty="0"/>
              <a:t>British Euroscepticism </a:t>
            </a:r>
            <a:endParaRPr lang="en-GB"/>
          </a:p>
        </p:txBody>
      </p:sp>
      <p:pic>
        <p:nvPicPr>
          <p:cNvPr id="4" name="Picture 3">
            <a:extLst>
              <a:ext uri="{FF2B5EF4-FFF2-40B4-BE49-F238E27FC236}">
                <a16:creationId xmlns:a16="http://schemas.microsoft.com/office/drawing/2014/main" xmlns="" id="{1E422248-ED4A-4B51-86A0-463C7434D86F}"/>
              </a:ext>
            </a:extLst>
          </p:cNvPr>
          <p:cNvPicPr>
            <a:picLocks noChangeAspect="1"/>
          </p:cNvPicPr>
          <p:nvPr/>
        </p:nvPicPr>
        <p:blipFill rotWithShape="1">
          <a:blip r:embed="rId2"/>
          <a:srcRect l="32546" r="19796" b="-1"/>
          <a:stretch/>
        </p:blipFill>
        <p:spPr>
          <a:xfrm>
            <a:off x="688434" y="-9525"/>
            <a:ext cx="4129822" cy="6867525"/>
          </a:xfrm>
          <a:prstGeom prst="rect">
            <a:avLst/>
          </a:prstGeom>
        </p:spPr>
      </p:pic>
      <p:sp>
        <p:nvSpPr>
          <p:cNvPr id="9" name="Freeform 6">
            <a:extLst>
              <a:ext uri="{FF2B5EF4-FFF2-40B4-BE49-F238E27FC236}">
                <a16:creationId xmlns:a16="http://schemas.microsoft.com/office/drawing/2014/main" xmlns="" id="{18E8C5BB-A90A-496B-A745-79A49F350F0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3" name="Content Placeholder 2">
            <a:extLst>
              <a:ext uri="{FF2B5EF4-FFF2-40B4-BE49-F238E27FC236}">
                <a16:creationId xmlns:a16="http://schemas.microsoft.com/office/drawing/2014/main" xmlns="" id="{E400CEC9-EEAC-422C-B5FF-DE32AD537796}"/>
              </a:ext>
            </a:extLst>
          </p:cNvPr>
          <p:cNvSpPr>
            <a:spLocks noGrp="1"/>
          </p:cNvSpPr>
          <p:nvPr>
            <p:ph idx="1"/>
          </p:nvPr>
        </p:nvSpPr>
        <p:spPr>
          <a:xfrm>
            <a:off x="5195727" y="2286001"/>
            <a:ext cx="6335338" cy="3593591"/>
          </a:xfrm>
        </p:spPr>
        <p:txBody>
          <a:bodyPr>
            <a:normAutofit/>
          </a:bodyPr>
          <a:lstStyle/>
          <a:p>
            <a:pPr>
              <a:lnSpc>
                <a:spcPct val="100000"/>
              </a:lnSpc>
            </a:pPr>
            <a:r>
              <a:rPr lang="en-GB" sz="1900"/>
              <a:t>In a celebrated speech, pronounced at the College of Europe in Bruges on 20 September 1988, Margaret Thatcher summed up her </a:t>
            </a:r>
            <a:r>
              <a:rPr lang="en-GB" sz="1900" err="1"/>
              <a:t>eurosceptic</a:t>
            </a:r>
            <a:r>
              <a:rPr lang="en-GB" sz="1900"/>
              <a:t> view:</a:t>
            </a:r>
          </a:p>
          <a:p>
            <a:pPr>
              <a:lnSpc>
                <a:spcPct val="100000"/>
              </a:lnSpc>
            </a:pPr>
            <a:r>
              <a:rPr lang="en-GB" sz="1900" i="1"/>
              <a:t>To try to suppress nationhood and concentrate power at the centre of a European conglomerate would be highly damaging (...) We certainly do not need new regulations which raise the cost of employment and make Europe's labour market less flexible and less competitive with overseas suppliers (...) And certainly we in Britain would fight attempts to introduce collectivism and corporatism at the European level - although what people wish to do in their own countries is a matter for them.</a:t>
            </a:r>
          </a:p>
        </p:txBody>
      </p:sp>
      <p:sp>
        <p:nvSpPr>
          <p:cNvPr id="11" name="Rectangle 10">
            <a:extLst>
              <a:ext uri="{FF2B5EF4-FFF2-40B4-BE49-F238E27FC236}">
                <a16:creationId xmlns:a16="http://schemas.microsoft.com/office/drawing/2014/main" xmlns="" id="{BCD63B47-914A-418A-BA06-1B760F273F3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00776599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7D18A8E-5354-413A-9D23-11761ED377F5}"/>
              </a:ext>
            </a:extLst>
          </p:cNvPr>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lstStyle/>
          <a:p>
            <a:pPr algn="ctr"/>
            <a:r>
              <a:rPr lang="en-GB" dirty="0"/>
              <a:t>The Single Market and Treaty of Maastricht</a:t>
            </a:r>
          </a:p>
        </p:txBody>
      </p:sp>
      <p:sp>
        <p:nvSpPr>
          <p:cNvPr id="3" name="Content Placeholder 2">
            <a:extLst>
              <a:ext uri="{FF2B5EF4-FFF2-40B4-BE49-F238E27FC236}">
                <a16:creationId xmlns:a16="http://schemas.microsoft.com/office/drawing/2014/main" xmlns="" id="{CF619F11-98C9-4BB1-ABA3-16FAF4897F12}"/>
              </a:ext>
            </a:extLst>
          </p:cNvPr>
          <p:cNvSpPr>
            <a:spLocks noGrp="1"/>
          </p:cNvSpPr>
          <p:nvPr>
            <p:ph idx="1"/>
          </p:nvPr>
        </p:nvSpPr>
        <p:spPr>
          <a:xfrm>
            <a:off x="1251678" y="1978430"/>
            <a:ext cx="10178322" cy="3593591"/>
          </a:xfrm>
        </p:spPr>
        <p:txBody>
          <a:bodyPr/>
          <a:lstStyle/>
          <a:p>
            <a:r>
              <a:rPr lang="en-GB" sz="1800" b="1" i="0" u="none" strike="noStrike" baseline="0" dirty="0">
                <a:solidFill>
                  <a:srgbClr val="000000"/>
                </a:solidFill>
                <a:latin typeface="Times New Roman" panose="02020603050405020304" pitchFamily="18" charset="0"/>
              </a:rPr>
              <a:t>The break-up of Communist regimes in the late 1990s, leading to the reunification of Germany and the break-up of the USSR, created new challenges for the Community</a:t>
            </a:r>
            <a:r>
              <a:rPr lang="en-GB" sz="1800" b="0" i="0" u="none" strike="noStrike" baseline="0" dirty="0">
                <a:solidFill>
                  <a:srgbClr val="000000"/>
                </a:solidFill>
                <a:latin typeface="Times New Roman" panose="02020603050405020304" pitchFamily="18" charset="0"/>
              </a:rPr>
              <a:t>. There was also the </a:t>
            </a:r>
            <a:r>
              <a:rPr lang="en-GB" sz="1800" b="1" i="0" u="none" strike="noStrike" baseline="0" dirty="0">
                <a:solidFill>
                  <a:srgbClr val="000000"/>
                </a:solidFill>
                <a:latin typeface="Times New Roman" panose="02020603050405020304" pitchFamily="18" charset="0"/>
              </a:rPr>
              <a:t>Gulf War</a:t>
            </a:r>
            <a:r>
              <a:rPr lang="en-GB" sz="1800" b="0" i="0" u="none" strike="noStrike" baseline="0" dirty="0">
                <a:solidFill>
                  <a:srgbClr val="000000"/>
                </a:solidFill>
                <a:latin typeface="Times New Roman" panose="02020603050405020304" pitchFamily="18" charset="0"/>
              </a:rPr>
              <a:t>, which required a united political response. Despite these differences, Community members signed the </a:t>
            </a:r>
            <a:r>
              <a:rPr lang="en-GB" sz="1800" b="1" i="0" u="none" strike="noStrike" baseline="0" dirty="0">
                <a:solidFill>
                  <a:srgbClr val="000000"/>
                </a:solidFill>
                <a:latin typeface="Times New Roman" panose="02020603050405020304" pitchFamily="18" charset="0"/>
              </a:rPr>
              <a:t>Treaty of European Union (TEU) at Maastricht in December 1991</a:t>
            </a:r>
            <a:r>
              <a:rPr lang="en-GB" sz="1800" b="0" i="0" u="none" strike="noStrike" baseline="0" dirty="0">
                <a:solidFill>
                  <a:srgbClr val="000000"/>
                </a:solidFill>
                <a:latin typeface="Times New Roman" panose="02020603050405020304" pitchFamily="18" charset="0"/>
              </a:rPr>
              <a:t>.</a:t>
            </a:r>
            <a:endParaRPr lang="en-GB" dirty="0"/>
          </a:p>
        </p:txBody>
      </p:sp>
      <p:pic>
        <p:nvPicPr>
          <p:cNvPr id="4" name="Image 3"/>
          <p:cNvPicPr>
            <a:picLocks noChangeAspect="1"/>
          </p:cNvPicPr>
          <p:nvPr/>
        </p:nvPicPr>
        <p:blipFill>
          <a:blip r:embed="rId2"/>
          <a:stretch>
            <a:fillRect/>
          </a:stretch>
        </p:blipFill>
        <p:spPr>
          <a:xfrm>
            <a:off x="3350029" y="3277033"/>
            <a:ext cx="6188825" cy="3481214"/>
          </a:xfrm>
          <a:prstGeom prst="rect">
            <a:avLst/>
          </a:prstGeom>
        </p:spPr>
      </p:pic>
    </p:spTree>
    <p:extLst>
      <p:ext uri="{BB962C8B-B14F-4D97-AF65-F5344CB8AC3E}">
        <p14:creationId xmlns:p14="http://schemas.microsoft.com/office/powerpoint/2010/main" val="153250891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DA54E85-1230-4944-B11E-88C5448B5FD5}"/>
              </a:ext>
            </a:extLst>
          </p:cNvPr>
          <p:cNvSpPr>
            <a:spLocks noGrp="1"/>
          </p:cNvSpPr>
          <p:nvPr>
            <p:ph idx="1"/>
          </p:nvPr>
        </p:nvSpPr>
        <p:spPr>
          <a:xfrm>
            <a:off x="1251678" y="1233181"/>
            <a:ext cx="10178322" cy="4646411"/>
          </a:xfrm>
        </p:spPr>
        <p:txBody>
          <a:bodyPr/>
          <a:lstStyle/>
          <a:p>
            <a:pPr algn="just"/>
            <a:r>
              <a:rPr lang="en-GB" sz="1800" b="0" i="0" u="none" strike="noStrike" baseline="0" dirty="0">
                <a:solidFill>
                  <a:srgbClr val="000000"/>
                </a:solidFill>
                <a:latin typeface="Times New Roman" panose="02020603050405020304" pitchFamily="18" charset="0"/>
              </a:rPr>
              <a:t>The Treaty stated that the new Community would build on existing treaties and that the </a:t>
            </a:r>
            <a:r>
              <a:rPr lang="en-GB" sz="1800" b="1" i="0" u="none" strike="noStrike" baseline="0" dirty="0">
                <a:solidFill>
                  <a:srgbClr val="000000"/>
                </a:solidFill>
                <a:latin typeface="Times New Roman" panose="02020603050405020304" pitchFamily="18" charset="0"/>
              </a:rPr>
              <a:t>ultimate objective was economic and monetary union</a:t>
            </a:r>
            <a:r>
              <a:rPr lang="en-GB" sz="1800" b="0" i="0" u="none" strike="noStrike" baseline="0" dirty="0">
                <a:solidFill>
                  <a:srgbClr val="000000"/>
                </a:solidFill>
                <a:latin typeface="Times New Roman" panose="02020603050405020304" pitchFamily="18" charset="0"/>
              </a:rPr>
              <a:t>. </a:t>
            </a:r>
            <a:r>
              <a:rPr lang="en-GB" sz="1800" b="0" i="0" u="sng" strike="noStrike" baseline="0" dirty="0">
                <a:solidFill>
                  <a:srgbClr val="000000"/>
                </a:solidFill>
                <a:latin typeface="Times New Roman" panose="02020603050405020304" pitchFamily="18" charset="0"/>
              </a:rPr>
              <a:t>Foreign policy, defence, justice and home affairs would remain the preserve of member states</a:t>
            </a:r>
            <a:r>
              <a:rPr lang="en-GB" sz="1800" b="0" i="0" u="none" strike="noStrike" baseline="0" dirty="0">
                <a:solidFill>
                  <a:srgbClr val="000000"/>
                </a:solidFill>
                <a:latin typeface="Times New Roman" panose="02020603050405020304" pitchFamily="18" charset="0"/>
              </a:rPr>
              <a:t>. </a:t>
            </a:r>
            <a:r>
              <a:rPr lang="en-GB" sz="1800" b="0" i="0" u="none" strike="noStrike" baseline="0" dirty="0">
                <a:solidFill>
                  <a:schemeClr val="accent2">
                    <a:lumMod val="60000"/>
                    <a:lumOff val="40000"/>
                  </a:schemeClr>
                </a:solidFill>
                <a:latin typeface="Times New Roman" panose="02020603050405020304" pitchFamily="18" charset="0"/>
              </a:rPr>
              <a:t>British reservations won the British government an 'opt out' clause, enabling it to determine when it would join the third stage of economic and monetary union. Britain also refused to sign the Social Protocol, by which eleven Community members committed themselves to promoting employment and better living and working conditions</a:t>
            </a:r>
            <a:r>
              <a:rPr lang="en-GB" sz="1800" b="0" i="0" u="none" strike="noStrike" baseline="0" dirty="0">
                <a:solidFill>
                  <a:srgbClr val="000000"/>
                </a:solidFill>
                <a:latin typeface="Times New Roman" panose="02020603050405020304" pitchFamily="18" charset="0"/>
              </a:rPr>
              <a:t>. Maastricht also led to institutional reforms. </a:t>
            </a:r>
            <a:r>
              <a:rPr lang="en-GB" sz="1800" b="1" i="0" u="none" strike="noStrike" baseline="0" dirty="0">
                <a:solidFill>
                  <a:srgbClr val="000000"/>
                </a:solidFill>
                <a:latin typeface="Times New Roman" panose="02020603050405020304" pitchFamily="18" charset="0"/>
              </a:rPr>
              <a:t>Qualified majority voting in the Council and Parliament's powers were extended</a:t>
            </a:r>
            <a:r>
              <a:rPr lang="en-GB" sz="1800" b="0" i="0" u="none" strike="noStrike" baseline="0" dirty="0">
                <a:solidFill>
                  <a:srgbClr val="000000"/>
                </a:solidFill>
                <a:latin typeface="Times New Roman" panose="02020603050405020304" pitchFamily="18" charset="0"/>
              </a:rPr>
              <a:t>. Parliament was empowered to set up committees of enquiry. A Regional Committee was set up, enabling regional representatives to participate in decision making. A Cohesion Fund was to progress environmental and transport projects in less developed areas. </a:t>
            </a:r>
            <a:r>
              <a:rPr lang="en-GB" sz="1800" b="1" i="0" u="none" strike="noStrike" baseline="0" dirty="0">
                <a:solidFill>
                  <a:srgbClr val="000000"/>
                </a:solidFill>
                <a:latin typeface="Times New Roman" panose="02020603050405020304" pitchFamily="18" charset="0"/>
              </a:rPr>
              <a:t>The concept of common citizenship was emphasised</a:t>
            </a:r>
            <a:r>
              <a:rPr lang="en-GB" sz="1800" b="0" i="0" u="none" strike="noStrike" baseline="0" dirty="0">
                <a:solidFill>
                  <a:srgbClr val="000000"/>
                </a:solidFill>
                <a:latin typeface="Times New Roman" panose="02020603050405020304" pitchFamily="18" charset="0"/>
              </a:rPr>
              <a:t>. Finally, the principle of subsidiarity was adopted: this meant that policy decisions should be taken at the appropriate level. Britain interpreted this as offering a means by which the powers of the European Commission could be restricted.</a:t>
            </a:r>
            <a:endParaRPr lang="en-GB" dirty="0"/>
          </a:p>
        </p:txBody>
      </p:sp>
    </p:spTree>
    <p:extLst>
      <p:ext uri="{BB962C8B-B14F-4D97-AF65-F5344CB8AC3E}">
        <p14:creationId xmlns:p14="http://schemas.microsoft.com/office/powerpoint/2010/main" val="389750646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FFB54B8-777E-442E-9C81-9BE86B5A8148}"/>
              </a:ext>
            </a:extLst>
          </p:cNvPr>
          <p:cNvSpPr>
            <a:spLocks noGrp="1"/>
          </p:cNvSpPr>
          <p:nvPr>
            <p:ph idx="1"/>
          </p:nvPr>
        </p:nvSpPr>
        <p:spPr>
          <a:xfrm>
            <a:off x="1251678" y="830511"/>
            <a:ext cx="10178322" cy="5049082"/>
          </a:xfrm>
        </p:spPr>
        <p:txBody>
          <a:bodyPr/>
          <a:lstStyle/>
          <a:p>
            <a:pPr algn="just"/>
            <a:r>
              <a:rPr lang="en-GB" sz="1800" b="1" i="0" u="none" strike="noStrike" baseline="0" dirty="0">
                <a:solidFill>
                  <a:srgbClr val="000000"/>
                </a:solidFill>
                <a:latin typeface="Times New Roman" panose="02020603050405020304" pitchFamily="18" charset="0"/>
              </a:rPr>
              <a:t>The Maastricht Treaty turned the Economic Community into the European Union (EU). </a:t>
            </a:r>
            <a:r>
              <a:rPr lang="en-GB" sz="1800" b="0" i="0" u="none" strike="noStrike" baseline="0" dirty="0">
                <a:solidFill>
                  <a:srgbClr val="000000"/>
                </a:solidFill>
                <a:latin typeface="Times New Roman" panose="02020603050405020304" pitchFamily="18" charset="0"/>
              </a:rPr>
              <a:t>However, the Treaty did not come into effect until November 1993, eleven months late, because several states had difficulty in ratifying it. Referenda were held in three member states. There was increasing talk of a 'multi-speed Europe' in which some member states would progress towards integration at a much faster rate than others. </a:t>
            </a:r>
          </a:p>
          <a:p>
            <a:pPr algn="just"/>
            <a:r>
              <a:rPr lang="en-GB" sz="1800" b="0" i="0" u="none" strike="noStrike" baseline="0" dirty="0">
                <a:solidFill>
                  <a:srgbClr val="000000"/>
                </a:solidFill>
                <a:latin typeface="Times New Roman" panose="02020603050405020304" pitchFamily="18" charset="0"/>
              </a:rPr>
              <a:t>The role of the European Parliament also changed as the Community matured. Early limitations on Parliament's powers reflected the fact that federalism had few prominent supporters. Most member states wanted cooperation to stay at the level of intergovernmental agreement and no further. In December 1990 there were intergovernmental conferences to consider political as well as economic and monetary union. But there were strong disagreements about the allocation of power between Parliament, the Council of Ministers and the Commission. </a:t>
            </a:r>
            <a:r>
              <a:rPr lang="en-GB" sz="1800" b="1" i="0" u="none" strike="noStrike" baseline="0" dirty="0">
                <a:solidFill>
                  <a:srgbClr val="000000"/>
                </a:solidFill>
                <a:latin typeface="Times New Roman" panose="02020603050405020304" pitchFamily="18" charset="0"/>
              </a:rPr>
              <a:t>At one extreme the Italian Government supported federalism, at the other Britain wanted to retain virtually full national sovereignty</a:t>
            </a:r>
            <a:r>
              <a:rPr lang="en-GB" sz="1800" b="0" i="0" u="none" strike="noStrike" baseline="0" dirty="0">
                <a:solidFill>
                  <a:srgbClr val="000000"/>
                </a:solidFill>
                <a:latin typeface="Times New Roman" panose="02020603050405020304" pitchFamily="18" charset="0"/>
              </a:rPr>
              <a:t>. In all member states there were large numbers of opponents as well as supporters of the idea of further integration of both institutions and policies.</a:t>
            </a:r>
            <a:endParaRPr lang="en-GB" dirty="0"/>
          </a:p>
        </p:txBody>
      </p:sp>
    </p:spTree>
    <p:extLst>
      <p:ext uri="{BB962C8B-B14F-4D97-AF65-F5344CB8AC3E}">
        <p14:creationId xmlns:p14="http://schemas.microsoft.com/office/powerpoint/2010/main" val="229119843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537064F-173A-4FE1-8931-9CC1FA028DFF}"/>
              </a:ext>
            </a:extLst>
          </p:cNvPr>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lstStyle/>
          <a:p>
            <a:pPr algn="ctr"/>
            <a:r>
              <a:rPr lang="en-GB" dirty="0"/>
              <a:t>Activities</a:t>
            </a:r>
          </a:p>
        </p:txBody>
      </p:sp>
      <p:sp>
        <p:nvSpPr>
          <p:cNvPr id="3" name="Content Placeholder 2">
            <a:extLst>
              <a:ext uri="{FF2B5EF4-FFF2-40B4-BE49-F238E27FC236}">
                <a16:creationId xmlns:a16="http://schemas.microsoft.com/office/drawing/2014/main" xmlns="" id="{2C02EDA4-2491-403B-A09D-23AD46A199A7}"/>
              </a:ext>
            </a:extLst>
          </p:cNvPr>
          <p:cNvSpPr>
            <a:spLocks noGrp="1"/>
          </p:cNvSpPr>
          <p:nvPr>
            <p:ph idx="1"/>
          </p:nvPr>
        </p:nvSpPr>
        <p:spPr>
          <a:xfrm>
            <a:off x="1251678" y="1333851"/>
            <a:ext cx="10178322" cy="4545742"/>
          </a:xfrm>
        </p:spPr>
        <p:style>
          <a:lnRef idx="2">
            <a:schemeClr val="accent1">
              <a:shade val="50000"/>
            </a:schemeClr>
          </a:lnRef>
          <a:fillRef idx="1">
            <a:schemeClr val="accent1"/>
          </a:fillRef>
          <a:effectRef idx="0">
            <a:schemeClr val="accent1"/>
          </a:effectRef>
          <a:fontRef idx="minor">
            <a:schemeClr val="lt1"/>
          </a:fontRef>
        </p:style>
        <p:txBody>
          <a:bodyPr>
            <a:normAutofit/>
          </a:bodyPr>
          <a:lstStyle/>
          <a:p>
            <a:pPr algn="l"/>
            <a:endParaRPr lang="en-GB" sz="1800" b="0" i="0" u="none" strike="noStrike" baseline="0" dirty="0">
              <a:solidFill>
                <a:srgbClr val="000000"/>
              </a:solidFill>
              <a:latin typeface="Times New Roman" panose="02020603050405020304" pitchFamily="18" charset="0"/>
            </a:endParaRPr>
          </a:p>
          <a:p>
            <a:r>
              <a:rPr lang="en-GB" sz="1800" b="0" i="0" u="none" strike="noStrike" baseline="0" dirty="0">
                <a:solidFill>
                  <a:srgbClr val="000000"/>
                </a:solidFill>
                <a:latin typeface="Times New Roman" panose="02020603050405020304" pitchFamily="18" charset="0"/>
              </a:rPr>
              <a:t>1. Learn the dates and countries associated with the ‘seven processes of enlargement’. </a:t>
            </a:r>
          </a:p>
          <a:p>
            <a:endParaRPr lang="en-GB" sz="1800" b="0" i="0" u="none" strike="noStrike" baseline="0" dirty="0">
              <a:solidFill>
                <a:srgbClr val="000000"/>
              </a:solidFill>
              <a:latin typeface="Times New Roman" panose="02020603050405020304" pitchFamily="18" charset="0"/>
            </a:endParaRPr>
          </a:p>
          <a:p>
            <a:r>
              <a:rPr lang="en-GB" sz="1800" b="0" i="0" u="none" strike="noStrike" baseline="0" dirty="0">
                <a:solidFill>
                  <a:srgbClr val="000000"/>
                </a:solidFill>
                <a:latin typeface="Times New Roman" panose="02020603050405020304" pitchFamily="18" charset="0"/>
              </a:rPr>
              <a:t>2. Why was further enlargement from 1973 to 1992 a slow process that often faced significant opposition? </a:t>
            </a:r>
          </a:p>
          <a:p>
            <a:endParaRPr lang="en-GB" sz="1800" b="0" i="0" u="none" strike="noStrike" baseline="0" dirty="0">
              <a:solidFill>
                <a:srgbClr val="000000"/>
              </a:solidFill>
              <a:latin typeface="Times New Roman" panose="02020603050405020304" pitchFamily="18" charset="0"/>
            </a:endParaRPr>
          </a:p>
          <a:p>
            <a:r>
              <a:rPr lang="en-GB" sz="1800" b="0" i="0" u="none" strike="noStrike" baseline="0" dirty="0">
                <a:solidFill>
                  <a:srgbClr val="000000"/>
                </a:solidFill>
                <a:latin typeface="Times New Roman" panose="02020603050405020304" pitchFamily="18" charset="0"/>
              </a:rPr>
              <a:t>3. Thatcher and </a:t>
            </a:r>
            <a:r>
              <a:rPr lang="en-GB" sz="1800" b="0" i="0" u="none" strike="noStrike" baseline="0" dirty="0" err="1">
                <a:solidFill>
                  <a:srgbClr val="000000"/>
                </a:solidFill>
                <a:latin typeface="Times New Roman" panose="02020603050405020304" pitchFamily="18" charset="0"/>
              </a:rPr>
              <a:t>Delors</a:t>
            </a:r>
            <a:r>
              <a:rPr lang="en-GB" sz="1800" b="0" i="0" u="none" strike="noStrike" baseline="0" dirty="0">
                <a:solidFill>
                  <a:srgbClr val="000000"/>
                </a:solidFill>
                <a:latin typeface="Times New Roman" panose="02020603050405020304" pitchFamily="18" charset="0"/>
              </a:rPr>
              <a:t> personified two very different perspectives on the future of Europe, summarize these differences. </a:t>
            </a:r>
          </a:p>
          <a:p>
            <a:endParaRPr lang="en-GB" sz="1800" b="0" i="0" u="none" strike="noStrike" baseline="0" dirty="0">
              <a:solidFill>
                <a:srgbClr val="000000"/>
              </a:solidFill>
              <a:latin typeface="Times New Roman" panose="02020603050405020304" pitchFamily="18" charset="0"/>
            </a:endParaRPr>
          </a:p>
          <a:p>
            <a:r>
              <a:rPr lang="en-GB" sz="1800" b="0" i="0" u="none" strike="noStrike" baseline="0" dirty="0">
                <a:solidFill>
                  <a:srgbClr val="000000"/>
                </a:solidFill>
                <a:latin typeface="Times New Roman" panose="02020603050405020304" pitchFamily="18" charset="0"/>
              </a:rPr>
              <a:t>4. What steps were taken towards greater integration from 1973 to 1992? (Examples and dates are useful here) What opposition was faced and why? </a:t>
            </a:r>
          </a:p>
          <a:p>
            <a:endParaRPr lang="en-GB" sz="1800" b="0" i="0" u="none" strike="noStrike" baseline="0" dirty="0">
              <a:solidFill>
                <a:srgbClr val="000000"/>
              </a:solidFill>
              <a:latin typeface="Times New Roman" panose="02020603050405020304" pitchFamily="18" charset="0"/>
            </a:endParaRPr>
          </a:p>
          <a:p>
            <a:r>
              <a:rPr lang="en-GB" sz="1800" b="0" i="0" u="none" strike="noStrike" baseline="0" dirty="0">
                <a:solidFill>
                  <a:srgbClr val="000000"/>
                </a:solidFill>
                <a:latin typeface="Times New Roman" panose="02020603050405020304" pitchFamily="18" charset="0"/>
              </a:rPr>
              <a:t>5. Summarise the main features of the Maastricht Treaty. </a:t>
            </a:r>
          </a:p>
          <a:p>
            <a:endParaRPr lang="en-GB" dirty="0"/>
          </a:p>
        </p:txBody>
      </p:sp>
    </p:spTree>
    <p:extLst>
      <p:ext uri="{BB962C8B-B14F-4D97-AF65-F5344CB8AC3E}">
        <p14:creationId xmlns:p14="http://schemas.microsoft.com/office/powerpoint/2010/main" val="66301593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 id="{594023C4-AD22-44D9-B6A5-4DE0A9E82865}"/>
              </a:ext>
            </a:extLst>
          </p:cNvPr>
          <p:cNvSpPr>
            <a:spLocks noGrp="1"/>
          </p:cNvSpPr>
          <p:nvPr>
            <p:ph type="ctrTitle"/>
          </p:nvPr>
        </p:nvSpPr>
        <p:spPr/>
        <p:txBody>
          <a:bodyPr/>
          <a:lstStyle/>
          <a:p>
            <a:r>
              <a:rPr lang="en-GB" dirty="0"/>
              <a:t>Europe since Maastricht</a:t>
            </a:r>
          </a:p>
        </p:txBody>
      </p:sp>
      <p:sp>
        <p:nvSpPr>
          <p:cNvPr id="3" name="Υπότιτλος 2">
            <a:extLst>
              <a:ext uri="{FF2B5EF4-FFF2-40B4-BE49-F238E27FC236}">
                <a16:creationId xmlns:a16="http://schemas.microsoft.com/office/drawing/2014/main" xmlns="" id="{C32C2348-1B89-4738-A293-532B2F63B223}"/>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8757260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 id="{BD43F849-C420-48AD-9221-F96D8AFD2682}"/>
              </a:ext>
            </a:extLst>
          </p:cNvPr>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lstStyle/>
          <a:p>
            <a:pPr algn="ctr"/>
            <a:r>
              <a:rPr lang="en-GB" dirty="0"/>
              <a:t>Key events to the present day</a:t>
            </a:r>
          </a:p>
        </p:txBody>
      </p:sp>
      <p:sp>
        <p:nvSpPr>
          <p:cNvPr id="3" name="Θέση περιεχομένου 2">
            <a:extLst>
              <a:ext uri="{FF2B5EF4-FFF2-40B4-BE49-F238E27FC236}">
                <a16:creationId xmlns:a16="http://schemas.microsoft.com/office/drawing/2014/main" xmlns="" id="{D044F8E6-80D6-47D9-B753-44141A006966}"/>
              </a:ext>
            </a:extLst>
          </p:cNvPr>
          <p:cNvSpPr>
            <a:spLocks noGrp="1"/>
          </p:cNvSpPr>
          <p:nvPr>
            <p:ph idx="1"/>
          </p:nvPr>
        </p:nvSpPr>
        <p:spPr>
          <a:xfrm>
            <a:off x="1251678" y="2286002"/>
            <a:ext cx="10178322" cy="2447924"/>
          </a:xfrm>
        </p:spPr>
        <p:txBody>
          <a:bodyPr>
            <a:normAutofit lnSpcReduction="10000"/>
          </a:bodyPr>
          <a:lstStyle/>
          <a:p>
            <a:endParaRPr lang="en-GB" dirty="0"/>
          </a:p>
          <a:p>
            <a:r>
              <a:rPr lang="en-GB" dirty="0"/>
              <a:t> </a:t>
            </a:r>
            <a:r>
              <a:rPr lang="en-GB" b="1" dirty="0"/>
              <a:t>1993 – </a:t>
            </a:r>
            <a:r>
              <a:rPr lang="en-GB" dirty="0"/>
              <a:t>Copenhagen criteria of accession defined. </a:t>
            </a:r>
            <a:r>
              <a:rPr lang="en-GB" b="1" dirty="0"/>
              <a:t>1995 – </a:t>
            </a:r>
            <a:r>
              <a:rPr lang="en-GB" dirty="0"/>
              <a:t>Accession of Austria, Finland and Sweden. </a:t>
            </a:r>
            <a:r>
              <a:rPr lang="en-GB" b="1" dirty="0"/>
              <a:t>1999 – </a:t>
            </a:r>
            <a:r>
              <a:rPr lang="en-GB" dirty="0"/>
              <a:t>Fraud in the Commission results in resignation. </a:t>
            </a:r>
            <a:r>
              <a:rPr lang="en-GB" b="1" dirty="0"/>
              <a:t>2002 – </a:t>
            </a:r>
            <a:r>
              <a:rPr lang="en-GB" dirty="0"/>
              <a:t>The euro replaces twelve national currencies. </a:t>
            </a:r>
            <a:r>
              <a:rPr lang="en-GB" b="1" dirty="0"/>
              <a:t>2004 – </a:t>
            </a:r>
            <a:r>
              <a:rPr lang="en-GB" dirty="0"/>
              <a:t>Accession of ten countries</a:t>
            </a:r>
            <a:r>
              <a:rPr lang="en-GB" b="1" dirty="0"/>
              <a:t>; </a:t>
            </a:r>
            <a:r>
              <a:rPr lang="en-GB" dirty="0"/>
              <a:t>signing of Constitution. </a:t>
            </a:r>
            <a:r>
              <a:rPr lang="en-GB" b="1" dirty="0"/>
              <a:t>2005 – </a:t>
            </a:r>
            <a:r>
              <a:rPr lang="en-GB" dirty="0"/>
              <a:t>France and the Netherlands reject the Constitution. </a:t>
            </a:r>
            <a:r>
              <a:rPr lang="en-GB" b="1" dirty="0"/>
              <a:t>2007 – </a:t>
            </a:r>
            <a:r>
              <a:rPr lang="en-GB" dirty="0"/>
              <a:t>Accession of Bulgaria and Romania. </a:t>
            </a:r>
            <a:r>
              <a:rPr lang="en-GB" b="1" dirty="0"/>
              <a:t>2009 – Lisbon Treaty. 2013 – </a:t>
            </a:r>
            <a:r>
              <a:rPr lang="en-GB" dirty="0"/>
              <a:t>Accession of Croatia. </a:t>
            </a:r>
            <a:r>
              <a:rPr lang="en-GB" b="1" dirty="0"/>
              <a:t>2020 </a:t>
            </a:r>
            <a:r>
              <a:rPr lang="en-GB" b="1" dirty="0" smtClean="0"/>
              <a:t>– Brexit</a:t>
            </a:r>
          </a:p>
          <a:p>
            <a:r>
              <a:rPr lang="en-GB" b="1" dirty="0" smtClean="0"/>
              <a:t>2022. Russian invasion of Ukraine. 2023. Gaza War/Genocide </a:t>
            </a:r>
            <a:r>
              <a:rPr lang="en-GB" b="1" smtClean="0"/>
              <a:t>after October 7th</a:t>
            </a:r>
            <a:endParaRPr lang="en-GB" b="1" dirty="0"/>
          </a:p>
        </p:txBody>
      </p:sp>
    </p:spTree>
    <p:extLst>
      <p:ext uri="{BB962C8B-B14F-4D97-AF65-F5344CB8AC3E}">
        <p14:creationId xmlns:p14="http://schemas.microsoft.com/office/powerpoint/2010/main" val="305574029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 id="{AF4F3826-4278-4A78-8C17-D5BE5F3AA1A4}"/>
              </a:ext>
            </a:extLst>
          </p:cNvPr>
          <p:cNvSpPr>
            <a:spLocks noGrp="1"/>
          </p:cNvSpPr>
          <p:nvPr>
            <p:ph type="title"/>
          </p:nvPr>
        </p:nvSpPr>
        <p:spPr/>
        <p:txBody>
          <a:bodyPr/>
          <a:lstStyle/>
          <a:p>
            <a:pPr algn="ctr"/>
            <a:r>
              <a:rPr lang="en-GB" dirty="0"/>
              <a:t>Further Enlargement</a:t>
            </a:r>
          </a:p>
        </p:txBody>
      </p:sp>
      <p:sp>
        <p:nvSpPr>
          <p:cNvPr id="3" name="Θέση περιεχομένου 2">
            <a:extLst>
              <a:ext uri="{FF2B5EF4-FFF2-40B4-BE49-F238E27FC236}">
                <a16:creationId xmlns:a16="http://schemas.microsoft.com/office/drawing/2014/main" xmlns="" id="{61693931-4829-4056-97C1-970E3DA42B8A}"/>
              </a:ext>
            </a:extLst>
          </p:cNvPr>
          <p:cNvSpPr>
            <a:spLocks noGrp="1"/>
          </p:cNvSpPr>
          <p:nvPr>
            <p:ph idx="1"/>
          </p:nvPr>
        </p:nvSpPr>
        <p:spPr>
          <a:xfrm>
            <a:off x="927482" y="1874517"/>
            <a:ext cx="3486577" cy="3593591"/>
          </a:xfrm>
        </p:spPr>
        <p:txBody>
          <a:bodyPr>
            <a:normAutofit fontScale="85000" lnSpcReduction="10000"/>
          </a:bodyPr>
          <a:lstStyle/>
          <a:p>
            <a:endParaRPr lang="en-GB" dirty="0"/>
          </a:p>
          <a:p>
            <a:pPr algn="just"/>
            <a:r>
              <a:rPr lang="en-GB" dirty="0"/>
              <a:t> On the principle that it was best to be part of the decision-making process, </a:t>
            </a:r>
            <a:r>
              <a:rPr lang="en-GB" b="1" dirty="0"/>
              <a:t>Austria, Sweden and Finland all joined the Community in 1995</a:t>
            </a:r>
            <a:r>
              <a:rPr lang="en-GB" dirty="0"/>
              <a:t>. Norway did not join after another negative referendum vote. Apart from Iceland and Switzerland, which had bilateral agreements with the Community, Norway was the only Western European country still outside the European Union. </a:t>
            </a:r>
          </a:p>
        </p:txBody>
      </p:sp>
      <p:pic>
        <p:nvPicPr>
          <p:cNvPr id="4" name="Image 3"/>
          <p:cNvPicPr>
            <a:picLocks noChangeAspect="1"/>
          </p:cNvPicPr>
          <p:nvPr/>
        </p:nvPicPr>
        <p:blipFill>
          <a:blip r:embed="rId2"/>
          <a:stretch>
            <a:fillRect/>
          </a:stretch>
        </p:blipFill>
        <p:spPr>
          <a:xfrm>
            <a:off x="4974882" y="1645919"/>
            <a:ext cx="5894294" cy="4509135"/>
          </a:xfrm>
          <a:prstGeom prst="rect">
            <a:avLst/>
          </a:prstGeom>
        </p:spPr>
      </p:pic>
    </p:spTree>
    <p:extLst>
      <p:ext uri="{BB962C8B-B14F-4D97-AF65-F5344CB8AC3E}">
        <p14:creationId xmlns:p14="http://schemas.microsoft.com/office/powerpoint/2010/main" val="21950128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Θέση περιεχομένου 2">
            <a:extLst>
              <a:ext uri="{FF2B5EF4-FFF2-40B4-BE49-F238E27FC236}">
                <a16:creationId xmlns:a16="http://schemas.microsoft.com/office/drawing/2014/main" xmlns="" id="{2C326FC5-54EF-43BE-A3CE-35A6A9DF9165}"/>
              </a:ext>
            </a:extLst>
          </p:cNvPr>
          <p:cNvSpPr>
            <a:spLocks noGrp="1"/>
          </p:cNvSpPr>
          <p:nvPr>
            <p:ph idx="1"/>
          </p:nvPr>
        </p:nvSpPr>
        <p:spPr>
          <a:xfrm>
            <a:off x="1080228" y="1051179"/>
            <a:ext cx="10178322" cy="4755642"/>
          </a:xfrm>
        </p:spPr>
        <p:txBody>
          <a:bodyPr>
            <a:normAutofit lnSpcReduction="10000"/>
          </a:bodyPr>
          <a:lstStyle/>
          <a:p>
            <a:endParaRPr lang="en-GB" dirty="0"/>
          </a:p>
          <a:p>
            <a:pPr algn="just"/>
            <a:r>
              <a:rPr lang="en-GB" dirty="0"/>
              <a:t> The Central and Eastern European states keen on membership of the EU faced a different challenge. Their economic development lagged behind that of existing member states, so their economies would have been too vulnerable for immediate exposure to Western European competition. </a:t>
            </a:r>
            <a:r>
              <a:rPr lang="en-GB" b="1" dirty="0"/>
              <a:t>Poland, the Czech and Slovak Republics, Hungary, Romania and Bulgaria were granted ten-year 'Europe Agreements' which allowed them some free trade with the EEC</a:t>
            </a:r>
            <a:r>
              <a:rPr lang="en-GB" dirty="0"/>
              <a:t>. In July </a:t>
            </a:r>
            <a:r>
              <a:rPr lang="en-GB" b="1" dirty="0"/>
              <a:t>1997, it was agreed that Poland, Hungary, the Czech Republic, Slovenia, Estonia and Cyprus had achieved the necessary economic and political reforms (Copenhagen criteria) to allow negotiations to join the Union to begin in 1998</a:t>
            </a:r>
            <a:r>
              <a:rPr lang="en-GB" dirty="0"/>
              <a:t>. </a:t>
            </a:r>
            <a:r>
              <a:rPr lang="en-GB" dirty="0">
                <a:solidFill>
                  <a:srgbClr val="FF0000"/>
                </a:solidFill>
              </a:rPr>
              <a:t>Latvia, Lithuania, Romania, Bulgaria and Slovakia were ruled out </a:t>
            </a:r>
            <a:r>
              <a:rPr lang="en-GB" dirty="0"/>
              <a:t>of membership on the grounds that they still had significant political or economic problems. All these problems were eventually addressed in time for the </a:t>
            </a:r>
            <a:r>
              <a:rPr lang="en-GB" dirty="0">
                <a:solidFill>
                  <a:srgbClr val="0070C0"/>
                </a:solidFill>
              </a:rPr>
              <a:t>biggest single enlargement in 2004 and as second in 2007 which finally saw Romania and Bulgaria join</a:t>
            </a:r>
            <a:r>
              <a:rPr lang="en-GB" dirty="0"/>
              <a:t>. </a:t>
            </a:r>
            <a:r>
              <a:rPr lang="en-GB" dirty="0">
                <a:solidFill>
                  <a:srgbClr val="00B050"/>
                </a:solidFill>
              </a:rPr>
              <a:t>2013 saw the accession of Croatia </a:t>
            </a:r>
            <a:r>
              <a:rPr lang="en-GB" dirty="0"/>
              <a:t>the 28th member of the Union. </a:t>
            </a:r>
          </a:p>
        </p:txBody>
      </p:sp>
    </p:spTree>
    <p:extLst>
      <p:ext uri="{BB962C8B-B14F-4D97-AF65-F5344CB8AC3E}">
        <p14:creationId xmlns:p14="http://schemas.microsoft.com/office/powerpoint/2010/main" val="377700605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 id="{9E40D38A-0E50-40C0-9979-5A5A2CD05F7A}"/>
              </a:ext>
            </a:extLst>
          </p:cNvPr>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lstStyle/>
          <a:p>
            <a:pPr algn="ctr"/>
            <a:r>
              <a:rPr lang="en-GB" dirty="0"/>
              <a:t>Candidate countries and the Turkish issue</a:t>
            </a:r>
          </a:p>
        </p:txBody>
      </p:sp>
      <p:sp>
        <p:nvSpPr>
          <p:cNvPr id="3" name="Θέση περιεχομένου 2">
            <a:extLst>
              <a:ext uri="{FF2B5EF4-FFF2-40B4-BE49-F238E27FC236}">
                <a16:creationId xmlns:a16="http://schemas.microsoft.com/office/drawing/2014/main" xmlns="" id="{DC49AE76-B827-4BFB-AE1A-5BAAE5C8FAFE}"/>
              </a:ext>
            </a:extLst>
          </p:cNvPr>
          <p:cNvSpPr>
            <a:spLocks noGrp="1"/>
          </p:cNvSpPr>
          <p:nvPr>
            <p:ph idx="1"/>
          </p:nvPr>
        </p:nvSpPr>
        <p:spPr>
          <a:xfrm>
            <a:off x="1251678" y="1952625"/>
            <a:ext cx="5814140" cy="3926967"/>
          </a:xfrm>
        </p:spPr>
        <p:txBody>
          <a:bodyPr>
            <a:normAutofit fontScale="85000" lnSpcReduction="10000"/>
          </a:bodyPr>
          <a:lstStyle/>
          <a:p>
            <a:endParaRPr lang="en-GB" dirty="0"/>
          </a:p>
          <a:p>
            <a:pPr algn="just"/>
            <a:r>
              <a:rPr lang="en-GB" dirty="0"/>
              <a:t> After suffering in the recent banking crisis </a:t>
            </a:r>
            <a:r>
              <a:rPr lang="en-GB" b="1" dirty="0"/>
              <a:t>Iceland has made a formal application </a:t>
            </a:r>
            <a:r>
              <a:rPr lang="en-GB" dirty="0"/>
              <a:t>to join the EU. If disputes over fisheries are resolved and the Icelandic people vote positively in a referendum, then Iceland could join the Union relatively quickly. In an ongoing program of enlargement, there are </a:t>
            </a:r>
            <a:r>
              <a:rPr lang="en-GB" b="1" dirty="0"/>
              <a:t>five other candidates: Albania, </a:t>
            </a:r>
            <a:r>
              <a:rPr lang="en-GB" b="1" dirty="0" smtClean="0"/>
              <a:t>Northern Macedonia</a:t>
            </a:r>
            <a:r>
              <a:rPr lang="en-GB" b="1" dirty="0"/>
              <a:t>, Montenegro, Serbia, and Turkey.</a:t>
            </a:r>
            <a:r>
              <a:rPr lang="en-GB" dirty="0"/>
              <a:t> Also within the enlargement agenda are the states of </a:t>
            </a:r>
            <a:r>
              <a:rPr lang="en-GB" b="1" dirty="0"/>
              <a:t>Bosnia-Herzegovina and Kosovo.</a:t>
            </a:r>
            <a:r>
              <a:rPr lang="en-GB" dirty="0"/>
              <a:t> </a:t>
            </a:r>
            <a:r>
              <a:rPr lang="en-GB" dirty="0">
                <a:solidFill>
                  <a:srgbClr val="C00000"/>
                </a:solidFill>
              </a:rPr>
              <a:t>Turkey's long-standing application for membership still has to be addressed. Turkey's dispute with Greece over Cyprus, an existing member of the Union, remains one of but not the only problem</a:t>
            </a:r>
            <a:r>
              <a:rPr lang="en-GB" dirty="0"/>
              <a:t>. </a:t>
            </a:r>
          </a:p>
        </p:txBody>
      </p:sp>
      <p:pic>
        <p:nvPicPr>
          <p:cNvPr id="4" name="Image 3"/>
          <p:cNvPicPr>
            <a:picLocks noChangeAspect="1"/>
          </p:cNvPicPr>
          <p:nvPr/>
        </p:nvPicPr>
        <p:blipFill>
          <a:blip r:embed="rId2"/>
          <a:stretch>
            <a:fillRect/>
          </a:stretch>
        </p:blipFill>
        <p:spPr>
          <a:xfrm>
            <a:off x="7583459" y="2032548"/>
            <a:ext cx="3143250" cy="4505325"/>
          </a:xfrm>
          <a:prstGeom prst="rect">
            <a:avLst/>
          </a:prstGeom>
        </p:spPr>
      </p:pic>
    </p:spTree>
    <p:extLst>
      <p:ext uri="{BB962C8B-B14F-4D97-AF65-F5344CB8AC3E}">
        <p14:creationId xmlns:p14="http://schemas.microsoft.com/office/powerpoint/2010/main" val="421236578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 id="{7C10B061-04C5-4834-8C86-1A5AAF9B1002}"/>
              </a:ext>
            </a:extLst>
          </p:cNvPr>
          <p:cNvSpPr>
            <a:spLocks noGrp="1"/>
          </p:cNvSpPr>
          <p:nvPr>
            <p:ph type="title"/>
          </p:nvPr>
        </p:nvSpPr>
        <p:spPr/>
        <p:txBody>
          <a:bodyPr/>
          <a:lstStyle/>
          <a:p>
            <a:pPr algn="ctr"/>
            <a:r>
              <a:rPr lang="en-GB" dirty="0"/>
              <a:t>Further integration</a:t>
            </a:r>
          </a:p>
        </p:txBody>
      </p:sp>
      <p:sp>
        <p:nvSpPr>
          <p:cNvPr id="3" name="Θέση περιεχομένου 2">
            <a:extLst>
              <a:ext uri="{FF2B5EF4-FFF2-40B4-BE49-F238E27FC236}">
                <a16:creationId xmlns:a16="http://schemas.microsoft.com/office/drawing/2014/main" xmlns="" id="{755170DA-B041-4AE3-B616-93F631B329FF}"/>
              </a:ext>
            </a:extLst>
          </p:cNvPr>
          <p:cNvSpPr>
            <a:spLocks noGrp="1"/>
          </p:cNvSpPr>
          <p:nvPr>
            <p:ph idx="1"/>
          </p:nvPr>
        </p:nvSpPr>
        <p:spPr>
          <a:xfrm>
            <a:off x="1251678" y="1181101"/>
            <a:ext cx="10178322" cy="4698492"/>
          </a:xfrm>
        </p:spPr>
        <p:txBody>
          <a:bodyPr>
            <a:normAutofit/>
          </a:bodyPr>
          <a:lstStyle/>
          <a:p>
            <a:endParaRPr lang="en-GB" dirty="0"/>
          </a:p>
          <a:p>
            <a:pPr algn="just"/>
            <a:r>
              <a:rPr lang="en-GB" dirty="0"/>
              <a:t> </a:t>
            </a:r>
            <a:r>
              <a:rPr lang="en-GB" dirty="0">
                <a:solidFill>
                  <a:srgbClr val="C00000"/>
                </a:solidFill>
              </a:rPr>
              <a:t>Norway, Iceland and Liechtenstein </a:t>
            </a:r>
            <a:r>
              <a:rPr lang="en-GB" dirty="0"/>
              <a:t>joined the </a:t>
            </a:r>
            <a:r>
              <a:rPr lang="en-GB" b="1" dirty="0"/>
              <a:t>European Economic Area </a:t>
            </a:r>
            <a:r>
              <a:rPr lang="en-GB" dirty="0"/>
              <a:t>(which entered into force on 1 January 1994), an organisation that allowed European Free Trade Association states to enter the Single European Market. The following year, the </a:t>
            </a:r>
            <a:r>
              <a:rPr lang="en-GB" dirty="0">
                <a:solidFill>
                  <a:srgbClr val="C00000"/>
                </a:solidFill>
              </a:rPr>
              <a:t>Schengen Agreement came into force</a:t>
            </a:r>
            <a:r>
              <a:rPr lang="en-GB" dirty="0"/>
              <a:t>. The 1990s also saw the further development of the euro. 1 January 1994 saw the second stage of the Economic and Monetary Union of the European Union begin with the establishment of the </a:t>
            </a:r>
            <a:r>
              <a:rPr lang="en-GB" b="1" dirty="0"/>
              <a:t>European Monetary Institute and at the start of 1999 the euro as a currency was launched and the European Central Bank was established. On 1 January 2002, notes and coins were put into circulation, replacing the old currencies entirely</a:t>
            </a:r>
            <a:r>
              <a:rPr lang="en-GB" dirty="0"/>
              <a:t>. The European Defence Agency (EDA) was set up in 2004, it is a Common Foreign and Security Policy (CFSP) body reporting to the Council of the European Union. Its primary role is to foster European defence cooperation. </a:t>
            </a:r>
          </a:p>
        </p:txBody>
      </p:sp>
    </p:spTree>
    <p:extLst>
      <p:ext uri="{BB962C8B-B14F-4D97-AF65-F5344CB8AC3E}">
        <p14:creationId xmlns:p14="http://schemas.microsoft.com/office/powerpoint/2010/main" val="428411931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 id="{BC00B3D3-4C6F-4F76-BF8C-FE9EB6C60F5F}"/>
              </a:ext>
            </a:extLst>
          </p:cNvPr>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lstStyle/>
          <a:p>
            <a:pPr algn="ctr"/>
            <a:r>
              <a:rPr lang="en-GB" dirty="0"/>
              <a:t>The Foreign Policy challenge</a:t>
            </a:r>
          </a:p>
        </p:txBody>
      </p:sp>
      <p:sp>
        <p:nvSpPr>
          <p:cNvPr id="3" name="Θέση περιεχομένου 2">
            <a:extLst>
              <a:ext uri="{FF2B5EF4-FFF2-40B4-BE49-F238E27FC236}">
                <a16:creationId xmlns:a16="http://schemas.microsoft.com/office/drawing/2014/main" xmlns="" id="{0E49FABE-6C32-4EA8-8641-3E957C2857CC}"/>
              </a:ext>
            </a:extLst>
          </p:cNvPr>
          <p:cNvSpPr>
            <a:spLocks noGrp="1"/>
          </p:cNvSpPr>
          <p:nvPr>
            <p:ph idx="1"/>
          </p:nvPr>
        </p:nvSpPr>
        <p:spPr>
          <a:xfrm>
            <a:off x="1251678" y="1874517"/>
            <a:ext cx="10178322" cy="4601098"/>
          </a:xfrm>
        </p:spPr>
        <p:txBody>
          <a:bodyPr>
            <a:normAutofit/>
          </a:bodyPr>
          <a:lstStyle/>
          <a:p>
            <a:pPr algn="just"/>
            <a:r>
              <a:rPr lang="en-GB" b="1" dirty="0"/>
              <a:t>During the 1990s, conflicts in the Balkans gave impetus to developing the EU's Common Foreign and Security Policy (CFSP). The EU failed to react during the beginning of the conflict, and European UN peacekeepers failed to prevent the Srebrenica massacre (July 1995) in Bosnia and Herzegovina, the largest mass murder in Europe since the Second World War. </a:t>
            </a:r>
            <a:r>
              <a:rPr lang="en-GB" dirty="0"/>
              <a:t>The North Atlantic Treaty Organization (NATO) finally had to intervene in the war, forcing the combatants to the negotiation table. These events led to </a:t>
            </a:r>
            <a:r>
              <a:rPr lang="en-GB" b="1" dirty="0"/>
              <a:t>foreign policy being emphasised in the Treaty of Amsterdam 1999</a:t>
            </a:r>
            <a:r>
              <a:rPr lang="en-GB" dirty="0"/>
              <a:t>, which marked the beginning of a common European foreign and security policy (CFSP) and which created the High Representative. In 2013 the diplomatic role of Higher Representative developed significantly after the Lisbon Treaty with Catherine Ashton (2010-14) central to the agreement between Serbia and Kosovo that normalised their ties. Events in the </a:t>
            </a:r>
            <a:r>
              <a:rPr lang="en-GB" b="1" dirty="0"/>
              <a:t>Ukraine crisis (from 2013) </a:t>
            </a:r>
            <a:r>
              <a:rPr lang="en-GB" dirty="0"/>
              <a:t>put renewed pressure of the EU to be able to provide a collective military response. </a:t>
            </a:r>
          </a:p>
        </p:txBody>
      </p:sp>
    </p:spTree>
    <p:extLst>
      <p:ext uri="{BB962C8B-B14F-4D97-AF65-F5344CB8AC3E}">
        <p14:creationId xmlns:p14="http://schemas.microsoft.com/office/powerpoint/2010/main" val="161557849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 id="{B03DFF0A-6E1D-4D05-B666-B094EED29B99}"/>
              </a:ext>
            </a:extLst>
          </p:cNvPr>
          <p:cNvSpPr>
            <a:spLocks noGrp="1"/>
          </p:cNvSpPr>
          <p:nvPr>
            <p:ph type="title"/>
          </p:nvPr>
        </p:nvSpPr>
        <p:spPr>
          <a:xfrm>
            <a:off x="1146903" y="232342"/>
            <a:ext cx="10178322" cy="1492132"/>
          </a:xfrm>
        </p:spPr>
        <p:style>
          <a:lnRef idx="2">
            <a:schemeClr val="accent2">
              <a:shade val="50000"/>
            </a:schemeClr>
          </a:lnRef>
          <a:fillRef idx="1">
            <a:schemeClr val="accent2"/>
          </a:fillRef>
          <a:effectRef idx="0">
            <a:schemeClr val="accent2"/>
          </a:effectRef>
          <a:fontRef idx="minor">
            <a:schemeClr val="lt1"/>
          </a:fontRef>
        </p:style>
        <p:txBody>
          <a:bodyPr>
            <a:normAutofit/>
          </a:bodyPr>
          <a:lstStyle/>
          <a:p>
            <a:pPr algn="ctr"/>
            <a:r>
              <a:rPr lang="en-GB" sz="3200" dirty="0"/>
              <a:t>Political crises, rising </a:t>
            </a:r>
            <a:r>
              <a:rPr lang="en-GB" sz="3200" dirty="0" err="1"/>
              <a:t>euroscepticism</a:t>
            </a:r>
            <a:r>
              <a:rPr lang="en-GB" sz="3200" dirty="0"/>
              <a:t> and a two track Europe?</a:t>
            </a:r>
          </a:p>
        </p:txBody>
      </p:sp>
      <p:sp>
        <p:nvSpPr>
          <p:cNvPr id="3" name="Θέση περιεχομένου 2">
            <a:extLst>
              <a:ext uri="{FF2B5EF4-FFF2-40B4-BE49-F238E27FC236}">
                <a16:creationId xmlns:a16="http://schemas.microsoft.com/office/drawing/2014/main" xmlns="" id="{FA690D2C-77E6-4506-A975-5AD5CBD4260D}"/>
              </a:ext>
            </a:extLst>
          </p:cNvPr>
          <p:cNvSpPr>
            <a:spLocks noGrp="1"/>
          </p:cNvSpPr>
          <p:nvPr>
            <p:ph idx="1"/>
          </p:nvPr>
        </p:nvSpPr>
        <p:spPr>
          <a:xfrm>
            <a:off x="1251678" y="1724475"/>
            <a:ext cx="10178322" cy="4155118"/>
          </a:xfrm>
        </p:spPr>
        <p:txBody>
          <a:bodyPr/>
          <a:lstStyle/>
          <a:p>
            <a:pPr algn="just"/>
            <a:r>
              <a:rPr lang="en-GB" b="1" dirty="0"/>
              <a:t>The Parliament refused to approve the Commission's 1996 community's budget on grounds of financial mismanagement, fraud and nepotism</a:t>
            </a:r>
            <a:r>
              <a:rPr lang="en-GB" dirty="0"/>
              <a:t>. With Parliament ready to throw them out, the entire </a:t>
            </a:r>
            <a:r>
              <a:rPr lang="en-GB" dirty="0" err="1"/>
              <a:t>Santer</a:t>
            </a:r>
            <a:r>
              <a:rPr lang="en-GB" dirty="0"/>
              <a:t> Commission resigned. The post-</a:t>
            </a:r>
            <a:r>
              <a:rPr lang="en-GB" dirty="0" err="1"/>
              <a:t>Delors</a:t>
            </a:r>
            <a:r>
              <a:rPr lang="en-GB" dirty="0"/>
              <a:t> mood of </a:t>
            </a:r>
            <a:r>
              <a:rPr lang="en-GB" b="1" dirty="0" err="1"/>
              <a:t>euroscepticism</a:t>
            </a:r>
            <a:r>
              <a:rPr lang="en-GB" dirty="0"/>
              <a:t> wase reinforced with the Council and Parliament constantly challenging the Commission's position. In </a:t>
            </a:r>
            <a:r>
              <a:rPr lang="en-GB" b="1" dirty="0"/>
              <a:t>European Parliament elections in 2014, 25% of the votes were cast for </a:t>
            </a:r>
            <a:r>
              <a:rPr lang="en-GB" b="1" dirty="0" err="1"/>
              <a:t>eurosceptic</a:t>
            </a:r>
            <a:r>
              <a:rPr lang="en-GB" b="1" dirty="0"/>
              <a:t> parties. In Britain, France, Denmark and Greece, </a:t>
            </a:r>
            <a:r>
              <a:rPr lang="en-GB" b="1" dirty="0" err="1"/>
              <a:t>eurosceptic</a:t>
            </a:r>
            <a:r>
              <a:rPr lang="en-GB" b="1" dirty="0"/>
              <a:t> parties won the biggest number of seats</a:t>
            </a:r>
            <a:r>
              <a:rPr lang="en-GB" dirty="0"/>
              <a:t>. As much of a concern was the voter turnout of 43%, the lowest on record. </a:t>
            </a:r>
          </a:p>
        </p:txBody>
      </p:sp>
    </p:spTree>
    <p:extLst>
      <p:ext uri="{BB962C8B-B14F-4D97-AF65-F5344CB8AC3E}">
        <p14:creationId xmlns:p14="http://schemas.microsoft.com/office/powerpoint/2010/main" val="325346391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 id="{3AAD082C-9085-4892-A654-61D6BA6BDB73}"/>
              </a:ext>
            </a:extLst>
          </p:cNvPr>
          <p:cNvSpPr>
            <a:spLocks noGrp="1"/>
          </p:cNvSpPr>
          <p:nvPr>
            <p:ph type="title"/>
          </p:nvPr>
        </p:nvSpPr>
        <p:spPr/>
        <p:txBody>
          <a:bodyPr/>
          <a:lstStyle/>
          <a:p>
            <a:endParaRPr lang="en-GB"/>
          </a:p>
        </p:txBody>
      </p:sp>
      <p:sp>
        <p:nvSpPr>
          <p:cNvPr id="3" name="Θέση περιεχομένου 2">
            <a:extLst>
              <a:ext uri="{FF2B5EF4-FFF2-40B4-BE49-F238E27FC236}">
                <a16:creationId xmlns:a16="http://schemas.microsoft.com/office/drawing/2014/main" xmlns="" id="{1B8840DD-F249-4D8D-B424-67BCC0B87ED4}"/>
              </a:ext>
            </a:extLst>
          </p:cNvPr>
          <p:cNvSpPr>
            <a:spLocks noGrp="1"/>
          </p:cNvSpPr>
          <p:nvPr>
            <p:ph idx="1"/>
          </p:nvPr>
        </p:nvSpPr>
        <p:spPr/>
        <p:txBody>
          <a:bodyPr/>
          <a:lstStyle/>
          <a:p>
            <a:pPr algn="just"/>
            <a:r>
              <a:rPr lang="en-GB" b="1" dirty="0"/>
              <a:t>The Convention on the Future of Europe was established in 2002 </a:t>
            </a:r>
            <a:r>
              <a:rPr lang="en-GB" dirty="0"/>
              <a:t>to create </a:t>
            </a:r>
            <a:r>
              <a:rPr lang="en-GB" b="1" dirty="0"/>
              <a:t>an EU constitution</a:t>
            </a:r>
            <a:r>
              <a:rPr lang="en-GB" dirty="0"/>
              <a:t>, and the draft, signed in 2004, aimed to install a permanent EU president, a Foreign Minister and a Charter of Rights. It would have also allowed the EU to make many more decisions instead of the heads’ of the individual nation states. </a:t>
            </a:r>
            <a:r>
              <a:rPr lang="en-GB" b="1" dirty="0"/>
              <a:t>This would have been a significant step towards supranationalism, reducing the power of nation sates. It was rejected in 2005, when France and the Netherlands failed to ratify it</a:t>
            </a:r>
            <a:r>
              <a:rPr lang="en-GB" dirty="0"/>
              <a:t>. An amended work, the Lisbon Treaty of 2009 created the post of President of the European Council and significantly expanded the post of High Representative.</a:t>
            </a:r>
          </a:p>
        </p:txBody>
      </p:sp>
    </p:spTree>
    <p:extLst>
      <p:ext uri="{BB962C8B-B14F-4D97-AF65-F5344CB8AC3E}">
        <p14:creationId xmlns:p14="http://schemas.microsoft.com/office/powerpoint/2010/main" val="98740996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 id="{735911D5-C2AB-4511-88C5-0671DC5D36AA}"/>
              </a:ext>
            </a:extLst>
          </p:cNvPr>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lstStyle/>
          <a:p>
            <a:pPr algn="ctr"/>
            <a:r>
              <a:rPr lang="en-GB" dirty="0"/>
              <a:t>Economic Crisis</a:t>
            </a:r>
          </a:p>
        </p:txBody>
      </p:sp>
      <p:sp>
        <p:nvSpPr>
          <p:cNvPr id="3" name="Θέση περιεχομένου 2">
            <a:extLst>
              <a:ext uri="{FF2B5EF4-FFF2-40B4-BE49-F238E27FC236}">
                <a16:creationId xmlns:a16="http://schemas.microsoft.com/office/drawing/2014/main" xmlns="" id="{B704449E-2D47-4244-9721-EC90E8860177}"/>
              </a:ext>
            </a:extLst>
          </p:cNvPr>
          <p:cNvSpPr>
            <a:spLocks noGrp="1"/>
          </p:cNvSpPr>
          <p:nvPr>
            <p:ph idx="1"/>
          </p:nvPr>
        </p:nvSpPr>
        <p:spPr/>
        <p:txBody>
          <a:bodyPr/>
          <a:lstStyle/>
          <a:p>
            <a:r>
              <a:rPr lang="en-GB" dirty="0"/>
              <a:t>Trouble developed as the eurozone entered its first recession in 2008. Members cooperated and the ECB intervened to help restore economic growth. </a:t>
            </a:r>
            <a:r>
              <a:rPr lang="en-GB" b="1" dirty="0"/>
              <a:t>However, with the risk of a default in Greece, Ireland, Portugal and other members in late 2009–10, eurozone leaders agreed to provisions for loans to member states that could not raise funds. </a:t>
            </a:r>
            <a:r>
              <a:rPr lang="en-GB" dirty="0"/>
              <a:t>With Greece struggling to restore its finances and with other member states also at risk, a loan mechanism was agreed. The crisis also encouraged moves towards further economic integration and a range of proposals such as a </a:t>
            </a:r>
            <a:r>
              <a:rPr lang="en-GB" b="1" dirty="0"/>
              <a:t>European Monetary Fund </a:t>
            </a:r>
            <a:r>
              <a:rPr lang="en-GB" dirty="0"/>
              <a:t>or federal treasury. </a:t>
            </a:r>
          </a:p>
        </p:txBody>
      </p:sp>
    </p:spTree>
    <p:extLst>
      <p:ext uri="{BB962C8B-B14F-4D97-AF65-F5344CB8AC3E}">
        <p14:creationId xmlns:p14="http://schemas.microsoft.com/office/powerpoint/2010/main" val="98738685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 id="{2DEA9167-083B-47B7-831E-5875530143D4}"/>
              </a:ext>
            </a:extLst>
          </p:cNvPr>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lstStyle/>
          <a:p>
            <a:pPr algn="ctr"/>
            <a:r>
              <a:rPr lang="en-GB" dirty="0"/>
              <a:t>On a positive note…</a:t>
            </a:r>
          </a:p>
        </p:txBody>
      </p:sp>
      <p:sp>
        <p:nvSpPr>
          <p:cNvPr id="3" name="Θέση περιεχομένου 2">
            <a:extLst>
              <a:ext uri="{FF2B5EF4-FFF2-40B4-BE49-F238E27FC236}">
                <a16:creationId xmlns:a16="http://schemas.microsoft.com/office/drawing/2014/main" xmlns="" id="{CDF78A24-030E-4DC1-9513-2E8C48C9818F}"/>
              </a:ext>
            </a:extLst>
          </p:cNvPr>
          <p:cNvSpPr>
            <a:spLocks noGrp="1"/>
          </p:cNvSpPr>
          <p:nvPr>
            <p:ph idx="1"/>
          </p:nvPr>
        </p:nvSpPr>
        <p:spPr/>
        <p:txBody>
          <a:bodyPr/>
          <a:lstStyle/>
          <a:p>
            <a:pPr algn="just"/>
            <a:r>
              <a:rPr lang="en-GB" b="1" dirty="0"/>
              <a:t>The European Union received the 2012 Nobel Peace Prize </a:t>
            </a:r>
            <a:r>
              <a:rPr lang="en-GB" dirty="0"/>
              <a:t>for having ‘contributed to the advancement of peace and reconciliation, democracy and human rights in Europe.’ The Nobel Committee stated that ‘that dreadful suffering in World War II demonstrated the need for a new Europe [...] today war between Germany and France is unthinkable. This shows how, through well-aimed efforts and by building up mutual confidence, historical enemies can become close partners.’ But as good history students, you didn’t need to be told that. </a:t>
            </a:r>
          </a:p>
        </p:txBody>
      </p:sp>
    </p:spTree>
    <p:extLst>
      <p:ext uri="{BB962C8B-B14F-4D97-AF65-F5344CB8AC3E}">
        <p14:creationId xmlns:p14="http://schemas.microsoft.com/office/powerpoint/2010/main" val="350944559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fficher l’image sour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4561" y="381903"/>
            <a:ext cx="7606202" cy="61757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6532695"/>
      </p:ext>
    </p:extLst>
  </p:cSld>
  <p:clrMapOvr>
    <a:masterClrMapping/>
  </p:clrMapOvr>
  <p:timing>
    <p:tnLst>
      <p:par>
        <p:cTn id="1" dur="indefinite" restart="never" nodeType="tmRoot"/>
      </p:par>
    </p:tnLst>
  </p:timing>
</p:sld>
</file>

<file path=ppt/theme/theme1.xml><?xml version="1.0" encoding="utf-8"?>
<a:theme xmlns:a="http://schemas.openxmlformats.org/drawingml/2006/main" name="Badge">
  <a:themeElements>
    <a:clrScheme name="Badge">
      <a:dk1>
        <a:sysClr val="windowText" lastClr="000000"/>
      </a:dk1>
      <a:lt1>
        <a:sysClr val="window" lastClr="FFFFFF"/>
      </a:lt1>
      <a:dk2>
        <a:srgbClr val="0B082E"/>
      </a:dk2>
      <a:lt2>
        <a:srgbClr val="F3F3F2"/>
      </a:lt2>
      <a:accent1>
        <a:srgbClr val="62B4C6"/>
      </a:accent1>
      <a:accent2>
        <a:srgbClr val="1B376E"/>
      </a:accent2>
      <a:accent3>
        <a:srgbClr val="9EBE55"/>
      </a:accent3>
      <a:accent4>
        <a:srgbClr val="C65E5E"/>
      </a:accent4>
      <a:accent5>
        <a:srgbClr val="D3BA55"/>
      </a:accent5>
      <a:accent6>
        <a:srgbClr val="96648A"/>
      </a:accent6>
      <a:hlink>
        <a:srgbClr val="62B4C6"/>
      </a:hlink>
      <a:folHlink>
        <a:srgbClr val="96648A"/>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D71F8F05-6246-47AF-9E68-E57F6C93F792}"/>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fea1787-2ef9-4f1d-aacd-0861f6e873fa">
      <Terms xmlns="http://schemas.microsoft.com/office/infopath/2007/PartnerControls"/>
    </lcf76f155ced4ddcb4097134ff3c332f>
    <TaxCatchAll xmlns="0c0b9f58-b642-446f-914d-3f292fb8390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C1C266872DD8C4699140ABCF4701477" ma:contentTypeVersion="12" ma:contentTypeDescription="Create a new document." ma:contentTypeScope="" ma:versionID="8712a6bca791adb5cda0bf6241e143c6">
  <xsd:schema xmlns:xsd="http://www.w3.org/2001/XMLSchema" xmlns:xs="http://www.w3.org/2001/XMLSchema" xmlns:p="http://schemas.microsoft.com/office/2006/metadata/properties" xmlns:ns2="8fea1787-2ef9-4f1d-aacd-0861f6e873fa" xmlns:ns3="0c0b9f58-b642-446f-914d-3f292fb83902" targetNamespace="http://schemas.microsoft.com/office/2006/metadata/properties" ma:root="true" ma:fieldsID="cbf496898916a0ccd3f2cb11a3c66241" ns2:_="" ns3:_="">
    <xsd:import namespace="8fea1787-2ef9-4f1d-aacd-0861f6e873fa"/>
    <xsd:import namespace="0c0b9f58-b642-446f-914d-3f292fb8390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ea1787-2ef9-4f1d-aacd-0861f6e873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db630b34-ef66-4a23-b54c-047f976c1c4e"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c0b9f58-b642-446f-914d-3f292fb8390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9920f2c-1fdf-4626-9c5d-e072731e0ce9}" ma:internalName="TaxCatchAll" ma:showField="CatchAllData" ma:web="0c0b9f58-b642-446f-914d-3f292fb8390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786C66F-D3C1-4627-8781-BE29A15785A4}">
  <ds:schemaRefs>
    <ds:schemaRef ds:uri="http://schemas.microsoft.com/office/infopath/2007/PartnerControls"/>
    <ds:schemaRef ds:uri="http://purl.org/dc/terms/"/>
    <ds:schemaRef ds:uri="http://schemas.microsoft.com/office/2006/metadata/properties"/>
    <ds:schemaRef ds:uri="http://schemas.microsoft.com/office/2006/documentManagement/types"/>
    <ds:schemaRef ds:uri="http://purl.org/dc/elements/1.1/"/>
    <ds:schemaRef ds:uri="http://schemas.openxmlformats.org/package/2006/metadata/core-properties"/>
    <ds:schemaRef ds:uri="8fea1787-2ef9-4f1d-aacd-0861f6e873fa"/>
    <ds:schemaRef ds:uri="0c0b9f58-b642-446f-914d-3f292fb83902"/>
    <ds:schemaRef ds:uri="http://www.w3.org/XML/1998/namespace"/>
    <ds:schemaRef ds:uri="http://purl.org/dc/dcmitype/"/>
  </ds:schemaRefs>
</ds:datastoreItem>
</file>

<file path=customXml/itemProps2.xml><?xml version="1.0" encoding="utf-8"?>
<ds:datastoreItem xmlns:ds="http://schemas.openxmlformats.org/officeDocument/2006/customXml" ds:itemID="{7136745C-997C-412D-97A3-9085EFCD18DC}">
  <ds:schemaRefs>
    <ds:schemaRef ds:uri="http://schemas.microsoft.com/sharepoint/v3/contenttype/forms"/>
  </ds:schemaRefs>
</ds:datastoreItem>
</file>

<file path=customXml/itemProps3.xml><?xml version="1.0" encoding="utf-8"?>
<ds:datastoreItem xmlns:ds="http://schemas.openxmlformats.org/officeDocument/2006/customXml" ds:itemID="{02B989AC-0703-4F4B-9C7B-7B0698242D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fea1787-2ef9-4f1d-aacd-0861f6e873fa"/>
    <ds:schemaRef ds:uri="0c0b9f58-b642-446f-914d-3f292fb8390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16</TotalTime>
  <Words>3155</Words>
  <Application>Microsoft Office PowerPoint</Application>
  <PresentationFormat>Widescreen</PresentationFormat>
  <Paragraphs>71</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Gill Sans MT</vt:lpstr>
      <vt:lpstr>Impact</vt:lpstr>
      <vt:lpstr>Times New Roman</vt:lpstr>
      <vt:lpstr>Badge</vt:lpstr>
      <vt:lpstr>Europe 1973 –1992</vt:lpstr>
      <vt:lpstr>PowerPoint Presentation</vt:lpstr>
      <vt:lpstr>The extent of enlargement since 1973</vt:lpstr>
      <vt:lpstr>Focus…</vt:lpstr>
      <vt:lpstr>The situation of the Economy</vt:lpstr>
      <vt:lpstr>Other Applicants… </vt:lpstr>
      <vt:lpstr>Deepening integration Monetary Union</vt:lpstr>
      <vt:lpstr>A European Union</vt:lpstr>
      <vt:lpstr>The Schengen Agreement </vt:lpstr>
      <vt:lpstr>British Euroscepticism </vt:lpstr>
      <vt:lpstr>The Single Market and Treaty of Maastricht</vt:lpstr>
      <vt:lpstr>PowerPoint Presentation</vt:lpstr>
      <vt:lpstr>PowerPoint Presentation</vt:lpstr>
      <vt:lpstr>Activities</vt:lpstr>
      <vt:lpstr>Europe since Maastricht</vt:lpstr>
      <vt:lpstr>Key events to the present day</vt:lpstr>
      <vt:lpstr>Further Enlargement</vt:lpstr>
      <vt:lpstr>PowerPoint Presentation</vt:lpstr>
      <vt:lpstr>Candidate countries and the Turkish issue</vt:lpstr>
      <vt:lpstr>Further integration</vt:lpstr>
      <vt:lpstr>The Foreign Policy challenge</vt:lpstr>
      <vt:lpstr>Political crises, rising euroscepticism and a two track Europe?</vt:lpstr>
      <vt:lpstr>PowerPoint Presentation</vt:lpstr>
      <vt:lpstr>Economic Crisis</vt:lpstr>
      <vt:lpstr>On a positive note…</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Europe 1973 –1992</dc:title>
  <dc:creator>Vassiliki Knitou</dc:creator>
  <cp:lastModifiedBy>Don Patx</cp:lastModifiedBy>
  <cp:revision>18</cp:revision>
  <dcterms:created xsi:type="dcterms:W3CDTF">2021-02-05T09:13:51Z</dcterms:created>
  <dcterms:modified xsi:type="dcterms:W3CDTF">2026-03-09T11:54:22Z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0x0101006C1C266872DD8C4699140ABCF4701477</vt:lpwstr>
  </property>
</Properties>
</file>
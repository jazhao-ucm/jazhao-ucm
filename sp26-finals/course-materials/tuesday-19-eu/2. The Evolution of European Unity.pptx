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257" r:id="rId6"/>
    <p:sldId id="258" r:id="rId7"/>
    <p:sldId id="275"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9" d="100"/>
          <a:sy n="69" d="100"/>
        </p:scale>
        <p:origin x="52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fr-FR"/>
              <a:t>Modifiez le style du titre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2/2/2026</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2/2/2026</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fr-FR"/>
              <a:t>Modifiez le style du titre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1257300" y="2909102"/>
            <a:ext cx="4800600" cy="299639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6633864" y="2909102"/>
            <a:ext cx="4800600" cy="299639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fr-FR"/>
              <a:t>Modifiez le style du titre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2/2/2026</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fr-FR"/>
              <a:t>Modifiez le style du titre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2/2/2026</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EFBDC27-E420-4878-9EE6-7B9656D6442A}"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812551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2/2/2026</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en-GB" dirty="0"/>
              <a:t>The Evolution of European Unity</a:t>
            </a:r>
            <a:endParaRPr lang="fr-LU" dirty="0"/>
          </a:p>
        </p:txBody>
      </p:sp>
      <p:sp>
        <p:nvSpPr>
          <p:cNvPr id="3" name="Sous-titre 2"/>
          <p:cNvSpPr>
            <a:spLocks noGrp="1"/>
          </p:cNvSpPr>
          <p:nvPr>
            <p:ph type="subTitle" idx="1"/>
          </p:nvPr>
        </p:nvSpPr>
        <p:spPr/>
        <p:txBody>
          <a:bodyPr/>
          <a:lstStyle/>
          <a:p>
            <a:endParaRPr lang="fr-LU"/>
          </a:p>
        </p:txBody>
      </p:sp>
    </p:spTree>
    <p:extLst>
      <p:ext uri="{BB962C8B-B14F-4D97-AF65-F5344CB8AC3E}">
        <p14:creationId xmlns:p14="http://schemas.microsoft.com/office/powerpoint/2010/main" val="31911172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style>
          <a:lnRef idx="2">
            <a:schemeClr val="accent3">
              <a:shade val="50000"/>
            </a:schemeClr>
          </a:lnRef>
          <a:fillRef idx="1">
            <a:schemeClr val="accent3"/>
          </a:fillRef>
          <a:effectRef idx="0">
            <a:schemeClr val="accent3"/>
          </a:effectRef>
          <a:fontRef idx="minor">
            <a:schemeClr val="lt1"/>
          </a:fontRef>
        </p:style>
        <p:txBody>
          <a:bodyPr>
            <a:normAutofit fontScale="90000"/>
          </a:bodyPr>
          <a:lstStyle/>
          <a:p>
            <a:pPr algn="ctr"/>
            <a:r>
              <a:rPr lang="en-GB" dirty="0"/>
              <a:t>Political cooperation</a:t>
            </a:r>
            <a:br>
              <a:rPr lang="en-GB" dirty="0"/>
            </a:br>
            <a:r>
              <a:rPr lang="en-GB" dirty="0"/>
              <a:t>The council of Europe, 1949</a:t>
            </a:r>
            <a:endParaRPr lang="fr-LU" dirty="0"/>
          </a:p>
        </p:txBody>
      </p:sp>
      <p:sp>
        <p:nvSpPr>
          <p:cNvPr id="5" name="Espace réservé du contenu 4"/>
          <p:cNvSpPr>
            <a:spLocks noGrp="1"/>
          </p:cNvSpPr>
          <p:nvPr>
            <p:ph idx="1"/>
          </p:nvPr>
        </p:nvSpPr>
        <p:spPr/>
        <p:txBody>
          <a:bodyPr/>
          <a:lstStyle/>
          <a:p>
            <a:r>
              <a:rPr lang="en-GB" dirty="0"/>
              <a:t>The Hague, 1949: 750 delegates from 16 European countries met for the Congress of Europe.</a:t>
            </a:r>
          </a:p>
          <a:p>
            <a:r>
              <a:rPr lang="en-GB" dirty="0"/>
              <a:t>They agreed that: 1.)  there should be cooperation in political and economic issues</a:t>
            </a:r>
          </a:p>
          <a:p>
            <a:r>
              <a:rPr lang="en-GB" dirty="0"/>
              <a:t>                          2.) there should be an assembly to discuss issues between the states</a:t>
            </a:r>
          </a:p>
          <a:p>
            <a:r>
              <a:rPr lang="en-GB" dirty="0"/>
              <a:t>                          3.) a Court of Human Rights</a:t>
            </a:r>
          </a:p>
          <a:p>
            <a:endParaRPr lang="en-GB" dirty="0"/>
          </a:p>
          <a:p>
            <a:r>
              <a:rPr lang="en-GB" dirty="0"/>
              <a:t>Then, the COUNCIL OF EUROPE was established in Strasbourg in 1949, with 10 members initially. It created the European Convention on Human Rights and established the Court of Human Rights (ECHR)</a:t>
            </a:r>
            <a:endParaRPr lang="fr-LU" dirty="0"/>
          </a:p>
        </p:txBody>
      </p:sp>
    </p:spTree>
    <p:extLst>
      <p:ext uri="{BB962C8B-B14F-4D97-AF65-F5344CB8AC3E}">
        <p14:creationId xmlns:p14="http://schemas.microsoft.com/office/powerpoint/2010/main" val="829427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9AD410-45D3-46F1-9D74-DE9F43BBBF4E}"/>
              </a:ext>
            </a:extLst>
          </p:cNvPr>
          <p:cNvSpPr>
            <a:spLocks noGrp="1"/>
          </p:cNvSpPr>
          <p:nvPr>
            <p:ph type="title"/>
          </p:nvPr>
        </p:nvSpPr>
        <p:spPr/>
        <p:txBody>
          <a:bodyPr/>
          <a:lstStyle/>
          <a:p>
            <a:pPr algn="ctr"/>
            <a:r>
              <a:rPr lang="en-GB" dirty="0"/>
              <a:t>The Council of Europe</a:t>
            </a:r>
          </a:p>
        </p:txBody>
      </p:sp>
      <p:sp>
        <p:nvSpPr>
          <p:cNvPr id="3" name="Content Placeholder 2">
            <a:extLst>
              <a:ext uri="{FF2B5EF4-FFF2-40B4-BE49-F238E27FC236}">
                <a16:creationId xmlns:a16="http://schemas.microsoft.com/office/drawing/2014/main" xmlns="" id="{AFBE913F-204F-4EF8-961F-CC3E9F7B8B80}"/>
              </a:ext>
            </a:extLst>
          </p:cNvPr>
          <p:cNvSpPr>
            <a:spLocks noGrp="1"/>
          </p:cNvSpPr>
          <p:nvPr>
            <p:ph idx="1"/>
          </p:nvPr>
        </p:nvSpPr>
        <p:spPr/>
        <p:txBody>
          <a:bodyPr>
            <a:normAutofit/>
          </a:bodyPr>
          <a:lstStyle/>
          <a:p>
            <a:pPr algn="just"/>
            <a:r>
              <a:rPr lang="en-GB" dirty="0"/>
              <a:t>The federalist ideas eventually led to the creation of the </a:t>
            </a:r>
            <a:r>
              <a:rPr lang="en-GB" dirty="0">
                <a:solidFill>
                  <a:schemeClr val="accent4">
                    <a:lumMod val="75000"/>
                  </a:schemeClr>
                </a:solidFill>
              </a:rPr>
              <a:t>Council of Europe</a:t>
            </a:r>
            <a:r>
              <a:rPr lang="en-GB" dirty="0"/>
              <a:t>. Set up in </a:t>
            </a:r>
            <a:r>
              <a:rPr lang="en-GB" dirty="0">
                <a:solidFill>
                  <a:schemeClr val="accent4">
                    <a:lumMod val="75000"/>
                  </a:schemeClr>
                </a:solidFill>
              </a:rPr>
              <a:t>1949</a:t>
            </a:r>
            <a:r>
              <a:rPr lang="en-GB" dirty="0"/>
              <a:t>, it had little power but it </a:t>
            </a:r>
            <a:r>
              <a:rPr lang="en-GB" dirty="0">
                <a:solidFill>
                  <a:schemeClr val="accent4">
                    <a:lumMod val="75000"/>
                  </a:schemeClr>
                </a:solidFill>
              </a:rPr>
              <a:t>promoted the idea of European integration</a:t>
            </a:r>
            <a:r>
              <a:rPr lang="en-GB" dirty="0"/>
              <a:t>. It met in the city of Strasbourg, on the border of France and Germany, so that it would not be associated with any capital city. It set up a </a:t>
            </a:r>
            <a:r>
              <a:rPr lang="en-GB" dirty="0">
                <a:solidFill>
                  <a:schemeClr val="accent4">
                    <a:lumMod val="75000"/>
                  </a:schemeClr>
                </a:solidFill>
              </a:rPr>
              <a:t>Court of Human Rights</a:t>
            </a:r>
            <a:r>
              <a:rPr lang="en-GB" dirty="0"/>
              <a:t>, a successful body that continues to adjudicate today</a:t>
            </a:r>
            <a:r>
              <a:rPr lang="en-GB" dirty="0" smtClean="0"/>
              <a:t>.</a:t>
            </a:r>
          </a:p>
          <a:p>
            <a:r>
              <a:rPr lang="en-US" dirty="0"/>
              <a:t>Not a supranational body but a forum for dialogue and cooperation</a:t>
            </a:r>
          </a:p>
          <a:p>
            <a:r>
              <a:rPr lang="en-US" dirty="0"/>
              <a:t>Laid groundwork for deeper integration efforts</a:t>
            </a:r>
          </a:p>
          <a:p>
            <a:endParaRPr lang="en-US" dirty="0"/>
          </a:p>
          <a:p>
            <a:r>
              <a:rPr lang="en-US" dirty="0"/>
              <a:t>https://www.youtube.com/watch?v=rl3gtHtJrL4</a:t>
            </a:r>
          </a:p>
          <a:p>
            <a:pPr algn="just"/>
            <a:endParaRPr lang="en-GB" dirty="0"/>
          </a:p>
        </p:txBody>
      </p:sp>
      <p:sp>
        <p:nvSpPr>
          <p:cNvPr id="4" name="ZoneTexte 3"/>
          <p:cNvSpPr txBox="1"/>
          <p:nvPr/>
        </p:nvSpPr>
        <p:spPr>
          <a:xfrm>
            <a:off x="1064029" y="1296786"/>
            <a:ext cx="1354975"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Remember!</a:t>
            </a:r>
            <a:endParaRPr lang="fr-LU" dirty="0"/>
          </a:p>
        </p:txBody>
      </p:sp>
    </p:spTree>
    <p:extLst>
      <p:ext uri="{BB962C8B-B14F-4D97-AF65-F5344CB8AC3E}">
        <p14:creationId xmlns:p14="http://schemas.microsoft.com/office/powerpoint/2010/main" val="31929996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EE079F42-5C7A-44DD-9E9F-A34795A48F1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19091" y="0"/>
            <a:ext cx="114729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6">
            <a:extLst>
              <a:ext uri="{FF2B5EF4-FFF2-40B4-BE49-F238E27FC236}">
                <a16:creationId xmlns:a16="http://schemas.microsoft.com/office/drawing/2014/main" xmlns="" id="{09777E15-6D68-4808-AD20-82EA7377F43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113285"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w="0">
            <a:noFill/>
            <a:prstDash val="solid"/>
            <a:round/>
            <a:headEnd/>
            <a:tailEnd/>
          </a:ln>
        </p:spPr>
      </p:sp>
      <p:sp>
        <p:nvSpPr>
          <p:cNvPr id="11" name="Freeform 6">
            <a:extLst>
              <a:ext uri="{FF2B5EF4-FFF2-40B4-BE49-F238E27FC236}">
                <a16:creationId xmlns:a16="http://schemas.microsoft.com/office/drawing/2014/main" xmlns="" id="{CE79CAD8-9F7F-4756-BD12-8463CA4C6F5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3" name="Rectangle 12">
            <a:extLst>
              <a:ext uri="{FF2B5EF4-FFF2-40B4-BE49-F238E27FC236}">
                <a16:creationId xmlns:a16="http://schemas.microsoft.com/office/drawing/2014/main" xmlns="" id="{A9923A21-5790-4667-B5C7-ADA793B4993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664448" y="643466"/>
            <a:ext cx="9600802" cy="557106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xmlns="" id="{E428084A-77A2-4C21-BDBD-3A14B32E5ACC}"/>
              </a:ext>
            </a:extLst>
          </p:cNvPr>
          <p:cNvPicPr>
            <a:picLocks noChangeAspect="1"/>
          </p:cNvPicPr>
          <p:nvPr/>
        </p:nvPicPr>
        <p:blipFill>
          <a:blip r:embed="rId2"/>
          <a:stretch>
            <a:fillRect/>
          </a:stretch>
        </p:blipFill>
        <p:spPr>
          <a:xfrm>
            <a:off x="3265106" y="965199"/>
            <a:ext cx="6399483" cy="4927601"/>
          </a:xfrm>
          <a:prstGeom prst="rect">
            <a:avLst/>
          </a:prstGeom>
        </p:spPr>
      </p:pic>
    </p:spTree>
    <p:extLst>
      <p:ext uri="{BB962C8B-B14F-4D97-AF65-F5344CB8AC3E}">
        <p14:creationId xmlns:p14="http://schemas.microsoft.com/office/powerpoint/2010/main" val="14356349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51678" y="382385"/>
            <a:ext cx="10178322" cy="856211"/>
          </a:xfrm>
        </p:spPr>
        <p:style>
          <a:lnRef idx="2">
            <a:schemeClr val="accent3">
              <a:shade val="50000"/>
            </a:schemeClr>
          </a:lnRef>
          <a:fillRef idx="1">
            <a:schemeClr val="accent3"/>
          </a:fillRef>
          <a:effectRef idx="0">
            <a:schemeClr val="accent3"/>
          </a:effectRef>
          <a:fontRef idx="minor">
            <a:schemeClr val="lt1"/>
          </a:fontRef>
        </p:style>
        <p:txBody>
          <a:bodyPr/>
          <a:lstStyle/>
          <a:p>
            <a:pPr algn="ctr"/>
            <a:r>
              <a:rPr lang="en-GB" dirty="0"/>
              <a:t>Economic Cooperation</a:t>
            </a:r>
            <a:endParaRPr lang="fr-LU" dirty="0"/>
          </a:p>
        </p:txBody>
      </p:sp>
      <p:sp>
        <p:nvSpPr>
          <p:cNvPr id="3" name="Espace réservé du contenu 2"/>
          <p:cNvSpPr>
            <a:spLocks noGrp="1"/>
          </p:cNvSpPr>
          <p:nvPr>
            <p:ph idx="1"/>
          </p:nvPr>
        </p:nvSpPr>
        <p:spPr>
          <a:xfrm>
            <a:off x="1251678" y="2377441"/>
            <a:ext cx="10178322" cy="3593591"/>
          </a:xfrm>
        </p:spPr>
        <p:txBody>
          <a:bodyPr/>
          <a:lstStyle/>
          <a:p>
            <a:r>
              <a:rPr lang="en-GB" dirty="0"/>
              <a:t>Before the end of the war, Belgium, the Netherlands and Luxembourg agreed to abolish all customs duties                   benefits of free trade and economic cooperation</a:t>
            </a:r>
            <a:endParaRPr lang="fr-LU" dirty="0"/>
          </a:p>
        </p:txBody>
      </p:sp>
      <p:sp>
        <p:nvSpPr>
          <p:cNvPr id="4" name="ZoneTexte 3"/>
          <p:cNvSpPr txBox="1"/>
          <p:nvPr/>
        </p:nvSpPr>
        <p:spPr>
          <a:xfrm>
            <a:off x="3823855" y="1439133"/>
            <a:ext cx="4447310" cy="646331"/>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3600" dirty="0"/>
              <a:t>Benelux Treaty, 1947</a:t>
            </a:r>
            <a:endParaRPr lang="fr-LU" sz="3600" dirty="0"/>
          </a:p>
        </p:txBody>
      </p:sp>
      <p:sp>
        <p:nvSpPr>
          <p:cNvPr id="5" name="Flèche droite 4"/>
          <p:cNvSpPr/>
          <p:nvPr/>
        </p:nvSpPr>
        <p:spPr>
          <a:xfrm>
            <a:off x="3329248" y="2876203"/>
            <a:ext cx="989214" cy="1413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LU"/>
          </a:p>
        </p:txBody>
      </p:sp>
    </p:spTree>
    <p:extLst>
      <p:ext uri="{BB962C8B-B14F-4D97-AF65-F5344CB8AC3E}">
        <p14:creationId xmlns:p14="http://schemas.microsoft.com/office/powerpoint/2010/main" val="37105697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51678" y="382385"/>
            <a:ext cx="10178322" cy="1039091"/>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ctr"/>
            <a:r>
              <a:rPr lang="en-GB" sz="2800" dirty="0"/>
              <a:t>Organization for European Economic Cooperation (OEEC)</a:t>
            </a:r>
            <a:endParaRPr lang="fr-LU" sz="2800" dirty="0"/>
          </a:p>
        </p:txBody>
      </p:sp>
      <p:sp>
        <p:nvSpPr>
          <p:cNvPr id="3" name="Espace réservé du contenu 2"/>
          <p:cNvSpPr>
            <a:spLocks noGrp="1"/>
          </p:cNvSpPr>
          <p:nvPr>
            <p:ph idx="1"/>
          </p:nvPr>
        </p:nvSpPr>
        <p:spPr>
          <a:xfrm>
            <a:off x="1251678" y="2286001"/>
            <a:ext cx="10178322" cy="590203"/>
          </a:xfrm>
        </p:spPr>
        <p:txBody>
          <a:bodyPr>
            <a:normAutofit fontScale="25000" lnSpcReduction="20000"/>
          </a:bodyPr>
          <a:lstStyle/>
          <a:p>
            <a:pPr algn="ctr"/>
            <a:r>
              <a:rPr lang="en-GB" dirty="0"/>
              <a:t>Established as part of the Marshall </a:t>
            </a:r>
            <a:r>
              <a:rPr lang="en-GB" dirty="0" smtClean="0"/>
              <a:t>Plan</a:t>
            </a:r>
          </a:p>
          <a:p>
            <a:pPr algn="ctr"/>
            <a:endParaRPr lang="fr-LU" sz="8000" dirty="0" smtClean="0"/>
          </a:p>
          <a:p>
            <a:r>
              <a:rPr lang="en-US" sz="8000" b="1" dirty="0"/>
              <a:t>Foundation:</a:t>
            </a:r>
            <a:r>
              <a:rPr lang="en-US" sz="8000" dirty="0"/>
              <a:t> Established on April 16, 1948, in Paris by 16 European countries (with West Germany and Trieste joining later in 1949) to coordinate the European Recovery Program (ERP).</a:t>
            </a:r>
          </a:p>
          <a:p>
            <a:r>
              <a:rPr lang="en-US" sz="8000" b="1" dirty="0"/>
              <a:t>Purpose:</a:t>
            </a:r>
            <a:r>
              <a:rPr lang="en-US" sz="8000" dirty="0"/>
              <a:t> To efficiently distribute nearly </a:t>
            </a:r>
            <a:r>
              <a:rPr lang="en-US" sz="8000" b="1" dirty="0"/>
              <a:t>$13 billion</a:t>
            </a:r>
            <a:r>
              <a:rPr lang="en-US" sz="8000" dirty="0"/>
              <a:t> in U.S. aid (approximately </a:t>
            </a:r>
            <a:r>
              <a:rPr lang="en-US" sz="8000" b="1" dirty="0"/>
              <a:t>$130 billion</a:t>
            </a:r>
            <a:r>
              <a:rPr lang="en-US" sz="8000" dirty="0"/>
              <a:t> in today’s value) to stimulate production, stabilize currencies, and promote multilateral trade.</a:t>
            </a:r>
          </a:p>
          <a:p>
            <a:r>
              <a:rPr lang="en-US" sz="8000" b="1" dirty="0"/>
              <a:t>Operations:</a:t>
            </a:r>
            <a:r>
              <a:rPr lang="en-US" sz="8000" dirty="0"/>
              <a:t> The OEEC required member countries to cooperate economically, removing trade barriers and facilitating the reconstruction of infrastructure.</a:t>
            </a:r>
          </a:p>
          <a:p>
            <a:r>
              <a:rPr lang="en-US" sz="8000" b="1" dirty="0"/>
              <a:t>Results:</a:t>
            </a:r>
            <a:r>
              <a:rPr lang="en-US" sz="8000" dirty="0"/>
              <a:t> The plan spurred the rapid economic recovery of Western Europe, helping to curb Soviet influence during the Cold War.</a:t>
            </a:r>
          </a:p>
          <a:p>
            <a:pPr algn="ctr"/>
            <a:endParaRPr lang="fr-LU" dirty="0"/>
          </a:p>
        </p:txBody>
      </p:sp>
    </p:spTree>
    <p:extLst>
      <p:ext uri="{BB962C8B-B14F-4D97-AF65-F5344CB8AC3E}">
        <p14:creationId xmlns:p14="http://schemas.microsoft.com/office/powerpoint/2010/main" val="17204703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3A92DF-2B70-4D74-954D-6979E48157E5}"/>
              </a:ext>
            </a:extLst>
          </p:cNvPr>
          <p:cNvSpPr>
            <a:spLocks noGrp="1"/>
          </p:cNvSpPr>
          <p:nvPr>
            <p:ph type="title"/>
          </p:nvPr>
        </p:nvSpPr>
        <p:spPr>
          <a:xfrm>
            <a:off x="1202919" y="284175"/>
            <a:ext cx="9784080" cy="1989241"/>
          </a:xfrm>
        </p:spPr>
        <p:txBody>
          <a:bodyPr>
            <a:normAutofit fontScale="90000"/>
          </a:bodyPr>
          <a:lstStyle/>
          <a:p>
            <a:pPr algn="ctr"/>
            <a:r>
              <a:rPr lang="en-GB" dirty="0"/>
              <a:t>Organisation for European Economic Co-operation</a:t>
            </a:r>
            <a:br>
              <a:rPr lang="en-GB" dirty="0"/>
            </a:br>
            <a:r>
              <a:rPr lang="en-GB" dirty="0"/>
              <a:t> </a:t>
            </a:r>
            <a:br>
              <a:rPr lang="en-GB" dirty="0"/>
            </a:br>
            <a:endParaRPr lang="en-GB" dirty="0"/>
          </a:p>
        </p:txBody>
      </p:sp>
      <p:sp>
        <p:nvSpPr>
          <p:cNvPr id="3" name="Content Placeholder 2">
            <a:extLst>
              <a:ext uri="{FF2B5EF4-FFF2-40B4-BE49-F238E27FC236}">
                <a16:creationId xmlns:a16="http://schemas.microsoft.com/office/drawing/2014/main" xmlns="" id="{42F9E4E4-763A-41FC-B310-7D417A1A5A78}"/>
              </a:ext>
            </a:extLst>
          </p:cNvPr>
          <p:cNvSpPr>
            <a:spLocks noGrp="1"/>
          </p:cNvSpPr>
          <p:nvPr>
            <p:ph idx="1"/>
          </p:nvPr>
        </p:nvSpPr>
        <p:spPr>
          <a:xfrm>
            <a:off x="1202919" y="1518407"/>
            <a:ext cx="9784080" cy="4699513"/>
          </a:xfrm>
        </p:spPr>
        <p:style>
          <a:lnRef idx="2">
            <a:schemeClr val="accent6">
              <a:shade val="50000"/>
            </a:schemeClr>
          </a:lnRef>
          <a:fillRef idx="1">
            <a:schemeClr val="accent6"/>
          </a:fillRef>
          <a:effectRef idx="0">
            <a:schemeClr val="accent6"/>
          </a:effectRef>
          <a:fontRef idx="minor">
            <a:schemeClr val="lt1"/>
          </a:fontRef>
        </p:style>
        <p:txBody>
          <a:bodyPr>
            <a:normAutofit fontScale="92500" lnSpcReduction="20000"/>
          </a:bodyPr>
          <a:lstStyle/>
          <a:p>
            <a:endParaRPr lang="en-GB" dirty="0"/>
          </a:p>
          <a:p>
            <a:r>
              <a:rPr lang="en-GB" dirty="0"/>
              <a:t>The Organisation for European Economic Co-operation (OEEC) came into being on 16 April 1948. It emerged from the Marshall Plan and the Conference of Sixteen (Conference for European Economic Co-operation), which sought to establish </a:t>
            </a:r>
            <a:r>
              <a:rPr lang="en-GB" dirty="0">
                <a:solidFill>
                  <a:srgbClr val="FFFF00"/>
                </a:solidFill>
              </a:rPr>
              <a:t>a permanent organisation to continue work on a joint recovery programme and in particular to supervise the distribution of aid</a:t>
            </a:r>
            <a:r>
              <a:rPr lang="en-GB" dirty="0"/>
              <a:t>. The headquarters of the Organisation was in the Chateau de la </a:t>
            </a:r>
            <a:r>
              <a:rPr lang="en-GB" dirty="0" err="1"/>
              <a:t>Muette</a:t>
            </a:r>
            <a:r>
              <a:rPr lang="en-GB" dirty="0"/>
              <a:t> in Paris, France.</a:t>
            </a:r>
          </a:p>
          <a:p>
            <a:r>
              <a:rPr lang="en-GB" dirty="0"/>
              <a:t>The European organisation adopted was a permanent organisation for economic co-operation, functioning in accordance with the following principles:</a:t>
            </a:r>
          </a:p>
          <a:p>
            <a:r>
              <a:rPr lang="en-GB" dirty="0"/>
              <a:t>promote co-operation between participating countries and their national production programmes for the reconstruction of Europe,</a:t>
            </a:r>
          </a:p>
          <a:p>
            <a:r>
              <a:rPr lang="en-GB" dirty="0"/>
              <a:t>develop intra-European trade by reducing tariffs and other barriers to the expansion of trade,</a:t>
            </a:r>
          </a:p>
          <a:p>
            <a:r>
              <a:rPr lang="en-GB" dirty="0"/>
              <a:t>study the feasibility of creating a customs union or free trade area,</a:t>
            </a:r>
          </a:p>
          <a:p>
            <a:r>
              <a:rPr lang="en-GB" dirty="0"/>
              <a:t>study multi-lateralisation of payments, and</a:t>
            </a:r>
          </a:p>
          <a:p>
            <a:r>
              <a:rPr lang="en-GB" dirty="0"/>
              <a:t>achieve conditions for better utilisation of labour.</a:t>
            </a:r>
          </a:p>
        </p:txBody>
      </p:sp>
      <p:sp>
        <p:nvSpPr>
          <p:cNvPr id="4" name="ZoneTexte 3"/>
          <p:cNvSpPr txBox="1"/>
          <p:nvPr/>
        </p:nvSpPr>
        <p:spPr>
          <a:xfrm>
            <a:off x="1022465" y="989215"/>
            <a:ext cx="1354975"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Remember!</a:t>
            </a:r>
            <a:endParaRPr lang="fr-LU" dirty="0"/>
          </a:p>
        </p:txBody>
      </p:sp>
    </p:spTree>
    <p:extLst>
      <p:ext uri="{BB962C8B-B14F-4D97-AF65-F5344CB8AC3E}">
        <p14:creationId xmlns:p14="http://schemas.microsoft.com/office/powerpoint/2010/main" val="37752733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51678" y="382385"/>
            <a:ext cx="10178322" cy="1097280"/>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ctr"/>
            <a:r>
              <a:rPr lang="en-GB" sz="3600" dirty="0"/>
              <a:t>European Coal and Steel Community (ECSC), 1952</a:t>
            </a:r>
            <a:endParaRPr lang="fr-LU" sz="3600" dirty="0"/>
          </a:p>
        </p:txBody>
      </p:sp>
      <p:sp>
        <p:nvSpPr>
          <p:cNvPr id="3" name="Espace réservé du contenu 2"/>
          <p:cNvSpPr>
            <a:spLocks noGrp="1"/>
          </p:cNvSpPr>
          <p:nvPr>
            <p:ph idx="1"/>
          </p:nvPr>
        </p:nvSpPr>
        <p:spPr/>
        <p:txBody>
          <a:bodyPr>
            <a:normAutofit fontScale="92500" lnSpcReduction="20000"/>
          </a:bodyPr>
          <a:lstStyle/>
          <a:p>
            <a:r>
              <a:rPr lang="en-GB" dirty="0"/>
              <a:t>By 1950, the problem of  West Germany had to be addressed. Reconstruction was under way and the French feared that it would once again threaten other states. So,</a:t>
            </a:r>
          </a:p>
          <a:p>
            <a:r>
              <a:rPr lang="en-GB" dirty="0"/>
              <a:t>The French government launched the </a:t>
            </a:r>
            <a:r>
              <a:rPr lang="en-GB" dirty="0" smtClean="0"/>
              <a:t>Schuman </a:t>
            </a:r>
            <a:r>
              <a:rPr lang="en-GB" dirty="0"/>
              <a:t>Plan in 1950</a:t>
            </a:r>
          </a:p>
          <a:p>
            <a:r>
              <a:rPr lang="en-GB" dirty="0" smtClean="0"/>
              <a:t>Schuman </a:t>
            </a:r>
            <a:r>
              <a:rPr lang="en-GB" dirty="0"/>
              <a:t>proposed that “Franco-German production of coal and steel as a whole be placed under a common High Authority, within the framework of an organization open to the participation of the other countries of Europe”.</a:t>
            </a:r>
          </a:p>
          <a:p>
            <a:r>
              <a:rPr lang="en-GB" dirty="0"/>
              <a:t>The </a:t>
            </a:r>
            <a:r>
              <a:rPr lang="en-GB" dirty="0" smtClean="0"/>
              <a:t>Schuman </a:t>
            </a:r>
            <a:r>
              <a:rPr lang="en-GB" dirty="0"/>
              <a:t>Plan led to the </a:t>
            </a:r>
            <a:r>
              <a:rPr lang="en-GB" b="1" dirty="0"/>
              <a:t>Paris Treaty, 1951</a:t>
            </a:r>
            <a:r>
              <a:rPr lang="en-GB" dirty="0"/>
              <a:t>. War now was “not only unthinkable but materially impossible”. Six states joined: France, West Germany, Italy, Belgium, the Netherlands and Luxembourg. * 9</a:t>
            </a:r>
            <a:r>
              <a:rPr lang="en-GB" baseline="30000" dirty="0"/>
              <a:t>th</a:t>
            </a:r>
            <a:r>
              <a:rPr lang="en-GB" dirty="0"/>
              <a:t> of May (when </a:t>
            </a:r>
            <a:r>
              <a:rPr lang="en-GB" dirty="0" smtClean="0"/>
              <a:t>Schuman </a:t>
            </a:r>
            <a:r>
              <a:rPr lang="en-GB" dirty="0"/>
              <a:t>launched the plan in 1950) today celebrated as Europe </a:t>
            </a:r>
            <a:r>
              <a:rPr lang="en-GB" dirty="0" smtClean="0"/>
              <a:t>Day</a:t>
            </a:r>
          </a:p>
          <a:p>
            <a:r>
              <a:rPr lang="en-US" dirty="0"/>
              <a:t>In short: the Schuman Plan turned former enemies into economic partners to prevent another European war.</a:t>
            </a:r>
            <a:endParaRPr lang="fr-LU" dirty="0"/>
          </a:p>
        </p:txBody>
      </p:sp>
    </p:spTree>
    <p:extLst>
      <p:ext uri="{BB962C8B-B14F-4D97-AF65-F5344CB8AC3E}">
        <p14:creationId xmlns:p14="http://schemas.microsoft.com/office/powerpoint/2010/main" val="16742632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51678" y="382385"/>
            <a:ext cx="10178322" cy="847899"/>
          </a:xfrm>
        </p:spPr>
        <p:style>
          <a:lnRef idx="2">
            <a:schemeClr val="accent4">
              <a:shade val="50000"/>
            </a:schemeClr>
          </a:lnRef>
          <a:fillRef idx="1">
            <a:schemeClr val="accent4"/>
          </a:fillRef>
          <a:effectRef idx="0">
            <a:schemeClr val="accent4"/>
          </a:effectRef>
          <a:fontRef idx="minor">
            <a:schemeClr val="lt1"/>
          </a:fontRef>
        </p:style>
        <p:txBody>
          <a:bodyPr/>
          <a:lstStyle/>
          <a:p>
            <a:pPr algn="ctr"/>
            <a:r>
              <a:rPr lang="en-GB" dirty="0"/>
              <a:t>Importance of the ECSC</a:t>
            </a:r>
            <a:endParaRPr lang="fr-LU" dirty="0"/>
          </a:p>
        </p:txBody>
      </p:sp>
      <p:sp>
        <p:nvSpPr>
          <p:cNvPr id="3" name="Espace réservé du contenu 2"/>
          <p:cNvSpPr>
            <a:spLocks noGrp="1"/>
          </p:cNvSpPr>
          <p:nvPr>
            <p:ph idx="1"/>
          </p:nvPr>
        </p:nvSpPr>
        <p:spPr/>
        <p:txBody>
          <a:bodyPr/>
          <a:lstStyle/>
          <a:p>
            <a:r>
              <a:rPr lang="en-GB" dirty="0"/>
              <a:t>The first time states handed over some of their power to an external body</a:t>
            </a:r>
          </a:p>
          <a:p>
            <a:r>
              <a:rPr lang="en-GB" dirty="0"/>
              <a:t>The model (High Authority, Council of Ministers and Parliamentary Assembly) would be the basis for the structure of the future EEC and EU</a:t>
            </a:r>
          </a:p>
          <a:p>
            <a:r>
              <a:rPr lang="en-GB" dirty="0"/>
              <a:t>It was hugely successful: steel production increased, industrial production grew at twice the rate of Britain’s</a:t>
            </a:r>
          </a:p>
          <a:p>
            <a:r>
              <a:rPr lang="en-GB" dirty="0"/>
              <a:t>Britain decided not to join – they didn’t want to give away part of their sovereignty and didn’t believe the Community would work.</a:t>
            </a:r>
          </a:p>
          <a:p>
            <a:r>
              <a:rPr lang="en-GB" dirty="0"/>
              <a:t>By late 50s it seemed natural to extend the principle of the ECSC to other economic areas.</a:t>
            </a:r>
          </a:p>
          <a:p>
            <a:endParaRPr lang="fr-LU" dirty="0"/>
          </a:p>
        </p:txBody>
      </p:sp>
    </p:spTree>
    <p:extLst>
      <p:ext uri="{BB962C8B-B14F-4D97-AF65-F5344CB8AC3E}">
        <p14:creationId xmlns:p14="http://schemas.microsoft.com/office/powerpoint/2010/main" val="12149518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51678" y="382385"/>
            <a:ext cx="10178322" cy="889462"/>
          </a:xfrm>
        </p:spPr>
        <p:style>
          <a:lnRef idx="2">
            <a:schemeClr val="accent3">
              <a:shade val="50000"/>
            </a:schemeClr>
          </a:lnRef>
          <a:fillRef idx="1">
            <a:schemeClr val="accent3"/>
          </a:fillRef>
          <a:effectRef idx="0">
            <a:schemeClr val="accent3"/>
          </a:effectRef>
          <a:fontRef idx="minor">
            <a:schemeClr val="lt1"/>
          </a:fontRef>
        </p:style>
        <p:txBody>
          <a:bodyPr/>
          <a:lstStyle/>
          <a:p>
            <a:pPr algn="ctr"/>
            <a:r>
              <a:rPr lang="en-GB" dirty="0"/>
              <a:t>Military Cooperation</a:t>
            </a:r>
            <a:endParaRPr lang="fr-LU" dirty="0"/>
          </a:p>
        </p:txBody>
      </p:sp>
      <p:sp>
        <p:nvSpPr>
          <p:cNvPr id="3" name="Espace réservé du contenu 2"/>
          <p:cNvSpPr>
            <a:spLocks noGrp="1"/>
          </p:cNvSpPr>
          <p:nvPr>
            <p:ph idx="1"/>
          </p:nvPr>
        </p:nvSpPr>
        <p:spPr>
          <a:xfrm>
            <a:off x="1185176" y="2942707"/>
            <a:ext cx="10178322" cy="1704108"/>
          </a:xfrm>
        </p:spPr>
        <p:txBody>
          <a:bodyPr>
            <a:normAutofit fontScale="92500" lnSpcReduction="10000"/>
          </a:bodyPr>
          <a:lstStyle/>
          <a:p>
            <a:r>
              <a:rPr lang="en-GB" dirty="0"/>
              <a:t>In 1948m the Treaty of Brussels was signed by France, Britain and the Benelux countries. It was a mutual defence commitment. After the Berlin Blockade, the US committed to European defence and the Brussels pact was expanded to NATO in 1949. It comprised the USA, Canada and 19 Western European States.</a:t>
            </a:r>
          </a:p>
          <a:p>
            <a:r>
              <a:rPr lang="en-GB" dirty="0"/>
              <a:t>Transfer of sovereignty again!</a:t>
            </a:r>
            <a:endParaRPr lang="fr-LU" dirty="0"/>
          </a:p>
        </p:txBody>
      </p:sp>
      <p:sp>
        <p:nvSpPr>
          <p:cNvPr id="4" name="ZoneTexte 3"/>
          <p:cNvSpPr txBox="1"/>
          <p:nvPr/>
        </p:nvSpPr>
        <p:spPr>
          <a:xfrm>
            <a:off x="3084022" y="1496291"/>
            <a:ext cx="5345083"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GB" sz="3600" dirty="0"/>
              <a:t>NATO, 1949</a:t>
            </a:r>
            <a:endParaRPr lang="fr-LU" sz="3600" dirty="0"/>
          </a:p>
        </p:txBody>
      </p:sp>
    </p:spTree>
    <p:extLst>
      <p:ext uri="{BB962C8B-B14F-4D97-AF65-F5344CB8AC3E}">
        <p14:creationId xmlns:p14="http://schemas.microsoft.com/office/powerpoint/2010/main" val="29323660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en-GB" dirty="0"/>
              <a:t>The </a:t>
            </a:r>
            <a:r>
              <a:rPr lang="en-GB" dirty="0" err="1"/>
              <a:t>nato</a:t>
            </a:r>
            <a:endParaRPr lang="fr-LU" dirty="0"/>
          </a:p>
        </p:txBody>
      </p:sp>
      <p:sp>
        <p:nvSpPr>
          <p:cNvPr id="3" name="Espace réservé du contenu 2"/>
          <p:cNvSpPr>
            <a:spLocks noGrp="1"/>
          </p:cNvSpPr>
          <p:nvPr>
            <p:ph sz="quarter" idx="13"/>
          </p:nvPr>
        </p:nvSpPr>
        <p:spPr/>
        <p:txBody>
          <a:bodyPr/>
          <a:lstStyle/>
          <a:p>
            <a:r>
              <a:rPr lang="en-GB" dirty="0"/>
              <a:t>As a response to sovietisation</a:t>
            </a:r>
          </a:p>
          <a:p>
            <a:r>
              <a:rPr lang="en-GB" dirty="0"/>
              <a:t>1949: USA, Canada and other western European states set up the North Atlantic Treaty Organisation (</a:t>
            </a:r>
            <a:r>
              <a:rPr lang="en-GB" dirty="0" err="1"/>
              <a:t>Nato</a:t>
            </a:r>
            <a:r>
              <a:rPr lang="en-GB" dirty="0"/>
              <a:t>) – a military alliance according to which: the member states would “come to each other’s aid if one of them were attacked”</a:t>
            </a:r>
            <a:endParaRPr lang="fr-LU" dirty="0"/>
          </a:p>
        </p:txBody>
      </p:sp>
      <p:sp>
        <p:nvSpPr>
          <p:cNvPr id="4" name="Rectangle 3"/>
          <p:cNvSpPr/>
          <p:nvPr/>
        </p:nvSpPr>
        <p:spPr>
          <a:xfrm>
            <a:off x="2053486" y="5796340"/>
            <a:ext cx="6162328"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fr-LU" dirty="0"/>
              <a:t>NATO (1949-):https://www.youtube.com/watch?v=8MQ59Ij5fkM </a:t>
            </a:r>
          </a:p>
        </p:txBody>
      </p:sp>
      <p:sp>
        <p:nvSpPr>
          <p:cNvPr id="5" name="ZoneTexte 4"/>
          <p:cNvSpPr txBox="1"/>
          <p:nvPr/>
        </p:nvSpPr>
        <p:spPr>
          <a:xfrm>
            <a:off x="1022465" y="989215"/>
            <a:ext cx="1354975"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Remember!</a:t>
            </a:r>
            <a:endParaRPr lang="fr-LU" dirty="0"/>
          </a:p>
        </p:txBody>
      </p:sp>
    </p:spTree>
    <p:extLst>
      <p:ext uri="{BB962C8B-B14F-4D97-AF65-F5344CB8AC3E}">
        <p14:creationId xmlns:p14="http://schemas.microsoft.com/office/powerpoint/2010/main" val="40662569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903420" y="116378"/>
            <a:ext cx="5812994" cy="6235757"/>
          </a:xfrm>
          <a:prstGeom prst="rect">
            <a:avLst/>
          </a:prstGeom>
        </p:spPr>
      </p:pic>
      <p:sp>
        <p:nvSpPr>
          <p:cNvPr id="3" name="ZoneTexte 2"/>
          <p:cNvSpPr txBox="1"/>
          <p:nvPr/>
        </p:nvSpPr>
        <p:spPr>
          <a:xfrm>
            <a:off x="1022465" y="989215"/>
            <a:ext cx="1354975"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Remember!</a:t>
            </a:r>
            <a:endParaRPr lang="fr-LU" dirty="0"/>
          </a:p>
        </p:txBody>
      </p:sp>
    </p:spTree>
    <p:extLst>
      <p:ext uri="{BB962C8B-B14F-4D97-AF65-F5344CB8AC3E}">
        <p14:creationId xmlns:p14="http://schemas.microsoft.com/office/powerpoint/2010/main" val="27629789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51678" y="382385"/>
            <a:ext cx="10178322" cy="739833"/>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algn="ctr"/>
            <a:r>
              <a:rPr lang="en-GB" sz="3600" dirty="0"/>
              <a:t>European defence community, (EDC), 1952</a:t>
            </a:r>
            <a:endParaRPr lang="fr-LU" sz="3600" dirty="0"/>
          </a:p>
        </p:txBody>
      </p:sp>
      <p:sp>
        <p:nvSpPr>
          <p:cNvPr id="3" name="Espace réservé du contenu 2"/>
          <p:cNvSpPr>
            <a:spLocks noGrp="1"/>
          </p:cNvSpPr>
          <p:nvPr>
            <p:ph idx="1"/>
          </p:nvPr>
        </p:nvSpPr>
        <p:spPr>
          <a:xfrm>
            <a:off x="1251678" y="1820488"/>
            <a:ext cx="10178322" cy="3593591"/>
          </a:xfrm>
        </p:spPr>
        <p:txBody>
          <a:bodyPr/>
          <a:lstStyle/>
          <a:p>
            <a:r>
              <a:rPr lang="en-GB" dirty="0"/>
              <a:t>During the Korean War (early 50s) the USA put pressure on Europe to assume responsibility for its own defence and especially for the re-arming of West Germany. </a:t>
            </a:r>
          </a:p>
          <a:p>
            <a:r>
              <a:rPr lang="en-GB" dirty="0"/>
              <a:t>The French government proposed that re-arming could be allowed within a European Defence Community. This could control the German army and create a joined command structure.</a:t>
            </a:r>
          </a:p>
          <a:p>
            <a:r>
              <a:rPr lang="en-GB" dirty="0"/>
              <a:t>The EDC treaty was signed by the six members of the ECSC in 1952. BUT: opposition in France: 1. over the loss of sovereignty and increasing Cold War tensions (from French communists)                    the plan was rejected by the French Parliament in 1954. The first setback. So, from then on they would refocus on economics as the method for integration.</a:t>
            </a:r>
            <a:endParaRPr lang="fr-LU" dirty="0"/>
          </a:p>
        </p:txBody>
      </p:sp>
      <p:sp>
        <p:nvSpPr>
          <p:cNvPr id="4" name="Flèche droite à entaille 3"/>
          <p:cNvSpPr/>
          <p:nvPr/>
        </p:nvSpPr>
        <p:spPr>
          <a:xfrm>
            <a:off x="3025833" y="4114800"/>
            <a:ext cx="980902" cy="207818"/>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LU"/>
          </a:p>
        </p:txBody>
      </p:sp>
    </p:spTree>
    <p:extLst>
      <p:ext uri="{BB962C8B-B14F-4D97-AF65-F5344CB8AC3E}">
        <p14:creationId xmlns:p14="http://schemas.microsoft.com/office/powerpoint/2010/main" val="31993989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style>
          <a:lnRef idx="2">
            <a:schemeClr val="accent6">
              <a:shade val="50000"/>
            </a:schemeClr>
          </a:lnRef>
          <a:fillRef idx="1">
            <a:schemeClr val="accent6"/>
          </a:fillRef>
          <a:effectRef idx="0">
            <a:schemeClr val="accent6"/>
          </a:effectRef>
          <a:fontRef idx="minor">
            <a:schemeClr val="lt1"/>
          </a:fontRef>
        </p:style>
        <p:txBody>
          <a:bodyPr>
            <a:normAutofit fontScale="90000"/>
          </a:bodyPr>
          <a:lstStyle/>
          <a:p>
            <a:pPr algn="ctr"/>
            <a:r>
              <a:rPr lang="en-US" sz="4000" dirty="0"/>
              <a:t>In Detail: Monnet’s Failure: The campaign for a single European army </a:t>
            </a:r>
            <a:endParaRPr lang="fr-LU" sz="4000" dirty="0"/>
          </a:p>
        </p:txBody>
      </p:sp>
      <p:sp>
        <p:nvSpPr>
          <p:cNvPr id="3" name="Espace réservé du contenu 2"/>
          <p:cNvSpPr>
            <a:spLocks noGrp="1"/>
          </p:cNvSpPr>
          <p:nvPr>
            <p:ph idx="1"/>
          </p:nvPr>
        </p:nvSpPr>
        <p:spPr>
          <a:xfrm>
            <a:off x="806334" y="2369129"/>
            <a:ext cx="10274531" cy="2593570"/>
          </a:xfrm>
        </p:spPr>
        <p:txBody>
          <a:bodyPr>
            <a:normAutofit/>
          </a:bodyPr>
          <a:lstStyle/>
          <a:p>
            <a:pPr algn="just"/>
            <a:r>
              <a:rPr lang="en-US" dirty="0"/>
              <a:t>The European </a:t>
            </a:r>
            <a:r>
              <a:rPr lang="en-US" dirty="0" err="1"/>
              <a:t>Defence</a:t>
            </a:r>
            <a:r>
              <a:rPr lang="en-US" dirty="0"/>
              <a:t> Community (EDC) was a plan proposed in 1950 by René Pleven in response to the American call for the rearmament of West Germany. The intention was to form a pan-European </a:t>
            </a:r>
            <a:r>
              <a:rPr lang="en-US" dirty="0" err="1"/>
              <a:t>defence</a:t>
            </a:r>
            <a:r>
              <a:rPr lang="en-US" dirty="0"/>
              <a:t> force as an alternative to Germany's proposed accession to NATO. The EDC was to include West Germany, France, Italy, and the Benelux countries. A treaty was signed on 27 May 1952, but the plan never went into effect. The plan collapsed when it failed to obtain ratification in the French Parliament. There were Gaullist fears that the EDC threatened France's national sovereignty and fears about Germany's remilitarization.</a:t>
            </a:r>
            <a:endParaRPr lang="fr-LU" dirty="0"/>
          </a:p>
        </p:txBody>
      </p:sp>
    </p:spTree>
    <p:extLst>
      <p:ext uri="{BB962C8B-B14F-4D97-AF65-F5344CB8AC3E}">
        <p14:creationId xmlns:p14="http://schemas.microsoft.com/office/powerpoint/2010/main" val="17726082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algn="just"/>
            <a:r>
              <a:rPr lang="en-US" dirty="0"/>
              <a:t>Communists opposed any plan tying France to the capitalist USA and setting it in opposition to the Communist bloc. Other legislators worried about the absence of the United Kingdom. The EDC went for ratification in the French National Assembly on 30 August 1954, and failed by a vote of 264-319. By this time, concerns about a future conflict faded with the death of Joseph Stalin and the end of the Korean War. The EDC would have established a pan-European military, divided into national components. In this military, the French, Italian, Belgium, Dutch and Luxembourg components would report to their national governments, whereas the German component would report to the EDC. However, in the event of its rejection, it was agreed to let the German government control its own military.</a:t>
            </a:r>
            <a:endParaRPr lang="fr-LU" dirty="0"/>
          </a:p>
        </p:txBody>
      </p:sp>
    </p:spTree>
    <p:extLst>
      <p:ext uri="{BB962C8B-B14F-4D97-AF65-F5344CB8AC3E}">
        <p14:creationId xmlns:p14="http://schemas.microsoft.com/office/powerpoint/2010/main" val="32440198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4490587" y="565264"/>
            <a:ext cx="5644965" cy="5914506"/>
          </a:xfrm>
          <a:prstGeom prst="rect">
            <a:avLst/>
          </a:prstGeom>
        </p:spPr>
      </p:pic>
      <p:sp>
        <p:nvSpPr>
          <p:cNvPr id="3" name="ZoneTexte 2"/>
          <p:cNvSpPr txBox="1"/>
          <p:nvPr/>
        </p:nvSpPr>
        <p:spPr>
          <a:xfrm>
            <a:off x="1163782" y="482138"/>
            <a:ext cx="2693323" cy="120032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GB" dirty="0"/>
              <a:t>What is the message of the following cartoons?</a:t>
            </a:r>
          </a:p>
          <a:p>
            <a:r>
              <a:rPr lang="en-GB" dirty="0"/>
              <a:t>Are they for or against the creation of the EDC?</a:t>
            </a:r>
            <a:endParaRPr lang="fr-LU" dirty="0"/>
          </a:p>
        </p:txBody>
      </p:sp>
    </p:spTree>
    <p:extLst>
      <p:ext uri="{BB962C8B-B14F-4D97-AF65-F5344CB8AC3E}">
        <p14:creationId xmlns:p14="http://schemas.microsoft.com/office/powerpoint/2010/main" val="25996033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3066259" y="423949"/>
            <a:ext cx="6312401" cy="6105698"/>
          </a:xfrm>
          <a:prstGeom prst="rect">
            <a:avLst/>
          </a:prstGeom>
        </p:spPr>
      </p:pic>
    </p:spTree>
    <p:extLst>
      <p:ext uri="{BB962C8B-B14F-4D97-AF65-F5344CB8AC3E}">
        <p14:creationId xmlns:p14="http://schemas.microsoft.com/office/powerpoint/2010/main" val="18089150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3763105" y="507075"/>
            <a:ext cx="4019945" cy="5706687"/>
          </a:xfrm>
          <a:prstGeom prst="rect">
            <a:avLst/>
          </a:prstGeom>
        </p:spPr>
      </p:pic>
    </p:spTree>
    <p:extLst>
      <p:ext uri="{BB962C8B-B14F-4D97-AF65-F5344CB8AC3E}">
        <p14:creationId xmlns:p14="http://schemas.microsoft.com/office/powerpoint/2010/main" val="31700890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243105" y="615141"/>
            <a:ext cx="6997357" cy="5656811"/>
          </a:xfrm>
          <a:prstGeom prst="rect">
            <a:avLst/>
          </a:prstGeom>
        </p:spPr>
      </p:pic>
    </p:spTree>
    <p:extLst>
      <p:ext uri="{BB962C8B-B14F-4D97-AF65-F5344CB8AC3E}">
        <p14:creationId xmlns:p14="http://schemas.microsoft.com/office/powerpoint/2010/main" val="30615013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3776662" y="1895475"/>
            <a:ext cx="4638675" cy="3067050"/>
          </a:xfrm>
          <a:prstGeom prst="rect">
            <a:avLst/>
          </a:prstGeom>
        </p:spPr>
      </p:pic>
    </p:spTree>
    <p:extLst>
      <p:ext uri="{BB962C8B-B14F-4D97-AF65-F5344CB8AC3E}">
        <p14:creationId xmlns:p14="http://schemas.microsoft.com/office/powerpoint/2010/main" val="564857259"/>
      </p:ext>
    </p:extLst>
  </p:cSld>
  <p:clrMapOvr>
    <a:masterClrMapping/>
  </p:clrMapOvr>
  <p:timing>
    <p:tnLst>
      <p:par>
        <p:cTn id="1" dur="indefinite" restart="never" nodeType="tmRoot"/>
      </p:par>
    </p:tn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fea1787-2ef9-4f1d-aacd-0861f6e873fa">
      <Terms xmlns="http://schemas.microsoft.com/office/infopath/2007/PartnerControls"/>
    </lcf76f155ced4ddcb4097134ff3c332f>
    <TaxCatchAll xmlns="0c0b9f58-b642-446f-914d-3f292fb8390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C1C266872DD8C4699140ABCF4701477" ma:contentTypeVersion="12" ma:contentTypeDescription="Create a new document." ma:contentTypeScope="" ma:versionID="8712a6bca791adb5cda0bf6241e143c6">
  <xsd:schema xmlns:xsd="http://www.w3.org/2001/XMLSchema" xmlns:xs="http://www.w3.org/2001/XMLSchema" xmlns:p="http://schemas.microsoft.com/office/2006/metadata/properties" xmlns:ns2="8fea1787-2ef9-4f1d-aacd-0861f6e873fa" xmlns:ns3="0c0b9f58-b642-446f-914d-3f292fb83902" targetNamespace="http://schemas.microsoft.com/office/2006/metadata/properties" ma:root="true" ma:fieldsID="cbf496898916a0ccd3f2cb11a3c66241" ns2:_="" ns3:_="">
    <xsd:import namespace="8fea1787-2ef9-4f1d-aacd-0861f6e873fa"/>
    <xsd:import namespace="0c0b9f58-b642-446f-914d-3f292fb8390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ea1787-2ef9-4f1d-aacd-0861f6e873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b630b34-ef66-4a23-b54c-047f976c1c4e"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c0b9f58-b642-446f-914d-3f292fb8390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9920f2c-1fdf-4626-9c5d-e072731e0ce9}" ma:internalName="TaxCatchAll" ma:showField="CatchAllData" ma:web="0c0b9f58-b642-446f-914d-3f292fb839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730448-6774-431D-8546-FAA650EE0D1C}">
  <ds:schemaRefs>
    <ds:schemaRef ds:uri="http://schemas.microsoft.com/office/2006/metadata/properties"/>
    <ds:schemaRef ds:uri="http://schemas.microsoft.com/office/infopath/2007/PartnerControls"/>
    <ds:schemaRef ds:uri="8fea1787-2ef9-4f1d-aacd-0861f6e873fa"/>
    <ds:schemaRef ds:uri="0c0b9f58-b642-446f-914d-3f292fb83902"/>
  </ds:schemaRefs>
</ds:datastoreItem>
</file>

<file path=customXml/itemProps2.xml><?xml version="1.0" encoding="utf-8"?>
<ds:datastoreItem xmlns:ds="http://schemas.openxmlformats.org/officeDocument/2006/customXml" ds:itemID="{020ACC06-72C0-4E87-81BE-CEDC0F8D0D93}">
  <ds:schemaRefs>
    <ds:schemaRef ds:uri="http://schemas.microsoft.com/sharepoint/v3/contenttype/forms"/>
  </ds:schemaRefs>
</ds:datastoreItem>
</file>

<file path=customXml/itemProps3.xml><?xml version="1.0" encoding="utf-8"?>
<ds:datastoreItem xmlns:ds="http://schemas.openxmlformats.org/officeDocument/2006/customXml" ds:itemID="{ADD0BB8C-9DC9-4115-9960-4132F6E8C0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ea1787-2ef9-4f1d-aacd-0861f6e873fa"/>
    <ds:schemaRef ds:uri="0c0b9f58-b642-446f-914d-3f292fb839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TM10001106[[fn=Badge]]</Template>
  <TotalTime>17</TotalTime>
  <Words>1350</Words>
  <Application>Microsoft Office PowerPoint</Application>
  <PresentationFormat>Widescreen</PresentationFormat>
  <Paragraphs>66</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Gill Sans MT</vt:lpstr>
      <vt:lpstr>Impact</vt:lpstr>
      <vt:lpstr>Badge</vt:lpstr>
      <vt:lpstr>The Evolution of European Unity</vt:lpstr>
      <vt:lpstr>Political cooperation The council of Europe, 1949</vt:lpstr>
      <vt:lpstr>The Council of Europe</vt:lpstr>
      <vt:lpstr>PowerPoint Presentation</vt:lpstr>
      <vt:lpstr>Economic Cooperation</vt:lpstr>
      <vt:lpstr>Organization for European Economic Cooperation (OEEC)</vt:lpstr>
      <vt:lpstr>Organisation for European Economic Co-operation   </vt:lpstr>
      <vt:lpstr>European Coal and Steel Community (ECSC), 1952</vt:lpstr>
      <vt:lpstr>Importance of the ECSC</vt:lpstr>
      <vt:lpstr>Military Cooperation</vt:lpstr>
      <vt:lpstr>The nato</vt:lpstr>
      <vt:lpstr>PowerPoint Presentation</vt:lpstr>
      <vt:lpstr>European defence community, (EDC), 1952</vt:lpstr>
      <vt:lpstr>In Detail: Monnet’s Failure: The campaign for a single European army </vt:lpstr>
      <vt:lpstr>PowerPoint Presentation</vt:lpstr>
      <vt:lpstr>PowerPoint Presentation</vt:lpstr>
      <vt:lpstr>PowerPoint Presentation</vt:lpstr>
      <vt:lpstr>PowerPoint Presentation</vt:lpstr>
      <vt:lpstr>PowerPoint Presentation</vt:lpstr>
      <vt:lpstr>PowerPoint Presentation</vt:lpstr>
    </vt:vector>
  </TitlesOfParts>
  <Company>European School Luxembourg I</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Evolution of European Unity</dc:title>
  <dc:creator>KNITOU Vasiliki</dc:creator>
  <cp:lastModifiedBy>Don Patx</cp:lastModifiedBy>
  <cp:revision>12</cp:revision>
  <dcterms:created xsi:type="dcterms:W3CDTF">2021-01-29T12:34:48Z</dcterms:created>
  <dcterms:modified xsi:type="dcterms:W3CDTF">2026-02-02T14:36:07Z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0x0101006C1C266872DD8C4699140ABCF4701477</vt:lpwstr>
  </property>
</Properties>
</file>
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 Slab"/>
      <p:regular r:id="rId12"/>
      <p:bold r:id="rId13"/>
    </p:embeddedFon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Slab-bold.fntdata"/><Relationship Id="rId12" Type="http://schemas.openxmlformats.org/officeDocument/2006/relationships/font" Target="fonts/RobotoSlab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6e4346c0c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96e4346c0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6e4346c0c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6e4346c0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6e4346c0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6e4346c0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6e4346c0c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6e4346c0c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6e4346c0c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6e4346c0c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EU Agencies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Triviño and Jordana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Authors’ Background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Juan Carlos Triviño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Researcher at the Institut Barcelona d’Estudis Internacionals (IBEI)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Focuses on EU governance and public administration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Jacint Jordana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Professor of political science at Universitat Pompeu Fabra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Senior researcher at IBEI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Expert in regulation, public policy, and EU institutions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What are EU Agencies?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EU agencies are organizations created to assist the EU in implementing specific policies on issues like health, the border, and finance.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" sz="1600"/>
              <a:t>Ex: Frontex handles borders,  European Medicines Agency (EMA) handles medicines 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Why do they exist?: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" sz="1600"/>
              <a:t>The European Union needed help managing complex problems.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" sz="1600"/>
              <a:t>EU countries and institutions don’t always agree.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87900" y="533475"/>
            <a:ext cx="41841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300"/>
              <a:t>Creation of EU agencies through waves and functions</a:t>
            </a:r>
            <a:endParaRPr sz="2300"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87900" y="1489825"/>
            <a:ext cx="43098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u="sng"/>
              <a:t>First Wave (1970s)</a:t>
            </a:r>
            <a:r>
              <a:rPr lang="es"/>
              <a:t> - Focused mainly on providing information and basic support to EU institutions.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u="sng"/>
              <a:t>Second Wave (1990s)</a:t>
            </a:r>
            <a:r>
              <a:rPr lang="es"/>
              <a:t> - Include more technical expertise and coordination roles as EU policies became more complex.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u="sng"/>
              <a:t>Third Wave (2000s - present)</a:t>
            </a:r>
            <a:r>
              <a:rPr lang="es"/>
              <a:t> - Taken on more operational and regulatory responsibilities, especially in response to crises.</a:t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7590" y="0"/>
            <a:ext cx="444642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Independence vs Control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87900" y="1489825"/>
            <a:ext cx="81426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 central debate is whether these agencies act independently or remain under the control of EU institutions and member states.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</a:t>
            </a:r>
            <a:r>
              <a:rPr lang="es"/>
              <a:t>hey are designed to be independent, but in practice, they are constrained by EU actors. 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s" sz="1600"/>
              <a:t>De jure autonomy -</a:t>
            </a:r>
            <a:r>
              <a:rPr lang="es" sz="1600"/>
              <a:t> legal independence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s" sz="1600"/>
              <a:t>De facto autonomy -</a:t>
            </a:r>
            <a:r>
              <a:rPr lang="es" sz="1600"/>
              <a:t> real-world independence</a:t>
            </a:r>
            <a:endParaRPr sz="16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u="sng"/>
              <a:t>Principal-Agent Theory </a:t>
            </a:r>
            <a:r>
              <a:rPr lang="es"/>
              <a:t>- Suggests agencies are delegated tasks but closely monitored, meaning their autonomy is limited.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Authors’ Suggestions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Study what agencies actually achieve and whether they improve policy outcomes.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Study their coordination role more.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Consider the role of external actors and informal decision-making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Better understand multi-level governance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
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ubik Medium"/>
      <p:regular r:id="rId17"/>
      <p:bold r:id="rId18"/>
      <p:italic r:id="rId19"/>
      <p:boldItalic r:id="rId20"/>
    </p:embeddedFont>
    <p:embeddedFont>
      <p:font typeface="Young Serif"/>
      <p:regular r:id="rId21"/>
    </p:embeddedFont>
    <p:embeddedFont>
      <p:font typeface="Rubik ExtraBold"/>
      <p:bold r:id="rId22"/>
      <p:boldItalic r:id="rId23"/>
    </p:embeddedFont>
    <p:embeddedFont>
      <p:font typeface="Rubik"/>
      <p:regular r:id="rId24"/>
      <p:bold r:id="rId25"/>
      <p:italic r:id="rId26"/>
      <p:boldItalic r:id="rId27"/>
    </p:embeddedFont>
    <p:embeddedFont>
      <p:font typeface="Rubik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Medium-boldItalic.fntdata"/><Relationship Id="rId22" Type="http://schemas.openxmlformats.org/officeDocument/2006/relationships/font" Target="fonts/RubikExtraBold-bold.fntdata"/><Relationship Id="rId21" Type="http://schemas.openxmlformats.org/officeDocument/2006/relationships/font" Target="fonts/YoungSerif-regular.fntdata"/><Relationship Id="rId24" Type="http://schemas.openxmlformats.org/officeDocument/2006/relationships/font" Target="fonts/Rubik-regular.fntdata"/><Relationship Id="rId23" Type="http://schemas.openxmlformats.org/officeDocument/2006/relationships/font" Target="fonts/Rubik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ubik-italic.fntdata"/><Relationship Id="rId25" Type="http://schemas.openxmlformats.org/officeDocument/2006/relationships/font" Target="fonts/Rubik-bold.fntdata"/><Relationship Id="rId28" Type="http://schemas.openxmlformats.org/officeDocument/2006/relationships/font" Target="fonts/RubikSemiBold-regular.fntdata"/><Relationship Id="rId27" Type="http://schemas.openxmlformats.org/officeDocument/2006/relationships/font" Target="fonts/Rubi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ubik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ubikSemiBold-boldItalic.fntdata"/><Relationship Id="rId30" Type="http://schemas.openxmlformats.org/officeDocument/2006/relationships/font" Target="fonts/Rubik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ubikMedium-regular.fntdata"/><Relationship Id="rId16" Type="http://schemas.openxmlformats.org/officeDocument/2006/relationships/slide" Target="slides/slide11.xml"/><Relationship Id="rId19" Type="http://schemas.openxmlformats.org/officeDocument/2006/relationships/font" Target="fonts/RubikMedium-italic.fntdata"/><Relationship Id="rId18" Type="http://schemas.openxmlformats.org/officeDocument/2006/relationships/font" Target="fonts/Rubik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6042ab6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6042ab6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6042ab6f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6042ab6f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6042ab6ff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6042ab6f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042ab6ff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6042ab6ff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6042ab6ff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6042ab6ff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6042ab6ff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6042ab6ff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6042ab6ff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6042ab6ff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6042ab6f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6042ab6f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6042ab6ff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6042ab6ff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6042ab6ff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6042ab6ff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6042ab6ff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6042ab6ff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1" name="Google Shape;61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1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1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3" name="Google Shape;123;p2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1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1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2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2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9" name="Google Shape;139;p22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23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23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1" name="Google Shape;151;p2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" name="Google Shape;152;p2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53" name="Google Shape;153;p2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4" name="Google Shape;154;p24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4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6" name="Google Shape;156;p24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25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2" name="Google Shape;162;p25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3" name="Google Shape;163;p25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5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5" name="Google Shape;165;p25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6" name="Google Shape;166;p25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2" name="Google Shape;172;p26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6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7" name="Google Shape;177;p26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8" name="Google Shape;178;p26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27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7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8" name="Google Shape;188;p27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27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4" name="Google Shape;194;p28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8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8" name="Google Shape;198;p28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9" name="Google Shape;199;p28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0" name="Google Shape;200;p2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1" name="Google Shape;201;p28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2" name="Google Shape;202;p2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3" name="Google Shape;203;p28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28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7" name="Google Shape;207;p28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428100" y="1457225"/>
            <a:ext cx="8287800" cy="17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The Gendered History of Economic and Monetary Union” </a:t>
            </a:r>
            <a:r>
              <a:rPr lang="en" sz="4800"/>
              <a:t>by </a:t>
            </a:r>
            <a:r>
              <a:rPr lang="en" sz="4800"/>
              <a:t>Muireann O’Dwyer</a:t>
            </a:r>
            <a:endParaRPr sz="4800"/>
          </a:p>
        </p:txBody>
      </p:sp>
      <p:sp>
        <p:nvSpPr>
          <p:cNvPr id="218" name="Google Shape;218;p31"/>
          <p:cNvSpPr txBox="1"/>
          <p:nvPr>
            <p:ph idx="1" type="subTitle"/>
          </p:nvPr>
        </p:nvSpPr>
        <p:spPr>
          <a:xfrm>
            <a:off x="2406300" y="4223475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Lexi Golding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is: Muireann O’Dwyer</a:t>
            </a:r>
            <a:endParaRPr/>
          </a:p>
        </p:txBody>
      </p:sp>
      <p:sp>
        <p:nvSpPr>
          <p:cNvPr id="224" name="Google Shape;224;p32"/>
          <p:cNvSpPr txBox="1"/>
          <p:nvPr>
            <p:ph idx="4294967295" type="body"/>
          </p:nvPr>
        </p:nvSpPr>
        <p:spPr>
          <a:xfrm>
            <a:off x="269500" y="1380150"/>
            <a:ext cx="8510100" cy="31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50"/>
              <a:buFont typeface="Rubik Medium"/>
              <a:buChar char="●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L</a:t>
            </a: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ecturer in the School of International Relations at the University of St Andrews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Rubik Medium"/>
              <a:buChar char="●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Her work is focused on </a:t>
            </a: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feminist political economy, more specifically within the European Union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50"/>
              <a:buFont typeface="Rubik Medium"/>
              <a:buChar char="●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She has published in leading EU studies and feminist journals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50"/>
              <a:buFont typeface="Rubik Medium"/>
              <a:buChar char="○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 The </a:t>
            </a:r>
            <a:r>
              <a:rPr i="1" lang="en" sz="1550">
                <a:latin typeface="Rubik Medium"/>
                <a:ea typeface="Rubik Medium"/>
                <a:cs typeface="Rubik Medium"/>
                <a:sym typeface="Rubik Medium"/>
              </a:rPr>
              <a:t>Journal of Common Market Studies 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50"/>
              <a:buFont typeface="Rubik Medium"/>
              <a:buChar char="○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T</a:t>
            </a: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he </a:t>
            </a:r>
            <a:r>
              <a:rPr i="1" lang="en" sz="1550">
                <a:latin typeface="Rubik Medium"/>
                <a:ea typeface="Rubik Medium"/>
                <a:cs typeface="Rubik Medium"/>
                <a:sym typeface="Rubik Medium"/>
              </a:rPr>
              <a:t>European Journal of Politics and Gender</a:t>
            </a:r>
            <a:endParaRPr sz="1450"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248475" y="228600"/>
            <a:ext cx="8659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The Economic and Monetary Union (EMU)</a:t>
            </a:r>
            <a:endParaRPr sz="3000"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23075" y="1804900"/>
            <a:ext cx="3988200" cy="27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It’s role:</a:t>
            </a:r>
            <a:r>
              <a:rPr b="0" lang="en"/>
              <a:t> </a:t>
            </a:r>
            <a:endParaRPr b="0"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A part of the EU that is focused on </a:t>
            </a:r>
            <a:r>
              <a:rPr b="0" lang="en"/>
              <a:t>economic integration and creating one single common market</a:t>
            </a:r>
            <a:endParaRPr b="0"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Introduced by the Delors Report </a:t>
            </a:r>
            <a:r>
              <a:rPr b="0" lang="en"/>
              <a:t>(1989) </a:t>
            </a:r>
            <a:endParaRPr b="0"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Formalized (1992) by The Maastricht Treaty</a:t>
            </a:r>
            <a:endParaRPr/>
          </a:p>
        </p:txBody>
      </p:sp>
      <p:sp>
        <p:nvSpPr>
          <p:cNvPr id="231" name="Google Shape;231;p33"/>
          <p:cNvSpPr/>
          <p:nvPr/>
        </p:nvSpPr>
        <p:spPr>
          <a:xfrm>
            <a:off x="149075" y="1118150"/>
            <a:ext cx="8820900" cy="66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2" name="Google Shape;232;p33"/>
          <p:cNvSpPr txBox="1"/>
          <p:nvPr>
            <p:ph idx="3" type="subTitle"/>
          </p:nvPr>
        </p:nvSpPr>
        <p:spPr>
          <a:xfrm>
            <a:off x="243700" y="1094400"/>
            <a:ext cx="4199400" cy="6867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General context: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33" name="Google Shape;233;p33"/>
          <p:cNvSpPr txBox="1"/>
          <p:nvPr>
            <p:ph idx="3" type="subTitle"/>
          </p:nvPr>
        </p:nvSpPr>
        <p:spPr>
          <a:xfrm>
            <a:off x="4702125" y="1094450"/>
            <a:ext cx="4199400" cy="6867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Goals of the EMU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34" name="Google Shape;234;p33"/>
          <p:cNvSpPr txBox="1"/>
          <p:nvPr>
            <p:ph idx="1" type="body"/>
          </p:nvPr>
        </p:nvSpPr>
        <p:spPr>
          <a:xfrm>
            <a:off x="4807775" y="1804900"/>
            <a:ext cx="3988200" cy="27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Currency Unification</a:t>
            </a:r>
            <a:endParaRPr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Eliminates exchange rate flucuations </a:t>
            </a:r>
            <a:endParaRPr b="0"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Economic Stability</a:t>
            </a:r>
            <a:endParaRPr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Ensures low inflation, fiscal discipline, economic coordination</a:t>
            </a:r>
            <a:endParaRPr b="0"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Monetary Coordination</a:t>
            </a:r>
            <a:endParaRPr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European Central Bank (ECB) establishes monetary policy across the eurozone</a:t>
            </a:r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34"/>
          <p:cNvGrpSpPr/>
          <p:nvPr/>
        </p:nvGrpSpPr>
        <p:grpSpPr>
          <a:xfrm>
            <a:off x="398974" y="2514903"/>
            <a:ext cx="4003069" cy="1939773"/>
            <a:chOff x="2428800" y="521250"/>
            <a:chExt cx="4286400" cy="4101000"/>
          </a:xfrm>
        </p:grpSpPr>
        <p:sp>
          <p:nvSpPr>
            <p:cNvPr id="240" name="Google Shape;240;p34"/>
            <p:cNvSpPr/>
            <p:nvPr/>
          </p:nvSpPr>
          <p:spPr>
            <a:xfrm>
              <a:off x="2428800" y="521250"/>
              <a:ext cx="4286400" cy="4101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8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700" lIns="65700" spcFirstLastPara="1" rIns="65700" wrap="square" tIns="6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6"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241" name="Google Shape;241;p34"/>
            <p:cNvSpPr txBox="1"/>
            <p:nvPr/>
          </p:nvSpPr>
          <p:spPr>
            <a:xfrm>
              <a:off x="2665500" y="722049"/>
              <a:ext cx="3813000" cy="1315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65700" lIns="65700" spcFirstLastPara="1" rIns="65700" wrap="square" tIns="6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2">
                  <a:solidFill>
                    <a:srgbClr val="F6F6F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General Context:</a:t>
              </a:r>
              <a:endParaRPr sz="1802">
                <a:solidFill>
                  <a:srgbClr val="F6F6F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242" name="Google Shape;242;p34"/>
            <p:cNvSpPr txBox="1"/>
            <p:nvPr/>
          </p:nvSpPr>
          <p:spPr>
            <a:xfrm>
              <a:off x="2665503" y="1521719"/>
              <a:ext cx="3813000" cy="2870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65700" lIns="65700" spcFirstLastPara="1" rIns="65700" wrap="square" tIns="65700">
              <a:noAutofit/>
            </a:bodyPr>
            <a:lstStyle/>
            <a:p>
              <a:pPr indent="-309750" lvl="0" marL="429001" rtl="0" algn="l">
                <a:lnSpc>
                  <a:spcPct val="115000"/>
                </a:lnSpc>
                <a:spcBef>
                  <a:spcPts val="938"/>
                </a:spcBef>
                <a:spcAft>
                  <a:spcPts val="0"/>
                </a:spcAft>
                <a:buClr>
                  <a:srgbClr val="F6F6F1"/>
                </a:buClr>
                <a:buSzPts val="1500"/>
                <a:buFont typeface="Rubik"/>
                <a:buChar char="●"/>
              </a:pPr>
              <a:r>
                <a:rPr b="1" lang="en" sz="1500">
                  <a:solidFill>
                    <a:srgbClr val="F6F6F1"/>
                  </a:solidFill>
                  <a:latin typeface="Rubik"/>
                  <a:ea typeface="Rubik"/>
                  <a:cs typeface="Rubik"/>
                  <a:sym typeface="Rubik"/>
                </a:rPr>
                <a:t>Post-Cold War Europe</a:t>
              </a:r>
              <a:endParaRPr b="1" sz="1500">
                <a:solidFill>
                  <a:srgbClr val="F6F6F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-309750" lvl="0" marL="429001" rtl="0" algn="l">
                <a:lnSpc>
                  <a:spcPct val="115000"/>
                </a:lnSpc>
                <a:spcBef>
                  <a:spcPts val="938"/>
                </a:spcBef>
                <a:spcAft>
                  <a:spcPts val="0"/>
                </a:spcAft>
                <a:buClr>
                  <a:srgbClr val="F6F6F1"/>
                </a:buClr>
                <a:buSzPts val="1500"/>
                <a:buFont typeface="Rubik"/>
                <a:buChar char="●"/>
              </a:pPr>
              <a:r>
                <a:rPr b="1" lang="en" sz="1500">
                  <a:solidFill>
                    <a:srgbClr val="F6F6F1"/>
                  </a:solidFill>
                  <a:latin typeface="Rubik"/>
                  <a:ea typeface="Rubik"/>
                  <a:cs typeface="Rubik"/>
                  <a:sym typeface="Rubik"/>
                </a:rPr>
                <a:t>Economic Crises </a:t>
              </a:r>
              <a:endParaRPr b="1" sz="1500">
                <a:solidFill>
                  <a:srgbClr val="F6F6F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-309750" lvl="0" marL="429001" rtl="0" algn="l">
                <a:lnSpc>
                  <a:spcPct val="115000"/>
                </a:lnSpc>
                <a:spcBef>
                  <a:spcPts val="938"/>
                </a:spcBef>
                <a:spcAft>
                  <a:spcPts val="0"/>
                </a:spcAft>
                <a:buClr>
                  <a:srgbClr val="F6F6F1"/>
                </a:buClr>
                <a:buSzPts val="1500"/>
                <a:buFont typeface="Rubik"/>
                <a:buChar char="●"/>
              </a:pPr>
              <a:r>
                <a:rPr b="1" lang="en" sz="1500">
                  <a:solidFill>
                    <a:srgbClr val="F6F6F1"/>
                  </a:solidFill>
                  <a:latin typeface="Rubik"/>
                  <a:ea typeface="Rubik"/>
                  <a:cs typeface="Rubik"/>
                  <a:sym typeface="Rubik"/>
                </a:rPr>
                <a:t>Steps towards economic integration</a:t>
              </a:r>
              <a:endParaRPr b="1" sz="1500">
                <a:solidFill>
                  <a:srgbClr val="F6F6F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97">
                <a:solidFill>
                  <a:srgbClr val="F6F6F1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243" name="Google Shape;243;p34"/>
          <p:cNvSpPr txBox="1"/>
          <p:nvPr/>
        </p:nvSpPr>
        <p:spPr>
          <a:xfrm>
            <a:off x="243600" y="1156650"/>
            <a:ext cx="8656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The State of the EU at the Time of EMU </a:t>
            </a:r>
            <a:r>
              <a:rPr lang="en" sz="28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(Late 1980s - Early 1990s)</a:t>
            </a:r>
            <a:endParaRPr sz="1100">
              <a:solidFill>
                <a:schemeClr val="dk1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  <p:sp>
        <p:nvSpPr>
          <p:cNvPr id="244" name="Google Shape;244;p3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Historical Context: </a:t>
            </a:r>
            <a:r>
              <a:rPr lang="en" sz="2800"/>
              <a:t>(1/2)</a:t>
            </a:r>
            <a:endParaRPr sz="2800"/>
          </a:p>
        </p:txBody>
      </p:sp>
      <p:grpSp>
        <p:nvGrpSpPr>
          <p:cNvPr id="245" name="Google Shape;245;p34"/>
          <p:cNvGrpSpPr/>
          <p:nvPr/>
        </p:nvGrpSpPr>
        <p:grpSpPr>
          <a:xfrm>
            <a:off x="4741954" y="2514903"/>
            <a:ext cx="4003069" cy="1939773"/>
            <a:chOff x="2428800" y="521250"/>
            <a:chExt cx="4286400" cy="4101000"/>
          </a:xfrm>
        </p:grpSpPr>
        <p:sp>
          <p:nvSpPr>
            <p:cNvPr id="246" name="Google Shape;246;p34"/>
            <p:cNvSpPr/>
            <p:nvPr/>
          </p:nvSpPr>
          <p:spPr>
            <a:xfrm>
              <a:off x="2428800" y="521250"/>
              <a:ext cx="4286400" cy="4101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8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700" lIns="65700" spcFirstLastPara="1" rIns="65700" wrap="square" tIns="6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6"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247" name="Google Shape;247;p34"/>
            <p:cNvSpPr txBox="1"/>
            <p:nvPr/>
          </p:nvSpPr>
          <p:spPr>
            <a:xfrm>
              <a:off x="2665500" y="722049"/>
              <a:ext cx="3813000" cy="1315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65700" lIns="65700" spcFirstLastPara="1" rIns="65700" wrap="square" tIns="6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2">
                  <a:solidFill>
                    <a:srgbClr val="F6F6F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From a Gender Perspective:</a:t>
              </a:r>
              <a:endParaRPr sz="1802">
                <a:solidFill>
                  <a:srgbClr val="F6F6F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102">
                <a:solidFill>
                  <a:srgbClr val="F6F6F1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248" name="Google Shape;248;p34"/>
            <p:cNvSpPr txBox="1"/>
            <p:nvPr/>
          </p:nvSpPr>
          <p:spPr>
            <a:xfrm>
              <a:off x="2665503" y="1521719"/>
              <a:ext cx="3813000" cy="2870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65700" lIns="65700" spcFirstLastPara="1" rIns="65700" wrap="square" tIns="65700">
              <a:noAutofit/>
            </a:bodyPr>
            <a:lstStyle/>
            <a:p>
              <a:pPr indent="-309750" lvl="0" marL="429001" rtl="0" algn="l">
                <a:lnSpc>
                  <a:spcPct val="115000"/>
                </a:lnSpc>
                <a:spcBef>
                  <a:spcPts val="938"/>
                </a:spcBef>
                <a:spcAft>
                  <a:spcPts val="0"/>
                </a:spcAft>
                <a:buClr>
                  <a:srgbClr val="F6F6F1"/>
                </a:buClr>
                <a:buSzPts val="1500"/>
                <a:buFont typeface="Rubik"/>
                <a:buChar char="●"/>
              </a:pPr>
              <a:r>
                <a:rPr b="1" lang="en" sz="1500">
                  <a:solidFill>
                    <a:srgbClr val="F6F6F1"/>
                  </a:solidFill>
                  <a:latin typeface="Rubik"/>
                  <a:ea typeface="Rubik"/>
                  <a:cs typeface="Rubik"/>
                  <a:sym typeface="Rubik"/>
                </a:rPr>
                <a:t>Economic Disparities </a:t>
              </a:r>
              <a:endParaRPr b="1" sz="1500">
                <a:solidFill>
                  <a:srgbClr val="F6F6F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-309750" lvl="0" marL="429001" rtl="0" algn="l">
                <a:lnSpc>
                  <a:spcPct val="115000"/>
                </a:lnSpc>
                <a:spcBef>
                  <a:spcPts val="938"/>
                </a:spcBef>
                <a:spcAft>
                  <a:spcPts val="0"/>
                </a:spcAft>
                <a:buClr>
                  <a:srgbClr val="F6F6F1"/>
                </a:buClr>
                <a:buSzPts val="1500"/>
                <a:buFont typeface="Rubik"/>
                <a:buChar char="●"/>
              </a:pPr>
              <a:r>
                <a:rPr b="1" lang="en" sz="1500">
                  <a:solidFill>
                    <a:srgbClr val="F6F6F1"/>
                  </a:solidFill>
                  <a:latin typeface="Rubik"/>
                  <a:ea typeface="Rubik"/>
                  <a:cs typeface="Rubik"/>
                  <a:sym typeface="Rubik"/>
                </a:rPr>
                <a:t>Limited Gender Representation</a:t>
              </a:r>
              <a:endParaRPr b="1" sz="1500">
                <a:solidFill>
                  <a:srgbClr val="F6F6F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-309750" lvl="0" marL="429001" rtl="0" algn="l">
                <a:lnSpc>
                  <a:spcPct val="115000"/>
                </a:lnSpc>
                <a:spcBef>
                  <a:spcPts val="938"/>
                </a:spcBef>
                <a:spcAft>
                  <a:spcPts val="0"/>
                </a:spcAft>
                <a:buClr>
                  <a:srgbClr val="F6F6F1"/>
                </a:buClr>
                <a:buSzPts val="1500"/>
                <a:buFont typeface="Rubik"/>
                <a:buChar char="●"/>
              </a:pPr>
              <a:r>
                <a:rPr b="1" lang="en" sz="1500">
                  <a:solidFill>
                    <a:srgbClr val="F6F6F1"/>
                  </a:solidFill>
                  <a:latin typeface="Rubik"/>
                  <a:ea typeface="Rubik"/>
                  <a:cs typeface="Rubik"/>
                  <a:sym typeface="Rubik"/>
                </a:rPr>
                <a:t>Gendered Roles</a:t>
              </a:r>
              <a:endParaRPr b="1" sz="1500">
                <a:solidFill>
                  <a:srgbClr val="F6F6F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97">
                <a:solidFill>
                  <a:srgbClr val="F6F6F1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/>
        </p:nvSpPr>
        <p:spPr>
          <a:xfrm>
            <a:off x="243600" y="1156650"/>
            <a:ext cx="865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The Delors Report </a:t>
            </a:r>
            <a:r>
              <a:rPr lang="en" sz="28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(</a:t>
            </a:r>
            <a:r>
              <a:rPr lang="en" sz="28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1985-1995</a:t>
            </a:r>
            <a:r>
              <a:rPr lang="en" sz="28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)</a:t>
            </a:r>
            <a:endParaRPr sz="1100">
              <a:solidFill>
                <a:schemeClr val="dk1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  <p:sp>
        <p:nvSpPr>
          <p:cNvPr id="254" name="Google Shape;254;p3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Historical Context </a:t>
            </a:r>
            <a:r>
              <a:rPr lang="en" sz="2800"/>
              <a:t>(2/2)</a:t>
            </a:r>
            <a:endParaRPr/>
          </a:p>
        </p:txBody>
      </p:sp>
      <p:sp>
        <p:nvSpPr>
          <p:cNvPr id="255" name="Google Shape;255;p35"/>
          <p:cNvSpPr txBox="1"/>
          <p:nvPr>
            <p:ph idx="4294967295" type="body"/>
          </p:nvPr>
        </p:nvSpPr>
        <p:spPr>
          <a:xfrm>
            <a:off x="269500" y="1833750"/>
            <a:ext cx="8510100" cy="26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50"/>
              <a:buFont typeface="Rubik Medium"/>
              <a:buChar char="●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Jacques Delors - President of the European Commission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Rubik Medium"/>
              <a:buChar char="○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Big </a:t>
            </a: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supporter</a:t>
            </a: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 of the single market and known as a visionary 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Rubik Medium"/>
              <a:buChar char="●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Delors Report: 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Rubik Medium"/>
              <a:buChar char="○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Proposed</a:t>
            </a: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 clear framework for the creation of a single currency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Rubik Medium"/>
              <a:buChar char="■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Stage 1 (1990-1993): Removed barriers to trade = unified economic space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Rubik Medium"/>
              <a:buChar char="■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Stage 2 (1994-1999): Created the ECB (European Central Bank)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2" marL="1371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50"/>
              <a:buFont typeface="Rubik Medium"/>
              <a:buChar char="■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Stage 3 (1999): Introduce the Euro = Single Currency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Argument</a:t>
            </a:r>
            <a:endParaRPr/>
          </a:p>
        </p:txBody>
      </p:sp>
      <p:sp>
        <p:nvSpPr>
          <p:cNvPr id="261" name="Google Shape;261;p36"/>
          <p:cNvSpPr txBox="1"/>
          <p:nvPr>
            <p:ph idx="4294967295" type="body"/>
          </p:nvPr>
        </p:nvSpPr>
        <p:spPr>
          <a:xfrm>
            <a:off x="269500" y="1380150"/>
            <a:ext cx="8510100" cy="31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50"/>
              <a:buFont typeface="Rubik Medium"/>
              <a:buChar char="●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Economic policies in the EU have gendered implications 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Rubik Medium"/>
              <a:buChar char="●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The Delors Report and EMU policies </a:t>
            </a:r>
            <a:r>
              <a:rPr b="1" lang="en" sz="1550"/>
              <a:t>ignored the impact these economic structures would have on women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Rubik Medium"/>
              <a:buChar char="○"/>
            </a:pPr>
            <a:r>
              <a:rPr lang="en" sz="1550">
                <a:latin typeface="Rubik Medium"/>
                <a:ea typeface="Rubik Medium"/>
                <a:cs typeface="Rubik Medium"/>
                <a:sym typeface="Rubik Medium"/>
              </a:rPr>
              <a:t>particularly regarding unpaid labor and public services.</a:t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Rubik Medium"/>
              <a:buChar char="○"/>
            </a:pPr>
            <a:r>
              <a:t/>
            </a:r>
            <a:endParaRPr sz="155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/>
              <a:t>The EU's efforts to integrate its economies and ensure financial stability </a:t>
            </a:r>
            <a:r>
              <a:rPr b="1" lang="en" sz="1800" u="sng"/>
              <a:t>overlooked the impact of these policies on gender inequalities</a:t>
            </a:r>
            <a:r>
              <a:rPr b="1" lang="en" sz="1800"/>
              <a:t>, particularly during periods of austerity.</a:t>
            </a:r>
            <a:endParaRPr b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7"/>
          <p:cNvSpPr txBox="1"/>
          <p:nvPr>
            <p:ph type="title"/>
          </p:nvPr>
        </p:nvSpPr>
        <p:spPr>
          <a:xfrm>
            <a:off x="248475" y="228600"/>
            <a:ext cx="8659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Gender and Theoretical Framework</a:t>
            </a:r>
            <a:endParaRPr sz="3000"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323075" y="1804900"/>
            <a:ext cx="3988200" cy="27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Gender as a Set of Relations:</a:t>
            </a:r>
            <a:endParaRPr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Gender viewed as social structure that shapes institutions</a:t>
            </a:r>
            <a:endParaRPr b="0"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Social Reproduction Theory:</a:t>
            </a:r>
            <a:endParaRPr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Unpaid care work is essential for the economy but often ignored</a:t>
            </a:r>
            <a:endParaRPr b="0"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Gender Regimes:</a:t>
            </a:r>
            <a:endParaRPr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Care work varies but ignores these national differences.</a:t>
            </a:r>
            <a:endParaRPr b="0"/>
          </a:p>
        </p:txBody>
      </p:sp>
      <p:sp>
        <p:nvSpPr>
          <p:cNvPr id="268" name="Google Shape;268;p37"/>
          <p:cNvSpPr/>
          <p:nvPr/>
        </p:nvSpPr>
        <p:spPr>
          <a:xfrm>
            <a:off x="149075" y="1118150"/>
            <a:ext cx="8820900" cy="66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9" name="Google Shape;269;p37"/>
          <p:cNvSpPr txBox="1"/>
          <p:nvPr>
            <p:ph idx="3" type="subTitle"/>
          </p:nvPr>
        </p:nvSpPr>
        <p:spPr>
          <a:xfrm>
            <a:off x="243700" y="1094400"/>
            <a:ext cx="4199400" cy="6867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Gender as a Structure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70" name="Google Shape;270;p37"/>
          <p:cNvSpPr txBox="1"/>
          <p:nvPr>
            <p:ph idx="3" type="subTitle"/>
          </p:nvPr>
        </p:nvSpPr>
        <p:spPr>
          <a:xfrm>
            <a:off x="4702125" y="1094450"/>
            <a:ext cx="4199400" cy="6867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Intersectionality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71" name="Google Shape;271;p37"/>
          <p:cNvSpPr txBox="1"/>
          <p:nvPr>
            <p:ph idx="1" type="body"/>
          </p:nvPr>
        </p:nvSpPr>
        <p:spPr>
          <a:xfrm>
            <a:off x="4807775" y="1804900"/>
            <a:ext cx="3988200" cy="27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Gendered Power Structure</a:t>
            </a:r>
            <a:endParaRPr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Gender cannot be separated from race, class, ethnicity, etc. </a:t>
            </a:r>
            <a:endParaRPr b="0"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Policies affect women differently based on these identities</a:t>
            </a:r>
            <a:endParaRPr b="0"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Wealth and Race Disparities</a:t>
            </a:r>
            <a:endParaRPr/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The EMU’s policies disportionately harm marginalized groups</a:t>
            </a:r>
            <a:endParaRPr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Breakdown of Themes</a:t>
            </a:r>
            <a:endParaRPr/>
          </a:p>
        </p:txBody>
      </p:sp>
      <p:sp>
        <p:nvSpPr>
          <p:cNvPr id="277" name="Google Shape;277;p38"/>
          <p:cNvSpPr/>
          <p:nvPr/>
        </p:nvSpPr>
        <p:spPr>
          <a:xfrm>
            <a:off x="227475" y="1343332"/>
            <a:ext cx="2757900" cy="66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78" name="Google Shape;278;p38"/>
          <p:cNvSpPr/>
          <p:nvPr/>
        </p:nvSpPr>
        <p:spPr>
          <a:xfrm>
            <a:off x="227475" y="2004450"/>
            <a:ext cx="2757900" cy="2727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79" name="Google Shape;279;p38"/>
          <p:cNvSpPr/>
          <p:nvPr/>
        </p:nvSpPr>
        <p:spPr>
          <a:xfrm>
            <a:off x="3175000" y="1343332"/>
            <a:ext cx="2757900" cy="66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0" name="Google Shape;280;p38"/>
          <p:cNvSpPr/>
          <p:nvPr/>
        </p:nvSpPr>
        <p:spPr>
          <a:xfrm>
            <a:off x="3175000" y="2004450"/>
            <a:ext cx="2757900" cy="2727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1" name="Google Shape;281;p38"/>
          <p:cNvSpPr/>
          <p:nvPr/>
        </p:nvSpPr>
        <p:spPr>
          <a:xfrm>
            <a:off x="6122525" y="1343332"/>
            <a:ext cx="2757900" cy="66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2" name="Google Shape;282;p38"/>
          <p:cNvSpPr/>
          <p:nvPr/>
        </p:nvSpPr>
        <p:spPr>
          <a:xfrm>
            <a:off x="6122525" y="2004450"/>
            <a:ext cx="2757900" cy="2727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3" name="Google Shape;283;p38"/>
          <p:cNvSpPr txBox="1"/>
          <p:nvPr>
            <p:ph idx="4294967295" type="subTitle"/>
          </p:nvPr>
        </p:nvSpPr>
        <p:spPr>
          <a:xfrm>
            <a:off x="216675" y="1448475"/>
            <a:ext cx="2768700" cy="45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Strategic Silence: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4" name="Google Shape;284;p38"/>
          <p:cNvSpPr txBox="1"/>
          <p:nvPr>
            <p:ph idx="4294967295" type="subTitle"/>
          </p:nvPr>
        </p:nvSpPr>
        <p:spPr>
          <a:xfrm>
            <a:off x="3169600" y="1448475"/>
            <a:ext cx="2768700" cy="45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Deflationary Bias: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5" name="Google Shape;285;p38"/>
          <p:cNvSpPr txBox="1"/>
          <p:nvPr>
            <p:ph idx="4294967295" type="subTitle"/>
          </p:nvPr>
        </p:nvSpPr>
        <p:spPr>
          <a:xfrm>
            <a:off x="6122525" y="1448475"/>
            <a:ext cx="2768700" cy="45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Measurement Bias: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6" name="Google Shape;286;p38"/>
          <p:cNvSpPr txBox="1"/>
          <p:nvPr/>
        </p:nvSpPr>
        <p:spPr>
          <a:xfrm>
            <a:off x="374925" y="2186700"/>
            <a:ext cx="2463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6F6F1"/>
                </a:solidFill>
                <a:latin typeface="Young Serif"/>
                <a:ea typeface="Young Serif"/>
                <a:cs typeface="Young Serif"/>
                <a:sym typeface="Young Serif"/>
              </a:rPr>
              <a:t>Gendered issues are intentionally excluded from the discussion, leaving out the effects of economic policies on women.</a:t>
            </a:r>
            <a:endParaRPr sz="1600">
              <a:solidFill>
                <a:srgbClr val="F6F6F1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3420700" y="2186700"/>
            <a:ext cx="22665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6F6F1"/>
                </a:solidFill>
                <a:latin typeface="Young Serif"/>
                <a:ea typeface="Young Serif"/>
                <a:cs typeface="Young Serif"/>
                <a:sym typeface="Young Serif"/>
              </a:rPr>
              <a:t>Policies focused on controlling inflation and reducing deficits, but this disproportionately hurt women due to their roles in public sector employment.</a:t>
            </a:r>
            <a:endParaRPr sz="1600">
              <a:solidFill>
                <a:srgbClr val="F6F6F1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6269975" y="2186700"/>
            <a:ext cx="24630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6F6F1"/>
                </a:solidFill>
                <a:latin typeface="Young Serif"/>
                <a:ea typeface="Young Serif"/>
                <a:cs typeface="Young Serif"/>
                <a:sym typeface="Young Serif"/>
              </a:rPr>
              <a:t>The Delors Report failed to account for unpaid labor (primarily done by women), leading to policies that ignored the true economic value of care work.</a:t>
            </a:r>
            <a:endParaRPr sz="1600">
              <a:solidFill>
                <a:srgbClr val="F6F6F1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Critiques</a:t>
            </a:r>
            <a:endParaRPr/>
          </a:p>
        </p:txBody>
      </p:sp>
      <p:sp>
        <p:nvSpPr>
          <p:cNvPr id="294" name="Google Shape;294;p39"/>
          <p:cNvSpPr txBox="1"/>
          <p:nvPr>
            <p:ph idx="4294967295" type="body"/>
          </p:nvPr>
        </p:nvSpPr>
        <p:spPr>
          <a:xfrm>
            <a:off x="269500" y="1380150"/>
            <a:ext cx="8510100" cy="31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50"/>
              <a:buChar char="●"/>
            </a:pPr>
            <a:r>
              <a:rPr b="1" lang="en" sz="1550"/>
              <a:t>Overlooking intersectionality/too heavily focused on gender </a:t>
            </a:r>
            <a:endParaRPr b="1" sz="1550"/>
          </a:p>
          <a:p>
            <a:pPr indent="-32702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Gender-focused critique is too narrow → doesn’t address other socio-economic issues</a:t>
            </a:r>
            <a:endParaRPr sz="1550"/>
          </a:p>
          <a:p>
            <a:pPr indent="-32702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Only touches on incorporating other dimensions, such as class or race, → affects how EMU policies impact marginalized groups</a:t>
            </a:r>
            <a:endParaRPr sz="1550"/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Char char="●"/>
            </a:pPr>
            <a:r>
              <a:rPr b="1" lang="en" sz="1550"/>
              <a:t>Practicality of Gender Inclusion:</a:t>
            </a:r>
            <a:endParaRPr b="1" sz="1550"/>
          </a:p>
          <a:p>
            <a:pPr indent="-327025" lvl="1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50"/>
              <a:buChar char="○"/>
            </a:pPr>
            <a:r>
              <a:rPr lang="en" sz="1550"/>
              <a:t>Might have been impractical or too complex for policymakers at the time to include gender considerations</a:t>
            </a:r>
            <a:endParaRPr sz="15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00" name="Google Shape;300;p40"/>
          <p:cNvSpPr txBox="1"/>
          <p:nvPr>
            <p:ph idx="4294967295" type="body"/>
          </p:nvPr>
        </p:nvSpPr>
        <p:spPr>
          <a:xfrm>
            <a:off x="269500" y="1380150"/>
            <a:ext cx="8510100" cy="31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b="1" lang="en" sz="1550"/>
              <a:t>Summary of Key Argument:</a:t>
            </a:r>
            <a:endParaRPr b="1" sz="1550"/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The EMU’s economic policies failed to consider gendered impacts (particularly around unpaid labor and public services)</a:t>
            </a:r>
            <a:endParaRPr sz="1550"/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b="1" lang="en" sz="1550"/>
              <a:t>Feminist Political Economy:</a:t>
            </a:r>
            <a:endParaRPr b="1" sz="1550"/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O'Dwyer uses a feminist political economy lens to challenge the gender neutrality of the EMU and show how policies disproportionately harm women.</a:t>
            </a:r>
            <a:endParaRPr sz="1550"/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b="1" lang="en" sz="1550"/>
              <a:t>Relevance Today:</a:t>
            </a:r>
            <a:endParaRPr b="1" sz="1550"/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Gender inequalities are still embedded in economic policies</a:t>
            </a:r>
            <a:endParaRPr sz="1550"/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b="1" lang="en" sz="1550"/>
              <a:t>Policy Implications:</a:t>
            </a:r>
            <a:endParaRPr b="1" sz="1550"/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Future economic policies in the EU </a:t>
            </a:r>
            <a:r>
              <a:rPr b="1" lang="en" sz="1550"/>
              <a:t>should</a:t>
            </a:r>
            <a:r>
              <a:rPr lang="en" sz="1550"/>
              <a:t> account for unpaid labor, care work, and gendered vulnerabilities in times of economic crises.</a:t>
            </a:r>
            <a:endParaRPr sz="15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Questions:</a:t>
            </a:r>
            <a:endParaRPr/>
          </a:p>
        </p:txBody>
      </p:sp>
      <p:sp>
        <p:nvSpPr>
          <p:cNvPr id="306" name="Google Shape;306;p41"/>
          <p:cNvSpPr txBox="1"/>
          <p:nvPr>
            <p:ph idx="4294967295" type="body"/>
          </p:nvPr>
        </p:nvSpPr>
        <p:spPr>
          <a:xfrm>
            <a:off x="269500" y="1380150"/>
            <a:ext cx="8510100" cy="31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Do you think gender should be a central consideration in creating economic frameworks like the EMU?</a:t>
            </a:r>
            <a:endParaRPr b="1"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 How would the Delors Report have changed if gender issues had been included in the framework?</a:t>
            </a:r>
            <a:endParaRPr b="1"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How does the outsourcing of care work from other countries affect gendered economic inequalities within the EU?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
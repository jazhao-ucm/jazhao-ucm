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Lat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1a2685e9b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1a2685e9b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1a2685e9b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1a2685e9b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1a2685e9b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1a2685e9b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1a2685e9b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1a2685e9b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1a2685e9b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1a2685e9b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1a2685e9b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1a2685e9b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1a2685e9b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1a2685e9b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1a2685e9b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1a2685e9b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1a2685e9b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1a2685e9b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1a2685e9b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1a2685e9b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1a2685e9b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1a2685e9b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1a2685e9b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1a2685e9b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1a2685e9b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1a2685e9b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1a2685e9b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1a2685e9b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1a2685e9b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1a2685e9b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1a2685e9b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1a2685e9b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90275" y="417075"/>
            <a:ext cx="6331500" cy="20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European </a:t>
            </a:r>
            <a:r>
              <a:rPr lang="en"/>
              <a:t>Parliament: Empowering the talking shop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Christian </a:t>
            </a:r>
            <a:r>
              <a:rPr lang="en"/>
              <a:t>Salm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Avery Globerman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the European Union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23/03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Context: What is the EU?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Political and </a:t>
            </a:r>
            <a:r>
              <a:rPr lang="en"/>
              <a:t>economic</a:t>
            </a:r>
            <a:r>
              <a:rPr lang="en"/>
              <a:t> union of 27 countries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Makes laws that do not only </a:t>
            </a:r>
            <a:r>
              <a:rPr lang="en"/>
              <a:t>affect</a:t>
            </a:r>
            <a:r>
              <a:rPr lang="en"/>
              <a:t> single </a:t>
            </a:r>
            <a:r>
              <a:rPr lang="en"/>
              <a:t>countries</a:t>
            </a:r>
            <a:r>
              <a:rPr lang="en"/>
              <a:t> but effect millions.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Key </a:t>
            </a:r>
            <a:r>
              <a:rPr lang="en"/>
              <a:t>institutions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Commission– Proposes laws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Council– Represents states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Parliament</a:t>
            </a:r>
            <a:r>
              <a:rPr lang="en"/>
              <a:t>– Represents citizens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Since the EU is not a country but is technically making laws, how democratic is it?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Issue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Problem : Democratic deficit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Democratic deficit: The gap between EU decision-making and the citizen control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The European </a:t>
            </a:r>
            <a:r>
              <a:rPr lang="en"/>
              <a:t>Parliament</a:t>
            </a:r>
            <a:r>
              <a:rPr lang="en"/>
              <a:t> started with very limited power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Early EU lacked direct citizen </a:t>
            </a:r>
            <a:r>
              <a:rPr lang="en"/>
              <a:t>representation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The decisions were dominated by national governments and unelected officials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The </a:t>
            </a:r>
            <a:r>
              <a:rPr lang="en"/>
              <a:t>parliament</a:t>
            </a:r>
            <a:r>
              <a:rPr lang="en"/>
              <a:t> did not have much real influence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Policies would </a:t>
            </a:r>
            <a:r>
              <a:rPr lang="en"/>
              <a:t>affect</a:t>
            </a:r>
            <a:r>
              <a:rPr lang="en"/>
              <a:t> the citizens without them having much of a say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Argument of Reading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Parliament</a:t>
            </a:r>
            <a:r>
              <a:rPr lang="en"/>
              <a:t> evolved gradually, not suddenly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There was a </a:t>
            </a:r>
            <a:r>
              <a:rPr lang="en"/>
              <a:t>shift</a:t>
            </a:r>
            <a:r>
              <a:rPr lang="en"/>
              <a:t> from it being a </a:t>
            </a:r>
            <a:r>
              <a:rPr lang="en"/>
              <a:t>symbolic</a:t>
            </a:r>
            <a:r>
              <a:rPr lang="en"/>
              <a:t> </a:t>
            </a:r>
            <a:r>
              <a:rPr lang="en"/>
              <a:t>institution</a:t>
            </a:r>
            <a:r>
              <a:rPr lang="en"/>
              <a:t>, to a </a:t>
            </a:r>
            <a:r>
              <a:rPr lang="en"/>
              <a:t>influential</a:t>
            </a:r>
            <a:r>
              <a:rPr lang="en"/>
              <a:t> one to a powerful one.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was a long term process shaped from formal treaty changes and informal pressures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power was gained through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Institutional</a:t>
            </a:r>
            <a:r>
              <a:rPr lang="en"/>
              <a:t> reforms/treaties that expanded the formal rule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Political organization made within the </a:t>
            </a:r>
            <a:r>
              <a:rPr lang="en"/>
              <a:t>parliament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Direct elections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did EU Common Assembly Begin (1952)?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Created under ECSC (Paris Treaty)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members were appointed from national parliaments , so they didn’t have an election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There was no election that was </a:t>
            </a:r>
            <a:r>
              <a:rPr lang="en"/>
              <a:t>mandatory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There was limited oversight to these processes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Common Assembly was never created to be a strong </a:t>
            </a:r>
            <a:r>
              <a:rPr lang="en"/>
              <a:t>parliament</a:t>
            </a:r>
            <a:r>
              <a:rPr lang="en"/>
              <a:t> and was meant to monitor the High Authority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It had no real control over decision making, it just supervised and consulted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Referred</a:t>
            </a:r>
            <a:r>
              <a:rPr lang="en"/>
              <a:t> to as a “Talking Shop” (Salm)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was because it could debate policies but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Had no legislative </a:t>
            </a:r>
            <a:r>
              <a:rPr lang="en"/>
              <a:t>authority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Had no control </a:t>
            </a:r>
            <a:r>
              <a:rPr lang="en"/>
              <a:t>over</a:t>
            </a:r>
            <a:r>
              <a:rPr lang="en"/>
              <a:t> the executive decisions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Had no real budget powers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Basically lacked all of the actual </a:t>
            </a:r>
            <a:r>
              <a:rPr lang="en"/>
              <a:t>functions</a:t>
            </a:r>
            <a:r>
              <a:rPr lang="en"/>
              <a:t> of a legislature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were able to express their opinions but these opinions had no real lasting effects on the </a:t>
            </a:r>
            <a:r>
              <a:rPr lang="en"/>
              <a:t>outcomes</a:t>
            </a:r>
            <a:r>
              <a:rPr lang="en"/>
              <a:t> of debates or policies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Therefore, they were pretty much all talk at the time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Political Shift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</a:t>
            </a:r>
            <a:r>
              <a:rPr lang="en"/>
              <a:t>members</a:t>
            </a:r>
            <a:r>
              <a:rPr lang="en"/>
              <a:t> served both in national </a:t>
            </a:r>
            <a:r>
              <a:rPr lang="en"/>
              <a:t>parliaments</a:t>
            </a:r>
            <a:r>
              <a:rPr lang="en"/>
              <a:t> and the European </a:t>
            </a:r>
            <a:r>
              <a:rPr lang="en"/>
              <a:t>Parliament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Cross-border cooperation and shares political agendas were encouraged after members formed political groups that were based on ideology and not nationality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marked the beginning of the political shift towards “supranational” political identity within EU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Treaties of Rome (1957)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expanded European integration through the creation of the EEC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parliament gained a role where they are able to give </a:t>
            </a:r>
            <a:r>
              <a:rPr lang="en"/>
              <a:t>opinions on proposed legislation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opinions still were not binding and the final decisions were with other institutions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impact was still limited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Democratic Deficit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As the EU policy expanded the citizens became more affected by the </a:t>
            </a:r>
            <a:r>
              <a:rPr lang="en"/>
              <a:t>decisions</a:t>
            </a:r>
            <a:r>
              <a:rPr lang="en"/>
              <a:t> they did not have much say 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</a:t>
            </a:r>
            <a:r>
              <a:rPr lang="en"/>
              <a:t>parliaments</a:t>
            </a:r>
            <a:r>
              <a:rPr lang="en"/>
              <a:t> lack of direct elections </a:t>
            </a:r>
            <a:r>
              <a:rPr lang="en"/>
              <a:t>weakened</a:t>
            </a:r>
            <a:r>
              <a:rPr lang="en"/>
              <a:t> its legitimacy to </a:t>
            </a:r>
            <a:r>
              <a:rPr lang="en"/>
              <a:t>represent</a:t>
            </a:r>
            <a:r>
              <a:rPr lang="en"/>
              <a:t> the citizens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did not have much </a:t>
            </a:r>
            <a:r>
              <a:rPr lang="en"/>
              <a:t>visibility</a:t>
            </a:r>
            <a:r>
              <a:rPr lang="en"/>
              <a:t> among the public and the citizens became very distant from EU’s governance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growing gap led to more political pressure for democratization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Turning Point: 1979 Direct Elections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 1979 for the first time the </a:t>
            </a:r>
            <a:r>
              <a:rPr lang="en"/>
              <a:t>citizens</a:t>
            </a:r>
            <a:r>
              <a:rPr lang="en"/>
              <a:t> directly elected Members of the European Parliament (MEPs)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gave the Parliament more </a:t>
            </a:r>
            <a:r>
              <a:rPr lang="en"/>
              <a:t>legitimacy</a:t>
            </a:r>
            <a:r>
              <a:rPr lang="en"/>
              <a:t> because it was now backed by democratic mandate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increased public </a:t>
            </a:r>
            <a:r>
              <a:rPr lang="en"/>
              <a:t>awareness</a:t>
            </a:r>
            <a:r>
              <a:rPr lang="en"/>
              <a:t> and made them much more </a:t>
            </a:r>
            <a:r>
              <a:rPr lang="en"/>
              <a:t>politically</a:t>
            </a:r>
            <a:r>
              <a:rPr lang="en"/>
              <a:t> </a:t>
            </a:r>
            <a:r>
              <a:rPr lang="en"/>
              <a:t>relevant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used this to created greater powers within the EU system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Expansion of Power (1979-1992)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Parliament gained the ability to control budget and </a:t>
            </a:r>
            <a:r>
              <a:rPr lang="en"/>
              <a:t>influence</a:t>
            </a:r>
            <a:r>
              <a:rPr lang="en"/>
              <a:t> EU spending decisions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could reject the entire EU budget which gives it major leverage over other institutions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came from their increased </a:t>
            </a:r>
            <a:r>
              <a:rPr lang="en"/>
              <a:t>involvement</a:t>
            </a:r>
            <a:r>
              <a:rPr lang="en"/>
              <a:t> in legislative </a:t>
            </a:r>
            <a:r>
              <a:rPr lang="en"/>
              <a:t>discussion</a:t>
            </a:r>
            <a:r>
              <a:rPr lang="en"/>
              <a:t>,  making them able to expand their role in policymaking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demanded increased </a:t>
            </a:r>
            <a:r>
              <a:rPr lang="en"/>
              <a:t>influence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Maastricht Treaty (1992)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created the co-decision </a:t>
            </a:r>
            <a:r>
              <a:rPr lang="en"/>
              <a:t>procedure</a:t>
            </a:r>
            <a:r>
              <a:rPr lang="en"/>
              <a:t> and significantly increased the </a:t>
            </a:r>
            <a:r>
              <a:rPr lang="en"/>
              <a:t>Parliament's</a:t>
            </a:r>
            <a:r>
              <a:rPr lang="en"/>
              <a:t> power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Parliament became a co-legislator and shared authority with the Council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were now able to amend, approve or reject legislation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marked a major shift towards a more balanced </a:t>
            </a:r>
            <a:r>
              <a:rPr lang="en"/>
              <a:t>institution</a:t>
            </a:r>
            <a:r>
              <a:rPr lang="en"/>
              <a:t> </a:t>
            </a:r>
            <a:r>
              <a:rPr lang="en"/>
              <a:t>structure</a:t>
            </a:r>
            <a:r>
              <a:rPr lang="en"/>
              <a:t> in the EU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Political Parties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Developed transnational political groups where members could coordinate across different countries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organized based on ideology and not national lines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helped to created structure and consistency in policy for the Parlament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Made the Parliament a stronger, cohesive legislative body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151" name="Google Shape;151;p2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Today, the Parliament shares legislative authority with the Council which makes it central to EU law making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have significant control over budgets and influence for how the EU funds are allocated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It oversees and approves the European Commission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They </a:t>
            </a:r>
            <a:r>
              <a:rPr lang="en"/>
              <a:t>represent</a:t>
            </a:r>
            <a:r>
              <a:rPr lang="en"/>
              <a:t> over 400 million EU citizens and is the main democratic institution in the EU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157" name="Google Shape;157;p2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With its increase </a:t>
            </a:r>
            <a:r>
              <a:rPr lang="en"/>
              <a:t>success</a:t>
            </a:r>
            <a:r>
              <a:rPr lang="en"/>
              <a:t>, we must still </a:t>
            </a:r>
            <a:r>
              <a:rPr lang="en"/>
              <a:t>acknowledge</a:t>
            </a:r>
            <a:r>
              <a:rPr lang="en"/>
              <a:t> the Parliaments limitations as they can’t fully initiate legislation because that power belongs to the Commission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voter turnout in European elections is consistently very 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Power is shared with other institutions which limits full parliamentary control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There are still questions about democratic </a:t>
            </a:r>
            <a:r>
              <a:rPr lang="en"/>
              <a:t>legitimacy</a:t>
            </a:r>
            <a:r>
              <a:rPr lang="en"/>
              <a:t> and citizen </a:t>
            </a:r>
            <a:r>
              <a:rPr lang="en"/>
              <a:t>connection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European Parliament evolved through gradual </a:t>
            </a:r>
            <a:r>
              <a:rPr lang="en"/>
              <a:t>institutional</a:t>
            </a:r>
            <a:r>
              <a:rPr lang="en"/>
              <a:t> and political change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increase in power </a:t>
            </a:r>
            <a:r>
              <a:rPr lang="en"/>
              <a:t>reflects</a:t>
            </a:r>
            <a:r>
              <a:rPr lang="en"/>
              <a:t> their </a:t>
            </a:r>
            <a:r>
              <a:rPr lang="en"/>
              <a:t>efforts</a:t>
            </a:r>
            <a:r>
              <a:rPr lang="en"/>
              <a:t> to try and fix the EU’s democratic deficit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</a:t>
            </a:r>
            <a:r>
              <a:rPr lang="en"/>
              <a:t>Parliament</a:t>
            </a:r>
            <a:r>
              <a:rPr lang="en"/>
              <a:t> is now a central actor in EU government even though it is not fully the same as national </a:t>
            </a:r>
            <a:r>
              <a:rPr lang="en"/>
              <a:t>parliaments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The development of the </a:t>
            </a:r>
            <a:r>
              <a:rPr lang="en"/>
              <a:t>Parliament</a:t>
            </a:r>
            <a:r>
              <a:rPr lang="en"/>
              <a:t> is ongoing as the EU evolves and grows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Questions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How does this connect to larger debates?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Is the EU truly democratic? Should we make it more like a country?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Does the European Parliament provide enough democratic representation?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How can the EU improve citizen </a:t>
            </a:r>
            <a:r>
              <a:rPr lang="en"/>
              <a:t>engagement?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
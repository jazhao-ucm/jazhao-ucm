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Playfair Display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layfairDisplay-bold.fntdata"/><Relationship Id="rId21" Type="http://schemas.openxmlformats.org/officeDocument/2006/relationships/font" Target="fonts/PlayfairDisplay-regular.fntdata"/><Relationship Id="rId24" Type="http://schemas.openxmlformats.org/officeDocument/2006/relationships/font" Target="fonts/PlayfairDisplay-boldItalic.fntdata"/><Relationship Id="rId23" Type="http://schemas.openxmlformats.org/officeDocument/2006/relationships/font" Target="fonts/PlayfairDisplay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5598d86e2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5598d86e2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5598d86e2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5598d86e2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5598d86e2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5598d86e2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5598d86e2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5598d86e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5598d86e2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5598d86e2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5598d86e2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5598d86e2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5598d86e2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5598d86e2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5598d86e2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5598d86e2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5598d86e2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5598d86e2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5598d86e2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5598d86e2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5598d86e2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d5598d86e2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5598d86e2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d5598d86e2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5598d86e2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5598d86e2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5598d86e2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5598d86e2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014550" y="1070525"/>
            <a:ext cx="3114900" cy="208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Economic and Monetary union: from 1957 to the Euro Crisis 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71">
                <a:latin typeface="Lato"/>
                <a:ea typeface="Lato"/>
                <a:cs typeface="Lato"/>
                <a:sym typeface="Lato"/>
              </a:rPr>
              <a:t>By: </a:t>
            </a:r>
            <a:r>
              <a:rPr lang="en" sz="3271">
                <a:latin typeface="Lato"/>
                <a:ea typeface="Lato"/>
                <a:cs typeface="Lato"/>
                <a:sym typeface="Lato"/>
              </a:rPr>
              <a:t>Alexis Drach (2024)</a:t>
            </a:r>
            <a:endParaRPr sz="327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5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4828475" y="4079425"/>
            <a:ext cx="1728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Isabelle Samuel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Historical Context</a:t>
            </a:r>
            <a:endParaRPr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017450"/>
            <a:ext cx="8520600" cy="39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8">
                <a:solidFill>
                  <a:srgbClr val="000000"/>
                </a:solidFill>
              </a:rPr>
              <a:t>1944</a:t>
            </a:r>
            <a:endParaRPr sz="2008">
              <a:solidFill>
                <a:srgbClr val="000000"/>
              </a:solidFill>
            </a:endParaRPr>
          </a:p>
          <a:p>
            <a:pPr indent="-35611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8"/>
              <a:buChar char="-"/>
            </a:pPr>
            <a:r>
              <a:rPr lang="en" sz="2008">
                <a:solidFill>
                  <a:srgbClr val="000000"/>
                </a:solidFill>
              </a:rPr>
              <a:t>Post WWII: The Bretton Woods system: fixed exchange rates tied to the US dollar and provided stability </a:t>
            </a:r>
            <a:endParaRPr sz="2008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8">
                <a:solidFill>
                  <a:srgbClr val="000000"/>
                </a:solidFill>
              </a:rPr>
              <a:t>1957</a:t>
            </a:r>
            <a:endParaRPr sz="2008">
              <a:solidFill>
                <a:srgbClr val="000000"/>
              </a:solidFill>
            </a:endParaRPr>
          </a:p>
          <a:p>
            <a:pPr indent="-35611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8"/>
              <a:buChar char="-"/>
            </a:pPr>
            <a:r>
              <a:rPr lang="en" sz="2008">
                <a:solidFill>
                  <a:srgbClr val="000000"/>
                </a:solidFill>
              </a:rPr>
              <a:t>Treaty of Rome: Began economic cooperation in Europe</a:t>
            </a:r>
            <a:endParaRPr sz="2008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8">
                <a:solidFill>
                  <a:srgbClr val="000000"/>
                </a:solidFill>
              </a:rPr>
              <a:t>1970</a:t>
            </a:r>
            <a:endParaRPr sz="2008">
              <a:solidFill>
                <a:srgbClr val="000000"/>
              </a:solidFill>
            </a:endParaRPr>
          </a:p>
          <a:p>
            <a:pPr indent="-35611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8"/>
              <a:buChar char="-"/>
            </a:pPr>
            <a:r>
              <a:rPr lang="en" sz="2008">
                <a:solidFill>
                  <a:srgbClr val="000000"/>
                </a:solidFill>
              </a:rPr>
              <a:t>Turning point: Collapse of Bretton Woods and global monetary </a:t>
            </a:r>
            <a:r>
              <a:rPr lang="en" sz="2008">
                <a:solidFill>
                  <a:srgbClr val="000000"/>
                </a:solidFill>
              </a:rPr>
              <a:t>uprisings</a:t>
            </a:r>
            <a:r>
              <a:rPr lang="en" sz="2008">
                <a:solidFill>
                  <a:srgbClr val="000000"/>
                </a:solidFill>
              </a:rPr>
              <a:t> forced Europeans to seek unique “European monetary identity” </a:t>
            </a:r>
            <a:endParaRPr sz="2008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Timeline of economic and monetary union</a:t>
            </a:r>
            <a:endParaRPr/>
          </a:p>
        </p:txBody>
      </p:sp>
      <p:pic>
        <p:nvPicPr>
          <p:cNvPr id="73" name="Google Shape;73;p15" title="Screenshot 2026-04-12 at 7.47.2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1097" y="961400"/>
            <a:ext cx="3764549" cy="3907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is Alexis Drach? 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2000"/>
              <a:buChar char="-"/>
            </a:pPr>
            <a:r>
              <a:rPr lang="en" sz="2000">
                <a:solidFill>
                  <a:srgbClr val="303030"/>
                </a:solidFill>
              </a:rPr>
              <a:t>French </a:t>
            </a:r>
            <a:r>
              <a:rPr lang="en" sz="2000">
                <a:solidFill>
                  <a:srgbClr val="303030"/>
                </a:solidFill>
              </a:rPr>
              <a:t>economic</a:t>
            </a:r>
            <a:r>
              <a:rPr lang="en" sz="2000">
                <a:solidFill>
                  <a:srgbClr val="303030"/>
                </a:solidFill>
              </a:rPr>
              <a:t> historian </a:t>
            </a:r>
            <a:endParaRPr sz="2000">
              <a:solidFill>
                <a:srgbClr val="303030"/>
              </a:solidFill>
            </a:endParaRPr>
          </a:p>
          <a:p>
            <a:pPr indent="-3556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2000"/>
              <a:buChar char="-"/>
            </a:pPr>
            <a:r>
              <a:rPr lang="en" sz="2000">
                <a:solidFill>
                  <a:srgbClr val="303030"/>
                </a:solidFill>
              </a:rPr>
              <a:t>He specializes in European monetary </a:t>
            </a:r>
            <a:r>
              <a:rPr lang="en" sz="2000">
                <a:solidFill>
                  <a:srgbClr val="303030"/>
                </a:solidFill>
              </a:rPr>
              <a:t>integration</a:t>
            </a:r>
            <a:r>
              <a:rPr lang="en" sz="2000">
                <a:solidFill>
                  <a:srgbClr val="303030"/>
                </a:solidFill>
              </a:rPr>
              <a:t> and financial history </a:t>
            </a:r>
            <a:endParaRPr sz="2000">
              <a:solidFill>
                <a:srgbClr val="303030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03030"/>
                </a:solidFill>
              </a:rPr>
              <a:t>Drach argues that the EMU is</a:t>
            </a:r>
            <a:endParaRPr sz="2000">
              <a:solidFill>
                <a:srgbClr val="303030"/>
              </a:solidFill>
            </a:endParaRPr>
          </a:p>
          <a:p>
            <a:pPr indent="-3556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303030"/>
              </a:buClr>
              <a:buSzPts val="2000"/>
              <a:buChar char="-"/>
            </a:pPr>
            <a:r>
              <a:rPr b="1" lang="en" sz="2000">
                <a:solidFill>
                  <a:srgbClr val="303030"/>
                </a:solidFill>
              </a:rPr>
              <a:t>An incomplete and </a:t>
            </a:r>
            <a:r>
              <a:rPr b="1" lang="en" sz="2000">
                <a:solidFill>
                  <a:srgbClr val="303030"/>
                </a:solidFill>
              </a:rPr>
              <a:t>unbalanced</a:t>
            </a:r>
            <a:r>
              <a:rPr b="1" lang="en" sz="2000">
                <a:solidFill>
                  <a:srgbClr val="303030"/>
                </a:solidFill>
              </a:rPr>
              <a:t> project,</a:t>
            </a:r>
            <a:r>
              <a:rPr lang="en" sz="2000">
                <a:solidFill>
                  <a:srgbClr val="303030"/>
                </a:solidFill>
              </a:rPr>
              <a:t> </a:t>
            </a:r>
            <a:r>
              <a:rPr lang="en" sz="2000">
                <a:solidFill>
                  <a:srgbClr val="303030"/>
                </a:solidFill>
              </a:rPr>
              <a:t>where</a:t>
            </a:r>
            <a:r>
              <a:rPr lang="en" sz="2000">
                <a:solidFill>
                  <a:srgbClr val="303030"/>
                </a:solidFill>
              </a:rPr>
              <a:t> monetary integration advanced faster than economic and </a:t>
            </a:r>
            <a:r>
              <a:rPr lang="en" sz="2000">
                <a:solidFill>
                  <a:srgbClr val="303030"/>
                </a:solidFill>
              </a:rPr>
              <a:t>political</a:t>
            </a:r>
            <a:r>
              <a:rPr lang="en" sz="2000">
                <a:solidFill>
                  <a:srgbClr val="303030"/>
                </a:solidFill>
              </a:rPr>
              <a:t> </a:t>
            </a:r>
            <a:r>
              <a:rPr lang="en" sz="2000">
                <a:solidFill>
                  <a:srgbClr val="303030"/>
                </a:solidFill>
              </a:rPr>
              <a:t>integration</a:t>
            </a:r>
            <a:endParaRPr sz="2000">
              <a:solidFill>
                <a:srgbClr val="303030"/>
              </a:solidFill>
            </a:endParaRPr>
          </a:p>
          <a:p>
            <a:pPr indent="-3556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2000"/>
              <a:buChar char="-"/>
            </a:pPr>
            <a:r>
              <a:rPr lang="en" sz="2000">
                <a:solidFill>
                  <a:srgbClr val="303030"/>
                </a:solidFill>
              </a:rPr>
              <a:t>-Not just economic but deeply </a:t>
            </a:r>
            <a:r>
              <a:rPr lang="en" sz="2000">
                <a:solidFill>
                  <a:srgbClr val="303030"/>
                </a:solidFill>
              </a:rPr>
              <a:t>political</a:t>
            </a:r>
            <a:r>
              <a:rPr lang="en" sz="2000">
                <a:solidFill>
                  <a:srgbClr val="303030"/>
                </a:solidFill>
              </a:rPr>
              <a:t> too </a:t>
            </a:r>
            <a:endParaRPr sz="2000">
              <a:solidFill>
                <a:srgbClr val="303030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303030"/>
                </a:solidFill>
              </a:rPr>
              <a:t>Critical</a:t>
            </a:r>
            <a:r>
              <a:rPr b="1" lang="en" sz="2000">
                <a:solidFill>
                  <a:srgbClr val="303030"/>
                </a:solidFill>
              </a:rPr>
              <a:t> of the “monetarist” approach</a:t>
            </a:r>
            <a:r>
              <a:rPr lang="en" sz="2000">
                <a:solidFill>
                  <a:srgbClr val="303030"/>
                </a:solidFill>
              </a:rPr>
              <a:t> (Europe introduced the </a:t>
            </a:r>
            <a:r>
              <a:rPr lang="en" sz="2000">
                <a:solidFill>
                  <a:srgbClr val="303030"/>
                </a:solidFill>
              </a:rPr>
              <a:t>currency</a:t>
            </a:r>
            <a:r>
              <a:rPr lang="en" sz="2000">
                <a:solidFill>
                  <a:srgbClr val="303030"/>
                </a:solidFill>
              </a:rPr>
              <a:t> </a:t>
            </a:r>
            <a:r>
              <a:rPr lang="en" sz="2000">
                <a:solidFill>
                  <a:srgbClr val="303030"/>
                </a:solidFill>
              </a:rPr>
              <a:t>first</a:t>
            </a:r>
            <a:r>
              <a:rPr lang="en" sz="2000">
                <a:solidFill>
                  <a:srgbClr val="303030"/>
                </a:solidFill>
              </a:rPr>
              <a:t> and expected convergence later </a:t>
            </a:r>
            <a:endParaRPr sz="2000">
              <a:solidFill>
                <a:srgbClr val="303030"/>
              </a:solidFill>
            </a:endParaRPr>
          </a:p>
          <a:p>
            <a:pPr indent="-3556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303030"/>
              </a:buClr>
              <a:buSzPts val="2000"/>
              <a:buChar char="-"/>
            </a:pPr>
            <a:r>
              <a:rPr lang="en" sz="2000">
                <a:solidFill>
                  <a:srgbClr val="303030"/>
                </a:solidFill>
              </a:rPr>
              <a:t>He suggests that the </a:t>
            </a:r>
            <a:r>
              <a:rPr b="1" lang="en" sz="2000">
                <a:solidFill>
                  <a:srgbClr val="303030"/>
                </a:solidFill>
              </a:rPr>
              <a:t>economies were not ready</a:t>
            </a:r>
            <a:r>
              <a:rPr lang="en" sz="2000">
                <a:solidFill>
                  <a:srgbClr val="303030"/>
                </a:solidFill>
              </a:rPr>
              <a:t> to share a currency </a:t>
            </a:r>
            <a:endParaRPr sz="2000">
              <a:solidFill>
                <a:srgbClr val="30303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017450"/>
            <a:ext cx="8520600" cy="38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" sz="2000">
                <a:solidFill>
                  <a:srgbClr val="303030"/>
                </a:solidFill>
              </a:rPr>
              <a:t>What is </a:t>
            </a:r>
            <a:r>
              <a:rPr b="1" lang="en" sz="2000">
                <a:solidFill>
                  <a:srgbClr val="303030"/>
                </a:solidFill>
              </a:rPr>
              <a:t>EMU? </a:t>
            </a:r>
            <a:endParaRPr b="1" sz="2000">
              <a:solidFill>
                <a:srgbClr val="303030"/>
              </a:solidFill>
            </a:endParaRPr>
          </a:p>
          <a:p>
            <a:pPr indent="-3556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303030"/>
              </a:buClr>
              <a:buSzPts val="2000"/>
              <a:buChar char="-"/>
            </a:pPr>
            <a:r>
              <a:rPr lang="en" sz="2000">
                <a:solidFill>
                  <a:srgbClr val="303030"/>
                </a:solidFill>
              </a:rPr>
              <a:t>A </a:t>
            </a:r>
            <a:r>
              <a:rPr lang="en" sz="2000">
                <a:solidFill>
                  <a:srgbClr val="303030"/>
                </a:solidFill>
              </a:rPr>
              <a:t>system</a:t>
            </a:r>
            <a:r>
              <a:rPr lang="en" sz="2000">
                <a:solidFill>
                  <a:srgbClr val="303030"/>
                </a:solidFill>
              </a:rPr>
              <a:t> to create and manage a single European currency </a:t>
            </a:r>
            <a:endParaRPr sz="2000">
              <a:solidFill>
                <a:srgbClr val="30303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lang="en" sz="2000">
                <a:solidFill>
                  <a:srgbClr val="303030"/>
                </a:solidFill>
              </a:rPr>
              <a:t>T</a:t>
            </a:r>
            <a:r>
              <a:rPr b="1" lang="en" sz="2000">
                <a:solidFill>
                  <a:srgbClr val="303030"/>
                </a:solidFill>
              </a:rPr>
              <a:t>hree phases</a:t>
            </a:r>
            <a:endParaRPr b="1" sz="2000">
              <a:solidFill>
                <a:srgbClr val="303030"/>
              </a:solidFill>
            </a:endParaRPr>
          </a:p>
          <a:p>
            <a:pPr indent="-3556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303030"/>
              </a:buClr>
              <a:buSzPts val="2000"/>
              <a:buAutoNum type="arabicPeriod"/>
            </a:pPr>
            <a:r>
              <a:rPr lang="en" sz="2000">
                <a:solidFill>
                  <a:srgbClr val="303030"/>
                </a:solidFill>
              </a:rPr>
              <a:t>Early monetary </a:t>
            </a:r>
            <a:r>
              <a:rPr lang="en" sz="2000">
                <a:solidFill>
                  <a:srgbClr val="303030"/>
                </a:solidFill>
              </a:rPr>
              <a:t>experiments (1960s-70s)</a:t>
            </a:r>
            <a:endParaRPr sz="2000">
              <a:solidFill>
                <a:srgbClr val="303030"/>
              </a:solidFill>
            </a:endParaRPr>
          </a:p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2000"/>
              <a:buAutoNum type="arabicPeriod"/>
            </a:pPr>
            <a:r>
              <a:rPr lang="en" sz="2000">
                <a:solidFill>
                  <a:srgbClr val="303030"/>
                </a:solidFill>
              </a:rPr>
              <a:t>Road to the Maastricht Treaty (1980s-90s)</a:t>
            </a:r>
            <a:endParaRPr sz="2000">
              <a:solidFill>
                <a:srgbClr val="303030"/>
              </a:solidFill>
            </a:endParaRPr>
          </a:p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2000"/>
              <a:buAutoNum type="arabicPeriod"/>
            </a:pPr>
            <a:r>
              <a:rPr lang="en" sz="2000">
                <a:solidFill>
                  <a:srgbClr val="303030"/>
                </a:solidFill>
              </a:rPr>
              <a:t>Euro crisis and reforms (2009-present)</a:t>
            </a:r>
            <a:endParaRPr sz="2000">
              <a:solidFill>
                <a:srgbClr val="30303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rPr b="1" lang="en" sz="2000">
                <a:solidFill>
                  <a:srgbClr val="303030"/>
                </a:solidFill>
              </a:rPr>
              <a:t>The Core Conflict :</a:t>
            </a:r>
            <a:r>
              <a:rPr lang="en" sz="2000">
                <a:solidFill>
                  <a:srgbClr val="303030"/>
                </a:solidFill>
              </a:rPr>
              <a:t> Constant tension between maintaining national interests and achieving the high degree of economic integration required for a single currency</a:t>
            </a:r>
            <a:endParaRPr sz="2000">
              <a:solidFill>
                <a:srgbClr val="30303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Themes to Highlight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017450"/>
            <a:ext cx="8520600" cy="37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b="1" lang="en" sz="1750">
                <a:solidFill>
                  <a:srgbClr val="303030"/>
                </a:solidFill>
              </a:rPr>
              <a:t>Sovereignty: </a:t>
            </a:r>
            <a:endParaRPr b="1" sz="1750">
              <a:solidFill>
                <a:srgbClr val="303030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en" sz="1750">
                <a:solidFill>
                  <a:srgbClr val="303030"/>
                </a:solidFill>
              </a:rPr>
              <a:t>Countries gave up control over their own currency</a:t>
            </a:r>
            <a:endParaRPr sz="1750">
              <a:solidFill>
                <a:srgbClr val="303030"/>
              </a:solidFill>
            </a:endParaRPr>
          </a:p>
          <a:p>
            <a:pPr indent="-339725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303030"/>
              </a:buClr>
              <a:buSzPts val="1750"/>
              <a:buChar char="-"/>
            </a:pPr>
            <a:r>
              <a:rPr lang="en" sz="1750">
                <a:solidFill>
                  <a:srgbClr val="303030"/>
                </a:solidFill>
              </a:rPr>
              <a:t>This is a significant loss of state power and is very rare</a:t>
            </a:r>
            <a:endParaRPr sz="1750">
              <a:solidFill>
                <a:srgbClr val="303030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b="1" lang="en" sz="1750">
                <a:solidFill>
                  <a:srgbClr val="303030"/>
                </a:solidFill>
              </a:rPr>
              <a:t>Economic </a:t>
            </a:r>
            <a:r>
              <a:rPr b="1" lang="en" sz="1750">
                <a:solidFill>
                  <a:srgbClr val="303030"/>
                </a:solidFill>
              </a:rPr>
              <a:t>Coordination</a:t>
            </a:r>
            <a:r>
              <a:rPr b="1" lang="en" sz="1750">
                <a:solidFill>
                  <a:srgbClr val="303030"/>
                </a:solidFill>
              </a:rPr>
              <a:t>: </a:t>
            </a:r>
            <a:endParaRPr b="1" sz="1750">
              <a:solidFill>
                <a:srgbClr val="303030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en" sz="1750">
                <a:solidFill>
                  <a:srgbClr val="303030"/>
                </a:solidFill>
              </a:rPr>
              <a:t>A </a:t>
            </a:r>
            <a:r>
              <a:rPr lang="en" sz="1750">
                <a:solidFill>
                  <a:srgbClr val="303030"/>
                </a:solidFill>
              </a:rPr>
              <a:t>currency</a:t>
            </a:r>
            <a:r>
              <a:rPr lang="en" sz="1750">
                <a:solidFill>
                  <a:srgbClr val="303030"/>
                </a:solidFill>
              </a:rPr>
              <a:t> union needs shared rules and discipline and is unstable without the “E” in EMU</a:t>
            </a:r>
            <a:endParaRPr sz="1750">
              <a:solidFill>
                <a:srgbClr val="303030"/>
              </a:solidFill>
            </a:endParaRPr>
          </a:p>
          <a:p>
            <a:pPr indent="-339725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303030"/>
              </a:buClr>
              <a:buSzPts val="1750"/>
              <a:buChar char="-"/>
            </a:pPr>
            <a:r>
              <a:rPr lang="en" sz="1750">
                <a:solidFill>
                  <a:srgbClr val="303030"/>
                </a:solidFill>
              </a:rPr>
              <a:t>This included shared budget rules and banking supervision</a:t>
            </a:r>
            <a:endParaRPr sz="1750">
              <a:solidFill>
                <a:srgbClr val="303030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b="1" lang="en" sz="1750">
                <a:solidFill>
                  <a:srgbClr val="303030"/>
                </a:solidFill>
              </a:rPr>
              <a:t>Political Dimension: </a:t>
            </a:r>
            <a:endParaRPr b="1" sz="1750">
              <a:solidFill>
                <a:srgbClr val="303030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en" sz="1750">
                <a:solidFill>
                  <a:srgbClr val="303030"/>
                </a:solidFill>
              </a:rPr>
              <a:t>Embedded in social and political contexts which affects employment, </a:t>
            </a:r>
            <a:r>
              <a:rPr lang="en" sz="1750">
                <a:solidFill>
                  <a:srgbClr val="303030"/>
                </a:solidFill>
              </a:rPr>
              <a:t>growth</a:t>
            </a:r>
            <a:r>
              <a:rPr lang="en" sz="1750">
                <a:solidFill>
                  <a:srgbClr val="303030"/>
                </a:solidFill>
              </a:rPr>
              <a:t> and stability </a:t>
            </a:r>
            <a:endParaRPr sz="1750">
              <a:solidFill>
                <a:srgbClr val="303030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853"/>
              <a:buNone/>
            </a:pPr>
            <a:r>
              <a:t/>
            </a:r>
            <a:endParaRPr sz="1750">
              <a:solidFill>
                <a:srgbClr val="30303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Foundations &amp; Early Projects (1960s-70s)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03030"/>
                </a:solidFill>
              </a:rPr>
              <a:t>1972</a:t>
            </a:r>
            <a:endParaRPr>
              <a:solidFill>
                <a:srgbClr val="30303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303030"/>
              </a:buClr>
              <a:buSzPts val="1800"/>
              <a:buChar char="-"/>
            </a:pPr>
            <a:r>
              <a:rPr lang="en">
                <a:solidFill>
                  <a:srgbClr val="303030"/>
                </a:solidFill>
              </a:rPr>
              <a:t>“The Snake”: A system established to narrow fluctuation margins between European currencies to 2.25%</a:t>
            </a:r>
            <a:endParaRPr>
              <a:solidFill>
                <a:srgbClr val="30303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03030"/>
                </a:solidFill>
              </a:rPr>
              <a:t>1979</a:t>
            </a:r>
            <a:endParaRPr>
              <a:solidFill>
                <a:srgbClr val="30303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303030"/>
              </a:buClr>
              <a:buSzPts val="1800"/>
              <a:buChar char="-"/>
            </a:pPr>
            <a:r>
              <a:rPr lang="en">
                <a:solidFill>
                  <a:srgbClr val="303030"/>
                </a:solidFill>
              </a:rPr>
              <a:t>The EMS (European Monetary System): Created the European Currency Unit (ECU) and credit mechanisms to stabilize the market</a:t>
            </a:r>
            <a:endParaRPr>
              <a:solidFill>
                <a:srgbClr val="30303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303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303030"/>
                </a:solidFill>
              </a:rPr>
              <a:t>These were early attempts to control instability, but not fully successful</a:t>
            </a:r>
            <a:endParaRPr>
              <a:solidFill>
                <a:srgbClr val="30303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Debate- Economists vs Monetarists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8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26">
                <a:solidFill>
                  <a:srgbClr val="303030"/>
                </a:solidFill>
              </a:rPr>
              <a:t>The "Monetarist" View:</a:t>
            </a:r>
            <a:endParaRPr b="1" sz="2226">
              <a:solidFill>
                <a:srgbClr val="303030"/>
              </a:solidFill>
            </a:endParaRPr>
          </a:p>
          <a:p>
            <a:pPr indent="-348735" lvl="0" marL="457200" rtl="0" algn="l">
              <a:spcBef>
                <a:spcPts val="1200"/>
              </a:spcBef>
              <a:spcAft>
                <a:spcPts val="0"/>
              </a:spcAft>
              <a:buClr>
                <a:srgbClr val="303030"/>
              </a:buClr>
              <a:buSzPct val="100000"/>
              <a:buChar char="-"/>
            </a:pPr>
            <a:r>
              <a:rPr lang="en" sz="2226">
                <a:solidFill>
                  <a:srgbClr val="303030"/>
                </a:solidFill>
              </a:rPr>
              <a:t>Argued that a shared currency would force economies to converge</a:t>
            </a:r>
            <a:endParaRPr sz="2226">
              <a:solidFill>
                <a:srgbClr val="303030"/>
              </a:solidFill>
            </a:endParaRPr>
          </a:p>
          <a:p>
            <a:pPr indent="-348735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ct val="100000"/>
              <a:buChar char="-"/>
            </a:pPr>
            <a:r>
              <a:rPr lang="en" sz="2226">
                <a:solidFill>
                  <a:srgbClr val="303030"/>
                </a:solidFill>
              </a:rPr>
              <a:t>Currency first and </a:t>
            </a:r>
            <a:r>
              <a:rPr lang="en" sz="2226">
                <a:solidFill>
                  <a:srgbClr val="303030"/>
                </a:solidFill>
              </a:rPr>
              <a:t>convergence</a:t>
            </a:r>
            <a:r>
              <a:rPr lang="en" sz="2226">
                <a:solidFill>
                  <a:srgbClr val="303030"/>
                </a:solidFill>
              </a:rPr>
              <a:t> later</a:t>
            </a:r>
            <a:endParaRPr sz="2226">
              <a:solidFill>
                <a:srgbClr val="30303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226">
                <a:solidFill>
                  <a:srgbClr val="303030"/>
                </a:solidFill>
              </a:rPr>
              <a:t>The "Economist" View:</a:t>
            </a:r>
            <a:endParaRPr b="1" sz="2226">
              <a:solidFill>
                <a:srgbClr val="303030"/>
              </a:solidFill>
            </a:endParaRPr>
          </a:p>
          <a:p>
            <a:pPr indent="-348735" lvl="0" marL="457200" rtl="0" algn="l">
              <a:spcBef>
                <a:spcPts val="1200"/>
              </a:spcBef>
              <a:spcAft>
                <a:spcPts val="0"/>
              </a:spcAft>
              <a:buClr>
                <a:srgbClr val="303030"/>
              </a:buClr>
              <a:buSzPct val="100000"/>
              <a:buChar char="-"/>
            </a:pPr>
            <a:r>
              <a:rPr lang="en" sz="2226">
                <a:solidFill>
                  <a:srgbClr val="303030"/>
                </a:solidFill>
              </a:rPr>
              <a:t>Believed economic alignment was a prerequisite for union</a:t>
            </a:r>
            <a:endParaRPr sz="2226">
              <a:solidFill>
                <a:srgbClr val="303030"/>
              </a:solidFill>
            </a:endParaRPr>
          </a:p>
          <a:p>
            <a:pPr indent="-348735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ct val="100000"/>
              <a:buChar char="-"/>
            </a:pPr>
            <a:r>
              <a:rPr lang="en" sz="2226">
                <a:solidFill>
                  <a:srgbClr val="303030"/>
                </a:solidFill>
              </a:rPr>
              <a:t>Convergence first and </a:t>
            </a:r>
            <a:r>
              <a:rPr lang="en" sz="2226">
                <a:solidFill>
                  <a:srgbClr val="303030"/>
                </a:solidFill>
              </a:rPr>
              <a:t>currency</a:t>
            </a:r>
            <a:r>
              <a:rPr lang="en" sz="2226">
                <a:solidFill>
                  <a:srgbClr val="303030"/>
                </a:solidFill>
              </a:rPr>
              <a:t> later </a:t>
            </a:r>
            <a:endParaRPr sz="2226">
              <a:solidFill>
                <a:srgbClr val="30303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26">
                <a:solidFill>
                  <a:srgbClr val="303030"/>
                </a:solidFill>
              </a:rPr>
              <a:t>Europe moved ahead before full economic alignment </a:t>
            </a:r>
            <a:endParaRPr sz="2226">
              <a:solidFill>
                <a:srgbClr val="30303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26">
                <a:solidFill>
                  <a:srgbClr val="303030"/>
                </a:solidFill>
              </a:rPr>
              <a:t>National Divisions : Generally, France favored the monetarist view, while Germany and the Netherlands favored the economist view</a:t>
            </a:r>
            <a:endParaRPr sz="2226">
              <a:solidFill>
                <a:srgbClr val="30303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the Euro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017450"/>
            <a:ext cx="8520600" cy="41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72">
                <a:solidFill>
                  <a:srgbClr val="303030"/>
                </a:solidFill>
              </a:rPr>
              <a:t>The Single Market (1992) : </a:t>
            </a:r>
            <a:endParaRPr b="1" sz="2372">
              <a:solidFill>
                <a:srgbClr val="303030"/>
              </a:solidFill>
            </a:endParaRPr>
          </a:p>
          <a:p>
            <a:pPr indent="-334031" lvl="0" marL="457200" rtl="0" algn="l">
              <a:spcBef>
                <a:spcPts val="1200"/>
              </a:spcBef>
              <a:spcAft>
                <a:spcPts val="0"/>
              </a:spcAft>
              <a:buClr>
                <a:srgbClr val="303030"/>
              </a:buClr>
              <a:buSzPct val="100000"/>
              <a:buChar char="-"/>
            </a:pPr>
            <a:r>
              <a:rPr lang="en" sz="2372">
                <a:solidFill>
                  <a:srgbClr val="303030"/>
                </a:solidFill>
              </a:rPr>
              <a:t>Policymakers like Jacques Delors argued that a monetary union was necessary to complete the internal market and eliminate trade barriers</a:t>
            </a:r>
            <a:endParaRPr sz="2372">
              <a:solidFill>
                <a:srgbClr val="30303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372">
                <a:solidFill>
                  <a:srgbClr val="303030"/>
                </a:solidFill>
              </a:rPr>
              <a:t>The Delors Report (1989) : </a:t>
            </a:r>
            <a:endParaRPr b="1" sz="2372">
              <a:solidFill>
                <a:srgbClr val="303030"/>
              </a:solidFill>
            </a:endParaRPr>
          </a:p>
          <a:p>
            <a:pPr indent="-334031" lvl="0" marL="457200" rtl="0" algn="l">
              <a:spcBef>
                <a:spcPts val="1200"/>
              </a:spcBef>
              <a:spcAft>
                <a:spcPts val="0"/>
              </a:spcAft>
              <a:buClr>
                <a:srgbClr val="303030"/>
              </a:buClr>
              <a:buSzPct val="100000"/>
              <a:buChar char="-"/>
            </a:pPr>
            <a:r>
              <a:rPr lang="en" sz="2372">
                <a:solidFill>
                  <a:srgbClr val="303030"/>
                </a:solidFill>
              </a:rPr>
              <a:t>Proposed a three-stage plan for EMU, which influenced the Maastricht Treaty</a:t>
            </a:r>
            <a:endParaRPr sz="2372">
              <a:solidFill>
                <a:srgbClr val="303030"/>
              </a:solidFill>
            </a:endParaRPr>
          </a:p>
          <a:p>
            <a:pPr indent="-334031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ct val="100000"/>
              <a:buAutoNum type="arabicPeriod"/>
            </a:pPr>
            <a:r>
              <a:rPr lang="en" sz="2372">
                <a:solidFill>
                  <a:srgbClr val="303030"/>
                </a:solidFill>
              </a:rPr>
              <a:t>Coordination of policies</a:t>
            </a:r>
            <a:endParaRPr sz="2372">
              <a:solidFill>
                <a:srgbClr val="303030"/>
              </a:solidFill>
            </a:endParaRPr>
          </a:p>
          <a:p>
            <a:pPr indent="-334031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ct val="100000"/>
              <a:buAutoNum type="arabicPeriod"/>
            </a:pPr>
            <a:r>
              <a:rPr lang="en" sz="2372">
                <a:solidFill>
                  <a:srgbClr val="303030"/>
                </a:solidFill>
              </a:rPr>
              <a:t>Creation of institutions</a:t>
            </a:r>
            <a:endParaRPr sz="2372">
              <a:solidFill>
                <a:srgbClr val="303030"/>
              </a:solidFill>
            </a:endParaRPr>
          </a:p>
          <a:p>
            <a:pPr indent="-334031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ct val="100000"/>
              <a:buAutoNum type="arabicPeriod"/>
            </a:pPr>
            <a:r>
              <a:rPr lang="en" sz="2372">
                <a:solidFill>
                  <a:srgbClr val="303030"/>
                </a:solidFill>
              </a:rPr>
              <a:t>Introduction of a single currency</a:t>
            </a:r>
            <a:endParaRPr sz="2372">
              <a:solidFill>
                <a:srgbClr val="30303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372">
                <a:solidFill>
                  <a:srgbClr val="303030"/>
                </a:solidFill>
              </a:rPr>
              <a:t>Maastricht Treaty : </a:t>
            </a:r>
            <a:endParaRPr b="1" sz="2372">
              <a:solidFill>
                <a:srgbClr val="303030"/>
              </a:solidFill>
            </a:endParaRPr>
          </a:p>
          <a:p>
            <a:pPr indent="-334031" lvl="0" marL="457200" rtl="0" algn="l">
              <a:spcBef>
                <a:spcPts val="1200"/>
              </a:spcBef>
              <a:spcAft>
                <a:spcPts val="0"/>
              </a:spcAft>
              <a:buClr>
                <a:srgbClr val="303030"/>
              </a:buClr>
              <a:buSzPct val="100000"/>
              <a:buChar char="-"/>
            </a:pPr>
            <a:r>
              <a:rPr lang="en" sz="2372">
                <a:solidFill>
                  <a:srgbClr val="303030"/>
                </a:solidFill>
              </a:rPr>
              <a:t>Established strict rules for joining, including price stability, debt limits and inflation</a:t>
            </a:r>
            <a:endParaRPr sz="2372">
              <a:solidFill>
                <a:srgbClr val="30303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72">
                <a:solidFill>
                  <a:srgbClr val="303030"/>
                </a:solidFill>
              </a:rPr>
              <a:t>Result: Creation of the euro </a:t>
            </a:r>
            <a:r>
              <a:rPr lang="en" sz="2372">
                <a:solidFill>
                  <a:srgbClr val="303030"/>
                </a:solidFill>
              </a:rPr>
              <a:t>framework</a:t>
            </a:r>
            <a:r>
              <a:rPr lang="en" sz="2372">
                <a:solidFill>
                  <a:srgbClr val="303030"/>
                </a:solidFill>
              </a:rPr>
              <a:t> </a:t>
            </a:r>
            <a:endParaRPr sz="2372">
              <a:solidFill>
                <a:srgbClr val="30303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30303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1992-93 EMS Crisis</a:t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8520600" cy="37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03030"/>
                </a:solidFill>
              </a:rPr>
              <a:t>Financial pressure: </a:t>
            </a:r>
            <a:endParaRPr b="1">
              <a:solidFill>
                <a:srgbClr val="30303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303030"/>
              </a:buClr>
              <a:buSzPts val="1800"/>
              <a:buChar char="-"/>
            </a:pPr>
            <a:r>
              <a:rPr lang="en">
                <a:solidFill>
                  <a:srgbClr val="303030"/>
                </a:solidFill>
              </a:rPr>
              <a:t>Global investors speculated against weaker European currencies </a:t>
            </a:r>
            <a:endParaRPr>
              <a:solidFill>
                <a:srgbClr val="30303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Char char="-"/>
            </a:pPr>
            <a:r>
              <a:rPr lang="en">
                <a:solidFill>
                  <a:srgbClr val="303030"/>
                </a:solidFill>
              </a:rPr>
              <a:t>Markets tested whether governments could maintain their fixed exchange rates </a:t>
            </a:r>
            <a:endParaRPr>
              <a:solidFill>
                <a:srgbClr val="30303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03030"/>
                </a:solidFill>
              </a:rPr>
              <a:t>Black Wednesday (1992)</a:t>
            </a:r>
            <a:endParaRPr b="1">
              <a:solidFill>
                <a:srgbClr val="30303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303030"/>
              </a:buClr>
              <a:buSzPts val="1800"/>
              <a:buChar char="-"/>
            </a:pPr>
            <a:r>
              <a:rPr lang="en">
                <a:solidFill>
                  <a:srgbClr val="303030"/>
                </a:solidFill>
              </a:rPr>
              <a:t>The UK was forced to leave the system</a:t>
            </a:r>
            <a:endParaRPr>
              <a:solidFill>
                <a:srgbClr val="303030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03030"/>
                </a:solidFill>
              </a:rPr>
              <a:t>- exchange rate margins widened significantly (15%)</a:t>
            </a:r>
            <a:endParaRPr>
              <a:solidFill>
                <a:srgbClr val="30303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03030"/>
                </a:solidFill>
              </a:rPr>
              <a:t>Revealed: </a:t>
            </a:r>
            <a:endParaRPr b="1">
              <a:solidFill>
                <a:srgbClr val="30303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303030"/>
              </a:buClr>
              <a:buSzPts val="1800"/>
              <a:buChar char="-"/>
            </a:pPr>
            <a:r>
              <a:rPr lang="en">
                <a:solidFill>
                  <a:srgbClr val="303030"/>
                </a:solidFill>
              </a:rPr>
              <a:t>Markets were stronger than individual governments</a:t>
            </a:r>
            <a:endParaRPr>
              <a:solidFill>
                <a:srgbClr val="30303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Char char="-"/>
            </a:pPr>
            <a:r>
              <a:rPr lang="en">
                <a:solidFill>
                  <a:srgbClr val="303030"/>
                </a:solidFill>
              </a:rPr>
              <a:t>European economies were still too different </a:t>
            </a:r>
            <a:endParaRPr>
              <a:solidFill>
                <a:srgbClr val="30303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Char char="-"/>
            </a:pPr>
            <a:r>
              <a:rPr lang="en">
                <a:solidFill>
                  <a:srgbClr val="303030"/>
                </a:solidFill>
              </a:rPr>
              <a:t>Monetary cooperation was fragile without deeper integration</a:t>
            </a:r>
            <a:endParaRPr>
              <a:solidFill>
                <a:srgbClr val="30303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Euro Crisis (2009)</a:t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113900" y="1152475"/>
            <a:ext cx="5585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03030"/>
                </a:solidFill>
              </a:rPr>
              <a:t>The Trigger: </a:t>
            </a:r>
            <a:endParaRPr b="1">
              <a:solidFill>
                <a:srgbClr val="303030"/>
              </a:solidFill>
            </a:endParaRPr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Clr>
                <a:srgbClr val="303030"/>
              </a:buClr>
              <a:buSzPct val="100000"/>
              <a:buChar char="-"/>
            </a:pPr>
            <a:r>
              <a:rPr lang="en">
                <a:solidFill>
                  <a:srgbClr val="303030"/>
                </a:solidFill>
              </a:rPr>
              <a:t>Greece’s 2009 </a:t>
            </a:r>
            <a:r>
              <a:rPr lang="en">
                <a:solidFill>
                  <a:srgbClr val="303030"/>
                </a:solidFill>
              </a:rPr>
              <a:t>announcement</a:t>
            </a:r>
            <a:r>
              <a:rPr lang="en">
                <a:solidFill>
                  <a:srgbClr val="303030"/>
                </a:solidFill>
              </a:rPr>
              <a:t> of 12.7% deficit </a:t>
            </a:r>
            <a:r>
              <a:rPr lang="en">
                <a:solidFill>
                  <a:srgbClr val="303030"/>
                </a:solidFill>
              </a:rPr>
              <a:t>sparked</a:t>
            </a:r>
            <a:r>
              <a:rPr lang="en">
                <a:solidFill>
                  <a:srgbClr val="303030"/>
                </a:solidFill>
              </a:rPr>
              <a:t> a wider debt crisis</a:t>
            </a:r>
            <a:endParaRPr>
              <a:solidFill>
                <a:srgbClr val="303030"/>
              </a:solidFill>
            </a:endParaRPr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ct val="100000"/>
              <a:buChar char="-"/>
            </a:pPr>
            <a:r>
              <a:rPr lang="en">
                <a:solidFill>
                  <a:srgbClr val="303030"/>
                </a:solidFill>
              </a:rPr>
              <a:t>Spread across several Eurozone countries  </a:t>
            </a:r>
            <a:endParaRPr>
              <a:solidFill>
                <a:srgbClr val="30303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03030"/>
                </a:solidFill>
              </a:rPr>
              <a:t>Structural</a:t>
            </a:r>
            <a:r>
              <a:rPr b="1" lang="en">
                <a:solidFill>
                  <a:srgbClr val="303030"/>
                </a:solidFill>
              </a:rPr>
              <a:t> flaws:</a:t>
            </a:r>
            <a:endParaRPr b="1">
              <a:solidFill>
                <a:srgbClr val="303030"/>
              </a:solidFill>
            </a:endParaRPr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Clr>
                <a:srgbClr val="303030"/>
              </a:buClr>
              <a:buSzPct val="100000"/>
              <a:buChar char="-"/>
            </a:pPr>
            <a:r>
              <a:rPr lang="en">
                <a:solidFill>
                  <a:srgbClr val="303030"/>
                </a:solidFill>
              </a:rPr>
              <a:t>The crisis exposed a “bank-state doom-loop” and a lack of mechanisms for “fiscal transfers” to poorer regions. </a:t>
            </a:r>
            <a:endParaRPr>
              <a:solidFill>
                <a:srgbClr val="303030"/>
              </a:solidFill>
            </a:endParaRPr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ct val="100000"/>
              <a:buChar char="-"/>
            </a:pPr>
            <a:r>
              <a:rPr lang="en">
                <a:solidFill>
                  <a:srgbClr val="303030"/>
                </a:solidFill>
              </a:rPr>
              <a:t>Weak coordination and strong links between banks and </a:t>
            </a:r>
            <a:r>
              <a:rPr lang="en">
                <a:solidFill>
                  <a:srgbClr val="303030"/>
                </a:solidFill>
              </a:rPr>
              <a:t>government</a:t>
            </a:r>
            <a:endParaRPr>
              <a:solidFill>
                <a:srgbClr val="30303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03030"/>
                </a:solidFill>
              </a:rPr>
              <a:t>The ECB’s (European Central Bank) role:</a:t>
            </a:r>
            <a:endParaRPr b="1">
              <a:solidFill>
                <a:srgbClr val="303030"/>
              </a:solidFill>
            </a:endParaRPr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Clr>
                <a:srgbClr val="303030"/>
              </a:buClr>
              <a:buSzPct val="100000"/>
              <a:buChar char="-"/>
            </a:pPr>
            <a:r>
              <a:rPr lang="en">
                <a:solidFill>
                  <a:srgbClr val="303030"/>
                </a:solidFill>
              </a:rPr>
              <a:t>Mario Draghi’s promise to do “whatever it takes” in 2012 was </a:t>
            </a:r>
            <a:r>
              <a:rPr lang="en">
                <a:solidFill>
                  <a:srgbClr val="303030"/>
                </a:solidFill>
              </a:rPr>
              <a:t>critical</a:t>
            </a:r>
            <a:r>
              <a:rPr lang="en">
                <a:solidFill>
                  <a:srgbClr val="303030"/>
                </a:solidFill>
              </a:rPr>
              <a:t> to saving the currency (the euro)</a:t>
            </a:r>
            <a:endParaRPr>
              <a:solidFill>
                <a:srgbClr val="303030"/>
              </a:solidFill>
            </a:endParaRPr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ct val="100000"/>
              <a:buChar char="-"/>
            </a:pPr>
            <a:r>
              <a:rPr lang="en">
                <a:solidFill>
                  <a:srgbClr val="303030"/>
                </a:solidFill>
              </a:rPr>
              <a:t>ECB played a key role in preventing the collapse of the euro</a:t>
            </a:r>
            <a:endParaRPr>
              <a:solidFill>
                <a:srgbClr val="303030"/>
              </a:solidFill>
            </a:endParaRPr>
          </a:p>
        </p:txBody>
      </p:sp>
      <p:pic>
        <p:nvPicPr>
          <p:cNvPr id="122" name="Google Shape;122;p23" title="Screenshot 2026-04-12 at 7.46.4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1075" y="1518600"/>
            <a:ext cx="1895351" cy="2358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1152475"/>
            <a:ext cx="8520600" cy="37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Char char="-"/>
            </a:pPr>
            <a:r>
              <a:rPr lang="en">
                <a:solidFill>
                  <a:srgbClr val="303030"/>
                </a:solidFill>
              </a:rPr>
              <a:t>The euro is central to European integration and to the wider European project.</a:t>
            </a:r>
            <a:endParaRPr>
              <a:solidFill>
                <a:srgbClr val="30303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03030"/>
                </a:solidFill>
              </a:rPr>
              <a:t>Benefits</a:t>
            </a:r>
            <a:endParaRPr>
              <a:solidFill>
                <a:srgbClr val="30303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303030"/>
              </a:buClr>
              <a:buSzPts val="1800"/>
              <a:buChar char="-"/>
            </a:pPr>
            <a:r>
              <a:rPr lang="en">
                <a:solidFill>
                  <a:srgbClr val="303030"/>
                </a:solidFill>
              </a:rPr>
              <a:t>Stability</a:t>
            </a:r>
            <a:endParaRPr>
              <a:solidFill>
                <a:srgbClr val="30303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Char char="-"/>
            </a:pPr>
            <a:r>
              <a:rPr lang="en">
                <a:solidFill>
                  <a:srgbClr val="303030"/>
                </a:solidFill>
              </a:rPr>
              <a:t>Easier to trade</a:t>
            </a:r>
            <a:endParaRPr>
              <a:solidFill>
                <a:srgbClr val="30303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Char char="-"/>
            </a:pPr>
            <a:r>
              <a:rPr lang="en">
                <a:solidFill>
                  <a:srgbClr val="303030"/>
                </a:solidFill>
              </a:rPr>
              <a:t>Global influence </a:t>
            </a:r>
            <a:endParaRPr>
              <a:solidFill>
                <a:srgbClr val="30303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03030"/>
                </a:solidFill>
              </a:rPr>
              <a:t>Costs</a:t>
            </a:r>
            <a:endParaRPr>
              <a:solidFill>
                <a:srgbClr val="30303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303030"/>
              </a:buClr>
              <a:buSzPts val="1800"/>
              <a:buChar char="-"/>
            </a:pPr>
            <a:r>
              <a:rPr lang="en">
                <a:solidFill>
                  <a:srgbClr val="303030"/>
                </a:solidFill>
              </a:rPr>
              <a:t>Loss of national control and flexibility</a:t>
            </a:r>
            <a:endParaRPr>
              <a:solidFill>
                <a:srgbClr val="30303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03030"/>
                </a:solidFill>
              </a:rPr>
              <a:t>EMU evolved </a:t>
            </a:r>
            <a:r>
              <a:rPr lang="en">
                <a:solidFill>
                  <a:srgbClr val="303030"/>
                </a:solidFill>
              </a:rPr>
              <a:t>through</a:t>
            </a:r>
            <a:r>
              <a:rPr lang="en">
                <a:solidFill>
                  <a:srgbClr val="303030"/>
                </a:solidFill>
              </a:rPr>
              <a:t> crises and political decisions</a:t>
            </a:r>
            <a:endParaRPr>
              <a:solidFill>
                <a:srgbClr val="30303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303030"/>
                </a:solidFill>
              </a:rPr>
              <a:t>No simple path and growth through crises and political will</a:t>
            </a:r>
            <a:endParaRPr>
              <a:solidFill>
                <a:srgbClr val="30303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Tone of Drach</a:t>
            </a:r>
            <a:br>
              <a:rPr lang="en"/>
            </a:br>
            <a:r>
              <a:rPr lang="en"/>
              <a:t> </a:t>
            </a:r>
            <a:endParaRPr/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311700" y="1017450"/>
            <a:ext cx="8520600" cy="45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45">
                <a:solidFill>
                  <a:srgbClr val="303030"/>
                </a:solidFill>
              </a:rPr>
              <a:t>Realistic: </a:t>
            </a:r>
            <a:endParaRPr b="1" sz="2745">
              <a:solidFill>
                <a:srgbClr val="303030"/>
              </a:solidFill>
            </a:endParaRPr>
          </a:p>
          <a:p>
            <a:pPr indent="-324458" lvl="0" marL="457200" rtl="0" algn="l">
              <a:spcBef>
                <a:spcPts val="1200"/>
              </a:spcBef>
              <a:spcAft>
                <a:spcPts val="0"/>
              </a:spcAft>
              <a:buClr>
                <a:srgbClr val="303030"/>
              </a:buClr>
              <a:buSzPct val="100000"/>
              <a:buChar char="-"/>
            </a:pPr>
            <a:r>
              <a:rPr lang="en" sz="2745">
                <a:solidFill>
                  <a:srgbClr val="303030"/>
                </a:solidFill>
              </a:rPr>
              <a:t>Portrays</a:t>
            </a:r>
            <a:r>
              <a:rPr lang="en" sz="2745">
                <a:solidFill>
                  <a:srgbClr val="303030"/>
                </a:solidFill>
              </a:rPr>
              <a:t> the history of the EMU not as a steady march towards progress but as a “multifaceted history, with no simple path”</a:t>
            </a:r>
            <a:endParaRPr sz="2745">
              <a:solidFill>
                <a:srgbClr val="30303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745">
                <a:solidFill>
                  <a:srgbClr val="303030"/>
                </a:solidFill>
              </a:rPr>
              <a:t>Analytical </a:t>
            </a:r>
            <a:r>
              <a:rPr b="1" lang="en" sz="2745">
                <a:solidFill>
                  <a:srgbClr val="303030"/>
                </a:solidFill>
              </a:rPr>
              <a:t>regarding</a:t>
            </a:r>
            <a:r>
              <a:rPr b="1" lang="en" sz="2745">
                <a:solidFill>
                  <a:srgbClr val="303030"/>
                </a:solidFill>
              </a:rPr>
              <a:t> </a:t>
            </a:r>
            <a:r>
              <a:rPr b="1" lang="en" sz="2745">
                <a:solidFill>
                  <a:srgbClr val="303030"/>
                </a:solidFill>
              </a:rPr>
              <a:t>weaknesses</a:t>
            </a:r>
            <a:r>
              <a:rPr b="1" lang="en" sz="2745">
                <a:solidFill>
                  <a:srgbClr val="303030"/>
                </a:solidFill>
              </a:rPr>
              <a:t>:</a:t>
            </a:r>
            <a:endParaRPr b="1" sz="2745">
              <a:solidFill>
                <a:srgbClr val="303030"/>
              </a:solidFill>
            </a:endParaRPr>
          </a:p>
          <a:p>
            <a:pPr indent="-324458" lvl="0" marL="457200" rtl="0" algn="l">
              <a:spcBef>
                <a:spcPts val="1200"/>
              </a:spcBef>
              <a:spcAft>
                <a:spcPts val="0"/>
              </a:spcAft>
              <a:buClr>
                <a:srgbClr val="303030"/>
              </a:buClr>
              <a:buSzPct val="100000"/>
              <a:buChar char="-"/>
            </a:pPr>
            <a:r>
              <a:rPr lang="en" sz="2745">
                <a:solidFill>
                  <a:srgbClr val="303030"/>
                </a:solidFill>
              </a:rPr>
              <a:t>He maintains a </a:t>
            </a:r>
            <a:r>
              <a:rPr lang="en" sz="2745">
                <a:solidFill>
                  <a:srgbClr val="303030"/>
                </a:solidFill>
              </a:rPr>
              <a:t>critical</a:t>
            </a:r>
            <a:r>
              <a:rPr lang="en" sz="2745">
                <a:solidFill>
                  <a:srgbClr val="303030"/>
                </a:solidFill>
              </a:rPr>
              <a:t> academic distance, saying that 2009 crisis was not a surprise to everyone but revealed </a:t>
            </a:r>
            <a:r>
              <a:rPr lang="en" sz="2745">
                <a:solidFill>
                  <a:srgbClr val="303030"/>
                </a:solidFill>
              </a:rPr>
              <a:t>structural</a:t>
            </a:r>
            <a:r>
              <a:rPr lang="en" sz="2745">
                <a:solidFill>
                  <a:srgbClr val="303030"/>
                </a:solidFill>
              </a:rPr>
              <a:t> weakness </a:t>
            </a:r>
            <a:endParaRPr sz="2745">
              <a:solidFill>
                <a:srgbClr val="30303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745">
                <a:solidFill>
                  <a:srgbClr val="303030"/>
                </a:solidFill>
              </a:rPr>
              <a:t>Balanced Perspective</a:t>
            </a:r>
            <a:endParaRPr b="1" sz="2745">
              <a:solidFill>
                <a:srgbClr val="303030"/>
              </a:solidFill>
            </a:endParaRPr>
          </a:p>
          <a:p>
            <a:pPr indent="-324458" lvl="0" marL="457200" rtl="0" algn="l">
              <a:spcBef>
                <a:spcPts val="1200"/>
              </a:spcBef>
              <a:spcAft>
                <a:spcPts val="0"/>
              </a:spcAft>
              <a:buClr>
                <a:srgbClr val="303030"/>
              </a:buClr>
              <a:buSzPct val="100000"/>
              <a:buChar char="-"/>
            </a:pPr>
            <a:r>
              <a:rPr lang="en" sz="2745">
                <a:solidFill>
                  <a:srgbClr val="303030"/>
                </a:solidFill>
              </a:rPr>
              <a:t>Space for competing theories such as the “economist” vs “monetarist” debate</a:t>
            </a:r>
            <a:endParaRPr sz="2745">
              <a:solidFill>
                <a:srgbClr val="30303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745">
                <a:solidFill>
                  <a:srgbClr val="303030"/>
                </a:solidFill>
              </a:rPr>
              <a:t>Skeptical but </a:t>
            </a:r>
            <a:r>
              <a:rPr b="1" lang="en" sz="2745">
                <a:solidFill>
                  <a:srgbClr val="303030"/>
                </a:solidFill>
              </a:rPr>
              <a:t>acknowledge</a:t>
            </a:r>
            <a:r>
              <a:rPr b="1" lang="en" sz="2745">
                <a:solidFill>
                  <a:srgbClr val="303030"/>
                </a:solidFill>
              </a:rPr>
              <a:t> resilience</a:t>
            </a:r>
            <a:endParaRPr b="1" sz="2745">
              <a:solidFill>
                <a:srgbClr val="303030"/>
              </a:solidFill>
            </a:endParaRPr>
          </a:p>
          <a:p>
            <a:pPr indent="-324458" lvl="0" marL="457200" rtl="0" algn="l">
              <a:spcBef>
                <a:spcPts val="1200"/>
              </a:spcBef>
              <a:spcAft>
                <a:spcPts val="0"/>
              </a:spcAft>
              <a:buClr>
                <a:srgbClr val="303030"/>
              </a:buClr>
              <a:buSzPct val="100000"/>
              <a:buChar char="-"/>
            </a:pPr>
            <a:r>
              <a:rPr lang="en" sz="2745">
                <a:solidFill>
                  <a:srgbClr val="303030"/>
                </a:solidFill>
              </a:rPr>
              <a:t>Labels  the unions architecture as “incomplete” but acknowledges the “centrality” of the euro to the wider European project and the </a:t>
            </a:r>
            <a:r>
              <a:rPr lang="en" sz="2745">
                <a:solidFill>
                  <a:srgbClr val="303030"/>
                </a:solidFill>
              </a:rPr>
              <a:t>political</a:t>
            </a:r>
            <a:r>
              <a:rPr lang="en" sz="2745">
                <a:solidFill>
                  <a:srgbClr val="303030"/>
                </a:solidFill>
              </a:rPr>
              <a:t> commitment that has allowed it to survive</a:t>
            </a:r>
            <a:endParaRPr sz="2745">
              <a:solidFill>
                <a:srgbClr val="30303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303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303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30303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Relevance</a:t>
            </a:r>
            <a:r>
              <a:rPr lang="en"/>
              <a:t> Now</a:t>
            </a:r>
            <a:endParaRPr/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311700" y="910475"/>
            <a:ext cx="8520600" cy="414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303030"/>
                </a:solidFill>
              </a:rPr>
              <a:t>Euro is a success of </a:t>
            </a:r>
            <a:r>
              <a:rPr lang="en" sz="1900">
                <a:solidFill>
                  <a:srgbClr val="303030"/>
                </a:solidFill>
              </a:rPr>
              <a:t>integration</a:t>
            </a:r>
            <a:r>
              <a:rPr lang="en" sz="1900">
                <a:solidFill>
                  <a:srgbClr val="303030"/>
                </a:solidFill>
              </a:rPr>
              <a:t> and it remains a work in progress!</a:t>
            </a:r>
            <a:endParaRPr sz="1900">
              <a:solidFill>
                <a:srgbClr val="30303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303030"/>
                </a:solidFill>
              </a:rPr>
              <a:t>Banking Union (1998)</a:t>
            </a:r>
            <a:endParaRPr b="1" sz="1900">
              <a:solidFill>
                <a:srgbClr val="303030"/>
              </a:solidFill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rgbClr val="303030"/>
              </a:buClr>
              <a:buSzPts val="1900"/>
              <a:buChar char="-"/>
            </a:pPr>
            <a:r>
              <a:rPr lang="en" sz="1900">
                <a:solidFill>
                  <a:srgbClr val="303030"/>
                </a:solidFill>
              </a:rPr>
              <a:t>A major outcome was moving bank </a:t>
            </a:r>
            <a:r>
              <a:rPr lang="en" sz="1900">
                <a:solidFill>
                  <a:srgbClr val="303030"/>
                </a:solidFill>
              </a:rPr>
              <a:t>supervision</a:t>
            </a:r>
            <a:r>
              <a:rPr lang="en" sz="1900">
                <a:solidFill>
                  <a:srgbClr val="303030"/>
                </a:solidFill>
              </a:rPr>
              <a:t> to the European Central Bank (ECB) via the Single Supervisory Mechanism</a:t>
            </a:r>
            <a:endParaRPr sz="1900">
              <a:solidFill>
                <a:srgbClr val="30303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303030"/>
                </a:solidFill>
              </a:rPr>
              <a:t>Continued gaps in the system:</a:t>
            </a:r>
            <a:endParaRPr b="1" sz="1900">
              <a:solidFill>
                <a:srgbClr val="303030"/>
              </a:solidFill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rgbClr val="303030"/>
              </a:buClr>
              <a:buSzPts val="1900"/>
              <a:buChar char="-"/>
            </a:pPr>
            <a:r>
              <a:rPr lang="en" sz="1900">
                <a:solidFill>
                  <a:srgbClr val="303030"/>
                </a:solidFill>
              </a:rPr>
              <a:t>Experts agree that the EMU is still incomplete (</a:t>
            </a:r>
            <a:r>
              <a:rPr lang="en" sz="1900">
                <a:solidFill>
                  <a:srgbClr val="303030"/>
                </a:solidFill>
              </a:rPr>
              <a:t>regarding</a:t>
            </a:r>
            <a:r>
              <a:rPr lang="en" sz="1900">
                <a:solidFill>
                  <a:srgbClr val="303030"/>
                </a:solidFill>
              </a:rPr>
              <a:t> a common European Deposit Insurance scheme)</a:t>
            </a:r>
            <a:endParaRPr sz="1900">
              <a:solidFill>
                <a:srgbClr val="30303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303030"/>
                </a:solidFill>
              </a:rPr>
              <a:t>Ongoing debates</a:t>
            </a:r>
            <a:endParaRPr b="1" sz="1900">
              <a:solidFill>
                <a:srgbClr val="303030"/>
              </a:solidFill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rgbClr val="303030"/>
              </a:buClr>
              <a:buSzPts val="1900"/>
              <a:buChar char="-"/>
            </a:pPr>
            <a:r>
              <a:rPr lang="en" sz="1900">
                <a:solidFill>
                  <a:srgbClr val="303030"/>
                </a:solidFill>
              </a:rPr>
              <a:t>The </a:t>
            </a:r>
            <a:r>
              <a:rPr lang="en" sz="1900">
                <a:solidFill>
                  <a:srgbClr val="303030"/>
                </a:solidFill>
              </a:rPr>
              <a:t>balance</a:t>
            </a:r>
            <a:r>
              <a:rPr lang="en" sz="1900">
                <a:solidFill>
                  <a:srgbClr val="303030"/>
                </a:solidFill>
              </a:rPr>
              <a:t> between austerity (</a:t>
            </a:r>
            <a:r>
              <a:rPr lang="en" sz="1900">
                <a:solidFill>
                  <a:srgbClr val="303030"/>
                </a:solidFill>
              </a:rPr>
              <a:t>reducing</a:t>
            </a:r>
            <a:r>
              <a:rPr lang="en" sz="1900">
                <a:solidFill>
                  <a:srgbClr val="303030"/>
                </a:solidFill>
              </a:rPr>
              <a:t> government spending and increasing taxes) measures and </a:t>
            </a:r>
            <a:r>
              <a:rPr lang="en" sz="1900">
                <a:solidFill>
                  <a:srgbClr val="303030"/>
                </a:solidFill>
              </a:rPr>
              <a:t>economic</a:t>
            </a:r>
            <a:r>
              <a:rPr lang="en" sz="1900">
                <a:solidFill>
                  <a:srgbClr val="303030"/>
                </a:solidFill>
              </a:rPr>
              <a:t> growth</a:t>
            </a:r>
            <a:endParaRPr sz="1900">
              <a:solidFill>
                <a:srgbClr val="30303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 </a:t>
            </a:r>
            <a:endParaRPr/>
          </a:p>
        </p:txBody>
      </p:sp>
      <p:sp>
        <p:nvSpPr>
          <p:cNvPr id="146" name="Google Shape;146;p27"/>
          <p:cNvSpPr txBox="1"/>
          <p:nvPr/>
        </p:nvSpPr>
        <p:spPr>
          <a:xfrm>
            <a:off x="1540775" y="4450800"/>
            <a:ext cx="7521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Alexis Drach. Economic and monetary union: from 1957 to the euro crisis. Brigitte Leucht; Katja Seidel; Laurent Warlouzet. Reinventing Europe: The History of the European Union, 1945 to the Present, Bloomsbury Academic, pp.183-202, 2023, 978-1-350-21308-1. ffhal-04475213f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
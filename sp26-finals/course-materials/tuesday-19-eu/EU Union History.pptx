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8" d="100"/>
          <a:sy n="108" d="100"/>
        </p:scale>
        <p:origin x="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Peterson" userId="fb451ce8e258204b" providerId="LiveId" clId="{F780ED4F-5FF4-41B4-95FE-9D73EFE53DBE}"/>
    <pc:docChg chg="custSel modSld">
      <pc:chgData name="Jacob Peterson" userId="fb451ce8e258204b" providerId="LiveId" clId="{F780ED4F-5FF4-41B4-95FE-9D73EFE53DBE}" dt="2026-04-07T11:07:29.089" v="0" actId="33524"/>
      <pc:docMkLst>
        <pc:docMk/>
      </pc:docMkLst>
      <pc:sldChg chg="modSp mod">
        <pc:chgData name="Jacob Peterson" userId="fb451ce8e258204b" providerId="LiveId" clId="{F780ED4F-5FF4-41B4-95FE-9D73EFE53DBE}" dt="2026-04-07T11:07:29.089" v="0" actId="33524"/>
        <pc:sldMkLst>
          <pc:docMk/>
          <pc:sldMk cId="0" sldId="265"/>
        </pc:sldMkLst>
        <pc:spChg chg="mod">
          <ac:chgData name="Jacob Peterson" userId="fb451ce8e258204b" providerId="LiveId" clId="{F780ED4F-5FF4-41B4-95FE-9D73EFE53DBE}" dt="2026-04-07T11:07:29.089" v="0" actId="33524"/>
          <ac:spMkLst>
            <pc:docMk/>
            <pc:sldMk cId="0" sldId="265"/>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766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A84B"/>
          </a:solidFill>
          <a:ln w="12700">
            <a:solidFill>
              <a:srgbClr val="C8A84B"/>
            </a:solidFill>
            <a:prstDash val="solid"/>
          </a:ln>
        </p:spPr>
        <p:txBody>
          <a:bodyPr/>
          <a:lstStyle/>
          <a:p>
            <a:endParaRPr lang="en-US"/>
          </a:p>
        </p:txBody>
      </p:sp>
      <p:sp>
        <p:nvSpPr>
          <p:cNvPr id="3" name="Shape 1"/>
          <p:cNvSpPr/>
          <p:nvPr/>
        </p:nvSpPr>
        <p:spPr>
          <a:xfrm>
            <a:off x="7863840" y="274320"/>
            <a:ext cx="256032" cy="256032"/>
          </a:xfrm>
          <a:prstGeom prst="ellipse">
            <a:avLst/>
          </a:prstGeom>
          <a:solidFill>
            <a:srgbClr val="C8A84B">
              <a:alpha val="45000"/>
            </a:srgbClr>
          </a:solidFill>
          <a:ln w="12700">
            <a:solidFill>
              <a:srgbClr val="C8A84B">
                <a:alpha val="45000"/>
              </a:srgbClr>
            </a:solidFill>
            <a:prstDash val="solid"/>
          </a:ln>
        </p:spPr>
        <p:txBody>
          <a:bodyPr/>
          <a:lstStyle/>
          <a:p>
            <a:endParaRPr lang="en-US"/>
          </a:p>
        </p:txBody>
      </p:sp>
      <p:sp>
        <p:nvSpPr>
          <p:cNvPr id="4" name="Shape 2"/>
          <p:cNvSpPr/>
          <p:nvPr/>
        </p:nvSpPr>
        <p:spPr>
          <a:xfrm>
            <a:off x="8275320" y="274320"/>
            <a:ext cx="256032" cy="256032"/>
          </a:xfrm>
          <a:prstGeom prst="ellipse">
            <a:avLst/>
          </a:prstGeom>
          <a:solidFill>
            <a:srgbClr val="C8A84B">
              <a:alpha val="45000"/>
            </a:srgbClr>
          </a:solidFill>
          <a:ln w="12700">
            <a:solidFill>
              <a:srgbClr val="C8A84B">
                <a:alpha val="45000"/>
              </a:srgbClr>
            </a:solidFill>
            <a:prstDash val="solid"/>
          </a:ln>
        </p:spPr>
        <p:txBody>
          <a:bodyPr/>
          <a:lstStyle/>
          <a:p>
            <a:endParaRPr lang="en-US"/>
          </a:p>
        </p:txBody>
      </p:sp>
      <p:sp>
        <p:nvSpPr>
          <p:cNvPr id="5" name="Shape 3"/>
          <p:cNvSpPr/>
          <p:nvPr/>
        </p:nvSpPr>
        <p:spPr>
          <a:xfrm>
            <a:off x="8686800" y="274320"/>
            <a:ext cx="256032" cy="256032"/>
          </a:xfrm>
          <a:prstGeom prst="ellipse">
            <a:avLst/>
          </a:prstGeom>
          <a:solidFill>
            <a:srgbClr val="C8A84B">
              <a:alpha val="45000"/>
            </a:srgbClr>
          </a:solidFill>
          <a:ln w="12700">
            <a:solidFill>
              <a:srgbClr val="C8A84B">
                <a:alpha val="45000"/>
              </a:srgbClr>
            </a:solidFill>
            <a:prstDash val="solid"/>
          </a:ln>
        </p:spPr>
        <p:txBody>
          <a:bodyPr/>
          <a:lstStyle/>
          <a:p>
            <a:endParaRPr lang="en-US"/>
          </a:p>
        </p:txBody>
      </p:sp>
      <p:sp>
        <p:nvSpPr>
          <p:cNvPr id="6" name="Shape 4"/>
          <p:cNvSpPr/>
          <p:nvPr/>
        </p:nvSpPr>
        <p:spPr>
          <a:xfrm>
            <a:off x="8074152" y="658368"/>
            <a:ext cx="256032" cy="256032"/>
          </a:xfrm>
          <a:prstGeom prst="ellipse">
            <a:avLst/>
          </a:prstGeom>
          <a:solidFill>
            <a:srgbClr val="C8A84B">
              <a:alpha val="45000"/>
            </a:srgbClr>
          </a:solidFill>
          <a:ln w="12700">
            <a:solidFill>
              <a:srgbClr val="C8A84B">
                <a:alpha val="45000"/>
              </a:srgbClr>
            </a:solidFill>
            <a:prstDash val="solid"/>
          </a:ln>
        </p:spPr>
        <p:txBody>
          <a:bodyPr/>
          <a:lstStyle/>
          <a:p>
            <a:endParaRPr lang="en-US"/>
          </a:p>
        </p:txBody>
      </p:sp>
      <p:sp>
        <p:nvSpPr>
          <p:cNvPr id="7" name="Shape 5"/>
          <p:cNvSpPr/>
          <p:nvPr/>
        </p:nvSpPr>
        <p:spPr>
          <a:xfrm>
            <a:off x="8485632" y="658368"/>
            <a:ext cx="256032" cy="256032"/>
          </a:xfrm>
          <a:prstGeom prst="ellipse">
            <a:avLst/>
          </a:prstGeom>
          <a:solidFill>
            <a:srgbClr val="C8A84B">
              <a:alpha val="45000"/>
            </a:srgbClr>
          </a:solidFill>
          <a:ln w="12700">
            <a:solidFill>
              <a:srgbClr val="C8A84B">
                <a:alpha val="45000"/>
              </a:srgbClr>
            </a:solidFill>
            <a:prstDash val="solid"/>
          </a:ln>
        </p:spPr>
        <p:txBody>
          <a:bodyPr/>
          <a:lstStyle/>
          <a:p>
            <a:endParaRPr lang="en-US"/>
          </a:p>
        </p:txBody>
      </p:sp>
      <p:sp>
        <p:nvSpPr>
          <p:cNvPr id="8" name="Text 6"/>
          <p:cNvSpPr/>
          <p:nvPr/>
        </p:nvSpPr>
        <p:spPr>
          <a:xfrm>
            <a:off x="457200" y="1005840"/>
            <a:ext cx="8229600" cy="457200"/>
          </a:xfrm>
          <a:prstGeom prst="rect">
            <a:avLst/>
          </a:prstGeom>
          <a:noFill/>
          <a:ln/>
        </p:spPr>
        <p:txBody>
          <a:bodyPr wrap="square" rtlCol="0" anchor="ctr"/>
          <a:lstStyle/>
          <a:p>
            <a:pPr marL="0" indent="0" algn="l">
              <a:buNone/>
            </a:pPr>
            <a:r>
              <a:rPr lang="en-US" sz="1300" b="1" kern="0" spc="400" dirty="0">
                <a:solidFill>
                  <a:srgbClr val="C8A84B"/>
                </a:solidFill>
                <a:latin typeface="Calibri" pitchFamily="34" charset="0"/>
                <a:ea typeface="Calibri" pitchFamily="34" charset="-122"/>
                <a:cs typeface="Calibri" pitchFamily="34" charset="-120"/>
              </a:rPr>
              <a:t>CHAPTER 9 — EU POLITICS</a:t>
            </a:r>
            <a:endParaRPr lang="en-US" sz="1300" dirty="0"/>
          </a:p>
        </p:txBody>
      </p:sp>
      <p:sp>
        <p:nvSpPr>
          <p:cNvPr id="9" name="Text 7"/>
          <p:cNvSpPr/>
          <p:nvPr/>
        </p:nvSpPr>
        <p:spPr>
          <a:xfrm>
            <a:off x="457200" y="1554480"/>
            <a:ext cx="8229600" cy="2011680"/>
          </a:xfrm>
          <a:prstGeom prst="rect">
            <a:avLst/>
          </a:prstGeom>
          <a:noFill/>
          <a:ln/>
        </p:spPr>
        <p:txBody>
          <a:bodyPr wrap="square"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The European Council,</a:t>
            </a:r>
            <a:endParaRPr lang="en-US" sz="3800" dirty="0"/>
          </a:p>
          <a:p>
            <a:pPr marL="0" indent="0" algn="l">
              <a:buNone/>
            </a:pPr>
            <a:r>
              <a:rPr lang="en-US" sz="3800" b="1" dirty="0">
                <a:solidFill>
                  <a:srgbClr val="FFFFFF"/>
                </a:solidFill>
                <a:latin typeface="Georgia" pitchFamily="34" charset="0"/>
                <a:ea typeface="Georgia" pitchFamily="34" charset="-122"/>
                <a:cs typeface="Georgia" pitchFamily="34" charset="-120"/>
              </a:rPr>
              <a:t>ECB &amp; Other Institutions</a:t>
            </a:r>
            <a:endParaRPr lang="en-US" sz="3800" dirty="0"/>
          </a:p>
        </p:txBody>
      </p:sp>
      <p:sp>
        <p:nvSpPr>
          <p:cNvPr id="10" name="Text 8"/>
          <p:cNvSpPr/>
          <p:nvPr/>
        </p:nvSpPr>
        <p:spPr>
          <a:xfrm>
            <a:off x="457200" y="4114800"/>
            <a:ext cx="8229600" cy="457200"/>
          </a:xfrm>
          <a:prstGeom prst="rect">
            <a:avLst/>
          </a:prstGeom>
          <a:noFill/>
          <a:ln/>
        </p:spPr>
        <p:txBody>
          <a:bodyPr wrap="square" rtlCol="0" anchor="ctr"/>
          <a:lstStyle/>
          <a:p>
            <a:pPr marL="0" indent="0" algn="l">
              <a:buNone/>
            </a:pPr>
            <a:r>
              <a:rPr lang="en-US" sz="1300" dirty="0">
                <a:solidFill>
                  <a:schemeClr val="bg2"/>
                </a:solidFill>
              </a:rPr>
              <a:t>By Jacob Peterson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45720"/>
            <a:ext cx="8412480" cy="50292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SECTIONS OF READING</a:t>
            </a:r>
            <a:endParaRPr lang="en-US" sz="2200" dirty="0"/>
          </a:p>
        </p:txBody>
      </p:sp>
      <p:sp>
        <p:nvSpPr>
          <p:cNvPr id="4" name="Text 2"/>
          <p:cNvSpPr/>
          <p:nvPr/>
        </p:nvSpPr>
        <p:spPr>
          <a:xfrm>
            <a:off x="365760" y="566928"/>
            <a:ext cx="8412480" cy="320040"/>
          </a:xfrm>
          <a:prstGeom prst="rect">
            <a:avLst/>
          </a:prstGeom>
          <a:noFill/>
          <a:ln/>
        </p:spPr>
        <p:txBody>
          <a:bodyPr wrap="square" rtlCol="0" anchor="ctr"/>
          <a:lstStyle/>
          <a:p>
            <a:pPr marL="0" indent="0" algn="l">
              <a:buNone/>
            </a:pPr>
            <a:r>
              <a:rPr lang="en-US" sz="1200" dirty="0">
                <a:solidFill>
                  <a:srgbClr val="CADCFC"/>
                </a:solidFill>
                <a:latin typeface="Calibri" pitchFamily="34" charset="0"/>
                <a:ea typeface="Calibri" pitchFamily="34" charset="-122"/>
                <a:cs typeface="Calibri" pitchFamily="34" charset="-120"/>
              </a:rPr>
              <a:t>3 Core Topics</a:t>
            </a:r>
            <a:endParaRPr lang="en-US" sz="1200" dirty="0"/>
          </a:p>
        </p:txBody>
      </p:sp>
      <p:sp>
        <p:nvSpPr>
          <p:cNvPr id="5" name="Text 3"/>
          <p:cNvSpPr/>
          <p:nvPr/>
        </p:nvSpPr>
        <p:spPr>
          <a:xfrm>
            <a:off x="365760" y="1051560"/>
            <a:ext cx="8412480" cy="594360"/>
          </a:xfrm>
          <a:prstGeom prst="rect">
            <a:avLst/>
          </a:prstGeom>
          <a:noFill/>
          <a:ln/>
        </p:spPr>
        <p:txBody>
          <a:bodyPr wrap="square" rtlCol="0" anchor="ctr"/>
          <a:lstStyle/>
          <a:p>
            <a:pPr marL="0" indent="0">
              <a:buNone/>
            </a:pPr>
            <a:r>
              <a:rPr lang="en-US" sz="1300" i="1" dirty="0">
                <a:solidFill>
                  <a:srgbClr val="1A2040"/>
                </a:solidFill>
                <a:latin typeface="Calibri" pitchFamily="34" charset="0"/>
                <a:ea typeface="Calibri" pitchFamily="34" charset="-122"/>
                <a:cs typeface="Calibri" pitchFamily="34" charset="-120"/>
              </a:rPr>
              <a:t>This chapter covers how the EU is led at the highest level and the specialized bodies that handle specific areas of governance. Think of it as the EU's management structure.</a:t>
            </a:r>
            <a:endParaRPr lang="en-US" sz="1300" dirty="0"/>
          </a:p>
        </p:txBody>
      </p:sp>
      <p:sp>
        <p:nvSpPr>
          <p:cNvPr id="6" name="Shape 4"/>
          <p:cNvSpPr/>
          <p:nvPr/>
        </p:nvSpPr>
        <p:spPr>
          <a:xfrm>
            <a:off x="274320" y="1783080"/>
            <a:ext cx="8595360" cy="914400"/>
          </a:xfrm>
          <a:prstGeom prst="rect">
            <a:avLst/>
          </a:prstGeom>
          <a:solidFill>
            <a:srgbClr val="FFFFFF"/>
          </a:solidFill>
          <a:ln w="12700">
            <a:solidFill>
              <a:srgbClr val="D0D8E8"/>
            </a:solidFill>
            <a:prstDash val="solid"/>
          </a:ln>
          <a:effectLst>
            <a:outerShdw blurRad="50800" dist="25400" dir="8100000" algn="bl" rotWithShape="0">
              <a:srgbClr val="000000">
                <a:alpha val="7000"/>
              </a:srgbClr>
            </a:outerShdw>
          </a:effectLst>
        </p:spPr>
        <p:txBody>
          <a:bodyPr/>
          <a:lstStyle/>
          <a:p>
            <a:endParaRPr lang="en-US"/>
          </a:p>
        </p:txBody>
      </p:sp>
      <p:sp>
        <p:nvSpPr>
          <p:cNvPr id="7" name="Shape 5"/>
          <p:cNvSpPr/>
          <p:nvPr/>
        </p:nvSpPr>
        <p:spPr>
          <a:xfrm>
            <a:off x="274320" y="1783080"/>
            <a:ext cx="502920" cy="914400"/>
          </a:xfrm>
          <a:prstGeom prst="rect">
            <a:avLst/>
          </a:prstGeom>
          <a:solidFill>
            <a:srgbClr val="1A2B5E"/>
          </a:solidFill>
          <a:ln w="12700">
            <a:solidFill>
              <a:srgbClr val="1A2B5E"/>
            </a:solidFill>
            <a:prstDash val="solid"/>
          </a:ln>
        </p:spPr>
        <p:txBody>
          <a:bodyPr/>
          <a:lstStyle/>
          <a:p>
            <a:endParaRPr lang="en-US"/>
          </a:p>
        </p:txBody>
      </p:sp>
      <p:sp>
        <p:nvSpPr>
          <p:cNvPr id="8" name="Text 6"/>
          <p:cNvSpPr/>
          <p:nvPr/>
        </p:nvSpPr>
        <p:spPr>
          <a:xfrm>
            <a:off x="274320" y="2011680"/>
            <a:ext cx="50292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9" name="Text 7"/>
          <p:cNvSpPr/>
          <p:nvPr/>
        </p:nvSpPr>
        <p:spPr>
          <a:xfrm>
            <a:off x="914400" y="1856232"/>
            <a:ext cx="7772400" cy="347472"/>
          </a:xfrm>
          <a:prstGeom prst="rect">
            <a:avLst/>
          </a:prstGeom>
          <a:noFill/>
          <a:ln/>
        </p:spPr>
        <p:txBody>
          <a:bodyPr wrap="square"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The European Council</a:t>
            </a:r>
            <a:endParaRPr lang="en-US" sz="1400" dirty="0"/>
          </a:p>
        </p:txBody>
      </p:sp>
      <p:sp>
        <p:nvSpPr>
          <p:cNvPr id="10" name="Text 8"/>
          <p:cNvSpPr/>
          <p:nvPr/>
        </p:nvSpPr>
        <p:spPr>
          <a:xfrm>
            <a:off x="914400" y="2221992"/>
            <a:ext cx="7772400" cy="402336"/>
          </a:xfrm>
          <a:prstGeom prst="rect">
            <a:avLst/>
          </a:prstGeom>
          <a:noFill/>
          <a:ln/>
        </p:spPr>
        <p:txBody>
          <a:bodyPr wrap="square" rtlCol="0" anchor="ctr"/>
          <a:lstStyle/>
          <a:p>
            <a:pPr marL="0" indent="0">
              <a:buNone/>
            </a:pPr>
            <a:r>
              <a:rPr lang="en-US" sz="1150" dirty="0">
                <a:solidFill>
                  <a:srgbClr val="1A2040"/>
                </a:solidFill>
                <a:latin typeface="Calibri" pitchFamily="34" charset="0"/>
                <a:ea typeface="Calibri" pitchFamily="34" charset="-122"/>
                <a:cs typeface="Calibri" pitchFamily="34" charset="-120"/>
              </a:rPr>
              <a:t>The summit of EU national leaders. Sets the broad direction of the entire Union — like a board of directors. Created 1974, formalized by Lisbon 2009.</a:t>
            </a:r>
            <a:endParaRPr lang="en-US" sz="1150" dirty="0"/>
          </a:p>
        </p:txBody>
      </p:sp>
      <p:sp>
        <p:nvSpPr>
          <p:cNvPr id="11" name="Shape 9"/>
          <p:cNvSpPr/>
          <p:nvPr/>
        </p:nvSpPr>
        <p:spPr>
          <a:xfrm>
            <a:off x="274320" y="2834640"/>
            <a:ext cx="8595360" cy="914400"/>
          </a:xfrm>
          <a:prstGeom prst="rect">
            <a:avLst/>
          </a:prstGeom>
          <a:solidFill>
            <a:srgbClr val="FFFFFF"/>
          </a:solidFill>
          <a:ln w="12700">
            <a:solidFill>
              <a:srgbClr val="D0D8E8"/>
            </a:solidFill>
            <a:prstDash val="solid"/>
          </a:ln>
          <a:effectLst>
            <a:outerShdw blurRad="50800" dist="25400" dir="8100000" algn="bl" rotWithShape="0">
              <a:srgbClr val="000000">
                <a:alpha val="7000"/>
              </a:srgbClr>
            </a:outerShdw>
          </a:effectLst>
        </p:spPr>
        <p:txBody>
          <a:bodyPr/>
          <a:lstStyle/>
          <a:p>
            <a:endParaRPr lang="en-US"/>
          </a:p>
        </p:txBody>
      </p:sp>
      <p:sp>
        <p:nvSpPr>
          <p:cNvPr id="12" name="Shape 10"/>
          <p:cNvSpPr/>
          <p:nvPr/>
        </p:nvSpPr>
        <p:spPr>
          <a:xfrm>
            <a:off x="274320" y="2834640"/>
            <a:ext cx="502920" cy="914400"/>
          </a:xfrm>
          <a:prstGeom prst="rect">
            <a:avLst/>
          </a:prstGeom>
          <a:solidFill>
            <a:srgbClr val="C8A84B"/>
          </a:solidFill>
          <a:ln w="12700">
            <a:solidFill>
              <a:srgbClr val="C8A84B"/>
            </a:solidFill>
            <a:prstDash val="solid"/>
          </a:ln>
        </p:spPr>
        <p:txBody>
          <a:bodyPr/>
          <a:lstStyle/>
          <a:p>
            <a:endParaRPr lang="en-US"/>
          </a:p>
        </p:txBody>
      </p:sp>
      <p:sp>
        <p:nvSpPr>
          <p:cNvPr id="13" name="Text 11"/>
          <p:cNvSpPr/>
          <p:nvPr/>
        </p:nvSpPr>
        <p:spPr>
          <a:xfrm>
            <a:off x="274320" y="3063240"/>
            <a:ext cx="50292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4" name="Text 12"/>
          <p:cNvSpPr/>
          <p:nvPr/>
        </p:nvSpPr>
        <p:spPr>
          <a:xfrm>
            <a:off x="914400" y="2907792"/>
            <a:ext cx="7772400" cy="347472"/>
          </a:xfrm>
          <a:prstGeom prst="rect">
            <a:avLst/>
          </a:prstGeom>
          <a:noFill/>
          <a:ln/>
        </p:spPr>
        <p:txBody>
          <a:bodyPr wrap="square"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The European Central Bank</a:t>
            </a:r>
            <a:endParaRPr lang="en-US" sz="1400" dirty="0"/>
          </a:p>
        </p:txBody>
      </p:sp>
      <p:sp>
        <p:nvSpPr>
          <p:cNvPr id="15" name="Text 13"/>
          <p:cNvSpPr/>
          <p:nvPr/>
        </p:nvSpPr>
        <p:spPr>
          <a:xfrm>
            <a:off x="914400" y="3273552"/>
            <a:ext cx="7772400" cy="402336"/>
          </a:xfrm>
          <a:prstGeom prst="rect">
            <a:avLst/>
          </a:prstGeom>
          <a:noFill/>
          <a:ln/>
        </p:spPr>
        <p:txBody>
          <a:bodyPr wrap="square" rtlCol="0" anchor="ctr"/>
          <a:lstStyle/>
          <a:p>
            <a:pPr marL="0" indent="0">
              <a:buNone/>
            </a:pPr>
            <a:r>
              <a:rPr lang="en-US" sz="1150" dirty="0">
                <a:solidFill>
                  <a:srgbClr val="1A2040"/>
                </a:solidFill>
                <a:latin typeface="Calibri" pitchFamily="34" charset="0"/>
                <a:ea typeface="Calibri" pitchFamily="34" charset="-122"/>
                <a:cs typeface="Calibri" pitchFamily="34" charset="-120"/>
              </a:rPr>
              <a:t>Manages the euro and monetary policy for 337 million people. Has grown dramatically since the 2008–2015 eurozone debt crisis.</a:t>
            </a:r>
            <a:endParaRPr lang="en-US" sz="1150" dirty="0"/>
          </a:p>
        </p:txBody>
      </p:sp>
      <p:sp>
        <p:nvSpPr>
          <p:cNvPr id="16" name="Shape 14"/>
          <p:cNvSpPr/>
          <p:nvPr/>
        </p:nvSpPr>
        <p:spPr>
          <a:xfrm>
            <a:off x="274320" y="3886200"/>
            <a:ext cx="8595360" cy="914400"/>
          </a:xfrm>
          <a:prstGeom prst="rect">
            <a:avLst/>
          </a:prstGeom>
          <a:solidFill>
            <a:srgbClr val="FFFFFF"/>
          </a:solidFill>
          <a:ln w="12700">
            <a:solidFill>
              <a:srgbClr val="D0D8E8"/>
            </a:solidFill>
            <a:prstDash val="solid"/>
          </a:ln>
          <a:effectLst>
            <a:outerShdw blurRad="50800" dist="25400" dir="8100000" algn="bl" rotWithShape="0">
              <a:srgbClr val="000000">
                <a:alpha val="7000"/>
              </a:srgbClr>
            </a:outerShdw>
          </a:effectLst>
        </p:spPr>
        <p:txBody>
          <a:bodyPr/>
          <a:lstStyle/>
          <a:p>
            <a:endParaRPr lang="en-US"/>
          </a:p>
        </p:txBody>
      </p:sp>
      <p:sp>
        <p:nvSpPr>
          <p:cNvPr id="17" name="Shape 15"/>
          <p:cNvSpPr/>
          <p:nvPr/>
        </p:nvSpPr>
        <p:spPr>
          <a:xfrm>
            <a:off x="274320" y="3886200"/>
            <a:ext cx="502920" cy="914400"/>
          </a:xfrm>
          <a:prstGeom prst="rect">
            <a:avLst/>
          </a:prstGeom>
          <a:solidFill>
            <a:srgbClr val="2E4080"/>
          </a:solidFill>
          <a:ln w="12700">
            <a:solidFill>
              <a:srgbClr val="2E4080"/>
            </a:solidFill>
            <a:prstDash val="solid"/>
          </a:ln>
        </p:spPr>
        <p:txBody>
          <a:bodyPr/>
          <a:lstStyle/>
          <a:p>
            <a:endParaRPr lang="en-US"/>
          </a:p>
        </p:txBody>
      </p:sp>
      <p:sp>
        <p:nvSpPr>
          <p:cNvPr id="18" name="Text 16"/>
          <p:cNvSpPr/>
          <p:nvPr/>
        </p:nvSpPr>
        <p:spPr>
          <a:xfrm>
            <a:off x="274320" y="4114800"/>
            <a:ext cx="50292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9" name="Text 17"/>
          <p:cNvSpPr/>
          <p:nvPr/>
        </p:nvSpPr>
        <p:spPr>
          <a:xfrm>
            <a:off x="914400" y="3959352"/>
            <a:ext cx="7772400" cy="347472"/>
          </a:xfrm>
          <a:prstGeom prst="rect">
            <a:avLst/>
          </a:prstGeom>
          <a:noFill/>
          <a:ln/>
        </p:spPr>
        <p:txBody>
          <a:bodyPr wrap="square"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Other Specialized Agencies</a:t>
            </a:r>
            <a:endParaRPr lang="en-US" sz="1400" dirty="0"/>
          </a:p>
        </p:txBody>
      </p:sp>
      <p:sp>
        <p:nvSpPr>
          <p:cNvPr id="20" name="Text 18"/>
          <p:cNvSpPr/>
          <p:nvPr/>
        </p:nvSpPr>
        <p:spPr>
          <a:xfrm>
            <a:off x="914400" y="4325112"/>
            <a:ext cx="7772400" cy="402336"/>
          </a:xfrm>
          <a:prstGeom prst="rect">
            <a:avLst/>
          </a:prstGeom>
          <a:noFill/>
          <a:ln/>
        </p:spPr>
        <p:txBody>
          <a:bodyPr wrap="square" rtlCol="0" anchor="ctr"/>
          <a:lstStyle/>
          <a:p>
            <a:pPr marL="0" indent="0">
              <a:buNone/>
            </a:pPr>
            <a:r>
              <a:rPr lang="en-US" sz="1150" dirty="0">
                <a:solidFill>
                  <a:srgbClr val="1A2040"/>
                </a:solidFill>
                <a:latin typeface="Calibri" pitchFamily="34" charset="0"/>
                <a:ea typeface="Calibri" pitchFamily="34" charset="-122"/>
                <a:cs typeface="Calibri" pitchFamily="34" charset="-120"/>
              </a:rPr>
              <a:t>A growing family: Europol (crime intelligence), EIB (investment), ECA (auditing), EESC and CoR (advisory bodies). The EU increasingly governs like a federal state.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164592"/>
            <a:ext cx="8412480" cy="685800"/>
          </a:xfrm>
          <a:prstGeom prst="rect">
            <a:avLst/>
          </a:prstGeom>
          <a:noFill/>
          <a:ln/>
        </p:spPr>
        <p:txBody>
          <a:bodyPr wrap="square"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EUROPEAN COUNCIL — WHAT IT IS &amp; WHY IT EXISTS</a:t>
            </a:r>
            <a:endParaRPr lang="en-US" sz="2600" dirty="0"/>
          </a:p>
        </p:txBody>
      </p:sp>
      <p:sp>
        <p:nvSpPr>
          <p:cNvPr id="4" name="Shape 2"/>
          <p:cNvSpPr/>
          <p:nvPr/>
        </p:nvSpPr>
        <p:spPr>
          <a:xfrm>
            <a:off x="274320" y="1051560"/>
            <a:ext cx="4206240" cy="36576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274320" y="1051560"/>
            <a:ext cx="4206240" cy="347472"/>
          </a:xfrm>
          <a:prstGeom prst="rect">
            <a:avLst/>
          </a:prstGeom>
          <a:solidFill>
            <a:srgbClr val="C8A84B"/>
          </a:solidFill>
          <a:ln w="12700">
            <a:solidFill>
              <a:srgbClr val="C8A84B"/>
            </a:solidFill>
            <a:prstDash val="solid"/>
          </a:ln>
        </p:spPr>
        <p:txBody>
          <a:bodyPr/>
          <a:lstStyle/>
          <a:p>
            <a:endParaRPr lang="en-US"/>
          </a:p>
        </p:txBody>
      </p:sp>
      <p:sp>
        <p:nvSpPr>
          <p:cNvPr id="6" name="Text 4"/>
          <p:cNvSpPr/>
          <p:nvPr/>
        </p:nvSpPr>
        <p:spPr>
          <a:xfrm>
            <a:off x="365760" y="1078992"/>
            <a:ext cx="4023360" cy="301752"/>
          </a:xfrm>
          <a:prstGeom prst="rect">
            <a:avLst/>
          </a:prstGeom>
          <a:noFill/>
          <a:ln/>
        </p:spPr>
        <p:txBody>
          <a:bodyPr wrap="square" rtlCol="0" anchor="ctr"/>
          <a:lstStyle/>
          <a:p>
            <a:pPr marL="0" indent="0" algn="l">
              <a:buNone/>
            </a:pPr>
            <a:r>
              <a:rPr lang="en-US" sz="1200" b="1" dirty="0">
                <a:solidFill>
                  <a:srgbClr val="1A2B5E"/>
                </a:solidFill>
                <a:latin typeface="Calibri" pitchFamily="34" charset="0"/>
                <a:ea typeface="Calibri" pitchFamily="34" charset="-122"/>
                <a:cs typeface="Calibri" pitchFamily="34" charset="-120"/>
              </a:rPr>
              <a:t>What It Is</a:t>
            </a:r>
            <a:endParaRPr lang="en-US" sz="1200" dirty="0"/>
          </a:p>
        </p:txBody>
      </p:sp>
      <p:sp>
        <p:nvSpPr>
          <p:cNvPr id="7" name="Text 5"/>
          <p:cNvSpPr/>
          <p:nvPr/>
        </p:nvSpPr>
        <p:spPr>
          <a:xfrm>
            <a:off x="384048" y="1453896"/>
            <a:ext cx="3986784" cy="31821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The European Council is the meeting of EU heads of government (prime ministers, chancellors) plus the presidents of France and Cyprus. They meet 4× per year in Brussels for 2-day summits. It acts as the EU's board of directors — setting strategy and direction, NOT passing laws.</a:t>
            </a:r>
            <a:endParaRPr lang="en-US" sz="1200" dirty="0"/>
          </a:p>
          <a:p>
            <a:pPr marL="0" indent="0">
              <a:buNone/>
            </a:pP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Key feature: It has NO secretariat and is the ONLY EU body without a large permanent staff.</a:t>
            </a:r>
            <a:endParaRPr lang="en-US" sz="1200" dirty="0"/>
          </a:p>
        </p:txBody>
      </p:sp>
      <p:sp>
        <p:nvSpPr>
          <p:cNvPr id="8" name="Shape 6"/>
          <p:cNvSpPr/>
          <p:nvPr/>
        </p:nvSpPr>
        <p:spPr>
          <a:xfrm>
            <a:off x="4663440" y="1051560"/>
            <a:ext cx="4206240" cy="36576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4663440" y="1051560"/>
            <a:ext cx="4206240" cy="347472"/>
          </a:xfrm>
          <a:prstGeom prst="rect">
            <a:avLst/>
          </a:prstGeom>
          <a:solidFill>
            <a:srgbClr val="1A2B5E"/>
          </a:solidFill>
          <a:ln w="12700">
            <a:solidFill>
              <a:srgbClr val="1A2B5E"/>
            </a:solidFill>
            <a:prstDash val="solid"/>
          </a:ln>
        </p:spPr>
        <p:txBody>
          <a:bodyPr/>
          <a:lstStyle/>
          <a:p>
            <a:endParaRPr lang="en-US"/>
          </a:p>
        </p:txBody>
      </p:sp>
      <p:sp>
        <p:nvSpPr>
          <p:cNvPr id="10" name="Text 8"/>
          <p:cNvSpPr/>
          <p:nvPr/>
        </p:nvSpPr>
        <p:spPr>
          <a:xfrm>
            <a:off x="4754880" y="1078992"/>
            <a:ext cx="402336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Why It Was Created</a:t>
            </a:r>
            <a:endParaRPr lang="en-US" sz="1200" dirty="0"/>
          </a:p>
        </p:txBody>
      </p:sp>
      <p:sp>
        <p:nvSpPr>
          <p:cNvPr id="11" name="Text 9"/>
          <p:cNvSpPr/>
          <p:nvPr/>
        </p:nvSpPr>
        <p:spPr>
          <a:xfrm>
            <a:off x="4773168" y="1453896"/>
            <a:ext cx="3986784" cy="31821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By the early 1970s, the EC had NO real leadership — decisions were getting blocked, the 1973 energy crisis exposed Europe as a 'nonentity' (French FM Michel Jobert). Jean Monnet called for a 'supreme body to steer Europe.'</a:t>
            </a:r>
            <a:endParaRPr lang="en-US" sz="1200" dirty="0"/>
          </a:p>
          <a:p>
            <a:pPr marL="0" indent="0">
              <a:buNone/>
            </a:pP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In December 1974, leaders in Paris decided to formalize regular summits. Giscard d'Estaing named it the 'European Council' at the closing press conference. First meeting: Dublin, March 1975.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45720"/>
            <a:ext cx="8412480" cy="50292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THE EUROPEAN COUNCIL — STRUCTURE &amp; HOW IT WORKS</a:t>
            </a:r>
            <a:endParaRPr lang="en-US" sz="2200" dirty="0"/>
          </a:p>
        </p:txBody>
      </p:sp>
      <p:sp>
        <p:nvSpPr>
          <p:cNvPr id="4" name="Text 2"/>
          <p:cNvSpPr/>
          <p:nvPr/>
        </p:nvSpPr>
        <p:spPr>
          <a:xfrm>
            <a:off x="365760" y="566928"/>
            <a:ext cx="8412480" cy="320040"/>
          </a:xfrm>
          <a:prstGeom prst="rect">
            <a:avLst/>
          </a:prstGeom>
          <a:noFill/>
          <a:ln/>
        </p:spPr>
        <p:txBody>
          <a:bodyPr wrap="square" rtlCol="0" anchor="ctr"/>
          <a:lstStyle/>
          <a:p>
            <a:pPr marL="0" indent="0" algn="l">
              <a:buNone/>
            </a:pPr>
            <a:r>
              <a:rPr lang="en-US" sz="1200" dirty="0">
                <a:solidFill>
                  <a:srgbClr val="CADCFC"/>
                </a:solidFill>
                <a:latin typeface="Calibri" pitchFamily="34" charset="0"/>
                <a:ea typeface="Calibri" pitchFamily="34" charset="-122"/>
                <a:cs typeface="Calibri" pitchFamily="34" charset="-120"/>
              </a:rPr>
              <a:t>The mechanics of EU's highest-level summits</a:t>
            </a:r>
            <a:endParaRPr lang="en-US" sz="1200" dirty="0"/>
          </a:p>
        </p:txBody>
      </p:sp>
      <p:sp>
        <p:nvSpPr>
          <p:cNvPr id="5" name="Shape 3"/>
          <p:cNvSpPr/>
          <p:nvPr/>
        </p:nvSpPr>
        <p:spPr>
          <a:xfrm>
            <a:off x="274320" y="1051560"/>
            <a:ext cx="8595360" cy="1097280"/>
          </a:xfrm>
          <a:prstGeom prst="rect">
            <a:avLst/>
          </a:prstGeom>
          <a:solidFill>
            <a:srgbClr val="1A2B5E"/>
          </a:solidFill>
          <a:ln w="12700">
            <a:solidFill>
              <a:srgbClr val="1A2B5E"/>
            </a:solidFill>
            <a:prstDash val="solid"/>
          </a:ln>
          <a:effectLst>
            <a:outerShdw blurRad="63500" dist="25400" dir="8100000" algn="bl" rotWithShape="0">
              <a:srgbClr val="000000">
                <a:alpha val="10000"/>
              </a:srgbClr>
            </a:outerShdw>
          </a:effectLst>
        </p:spPr>
        <p:txBody>
          <a:bodyPr/>
          <a:lstStyle/>
          <a:p>
            <a:endParaRPr lang="en-US"/>
          </a:p>
        </p:txBody>
      </p:sp>
      <p:sp>
        <p:nvSpPr>
          <p:cNvPr id="6" name="Text 4"/>
          <p:cNvSpPr/>
          <p:nvPr/>
        </p:nvSpPr>
        <p:spPr>
          <a:xfrm>
            <a:off x="457200" y="1097280"/>
            <a:ext cx="1828800" cy="320040"/>
          </a:xfrm>
          <a:prstGeom prst="rect">
            <a:avLst/>
          </a:prstGeom>
          <a:noFill/>
          <a:ln/>
        </p:spPr>
        <p:txBody>
          <a:bodyPr wrap="square" rtlCol="0" anchor="ctr"/>
          <a:lstStyle/>
          <a:p>
            <a:pPr marL="0" indent="0">
              <a:buNone/>
            </a:pPr>
            <a:r>
              <a:rPr lang="en-US" sz="1200" b="1" dirty="0">
                <a:solidFill>
                  <a:srgbClr val="C8A84B"/>
                </a:solidFill>
                <a:latin typeface="Calibri" pitchFamily="34" charset="0"/>
                <a:ea typeface="Calibri" pitchFamily="34" charset="-122"/>
                <a:cs typeface="Calibri" pitchFamily="34" charset="-120"/>
              </a:rPr>
              <a:t>WHO ATTENDS:</a:t>
            </a:r>
            <a:endParaRPr lang="en-US" sz="1200" dirty="0"/>
          </a:p>
        </p:txBody>
      </p:sp>
      <p:sp>
        <p:nvSpPr>
          <p:cNvPr id="7" name="Text 5"/>
          <p:cNvSpPr/>
          <p:nvPr/>
        </p:nvSpPr>
        <p:spPr>
          <a:xfrm>
            <a:off x="457200" y="1417320"/>
            <a:ext cx="8229600" cy="5943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Heads of government of all member states  •  President of the European Council  •  President of the European Commission  •  High Representative for Foreign Affairs  •  Each country's foreign minister  •  Small retinue of advisers</a:t>
            </a:r>
            <a:endParaRPr lang="en-US" sz="1200" dirty="0"/>
          </a:p>
        </p:txBody>
      </p:sp>
      <p:sp>
        <p:nvSpPr>
          <p:cNvPr id="8" name="Shape 6"/>
          <p:cNvSpPr/>
          <p:nvPr/>
        </p:nvSpPr>
        <p:spPr>
          <a:xfrm>
            <a:off x="274320" y="2286000"/>
            <a:ext cx="2834640" cy="25146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274320" y="2286000"/>
            <a:ext cx="2834640" cy="347472"/>
          </a:xfrm>
          <a:prstGeom prst="rect">
            <a:avLst/>
          </a:prstGeom>
          <a:solidFill>
            <a:srgbClr val="1A2B5E"/>
          </a:solidFill>
          <a:ln w="12700">
            <a:solidFill>
              <a:srgbClr val="1A2B5E"/>
            </a:solidFill>
            <a:prstDash val="solid"/>
          </a:ln>
        </p:spPr>
        <p:txBody>
          <a:bodyPr/>
          <a:lstStyle/>
          <a:p>
            <a:endParaRPr lang="en-US"/>
          </a:p>
        </p:txBody>
      </p:sp>
      <p:sp>
        <p:nvSpPr>
          <p:cNvPr id="10" name="Text 8"/>
          <p:cNvSpPr/>
          <p:nvPr/>
        </p:nvSpPr>
        <p:spPr>
          <a:xfrm>
            <a:off x="365760" y="2313432"/>
            <a:ext cx="265176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FLEXIBILITY</a:t>
            </a:r>
            <a:endParaRPr lang="en-US" sz="1200" dirty="0"/>
          </a:p>
        </p:txBody>
      </p:sp>
      <p:sp>
        <p:nvSpPr>
          <p:cNvPr id="11" name="Text 9"/>
          <p:cNvSpPr/>
          <p:nvPr/>
        </p:nvSpPr>
        <p:spPr>
          <a:xfrm>
            <a:off x="384048" y="2688336"/>
            <a:ext cx="2615184" cy="20391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No fixed rules or large bureaucracy. The Council has a freedom of action enjoyed by no other EU body. Agendas are loose and adaptable.</a:t>
            </a:r>
            <a:endParaRPr lang="en-US" sz="1200" dirty="0"/>
          </a:p>
        </p:txBody>
      </p:sp>
      <p:sp>
        <p:nvSpPr>
          <p:cNvPr id="12" name="Shape 10"/>
          <p:cNvSpPr/>
          <p:nvPr/>
        </p:nvSpPr>
        <p:spPr>
          <a:xfrm>
            <a:off x="3227832" y="2286000"/>
            <a:ext cx="2834640" cy="25146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3227832" y="2286000"/>
            <a:ext cx="2834640" cy="347472"/>
          </a:xfrm>
          <a:prstGeom prst="rect">
            <a:avLst/>
          </a:prstGeom>
          <a:solidFill>
            <a:srgbClr val="C8A84B"/>
          </a:solidFill>
          <a:ln w="12700">
            <a:solidFill>
              <a:srgbClr val="C8A84B"/>
            </a:solidFill>
            <a:prstDash val="solid"/>
          </a:ln>
        </p:spPr>
        <p:txBody>
          <a:bodyPr/>
          <a:lstStyle/>
          <a:p>
            <a:endParaRPr lang="en-US"/>
          </a:p>
        </p:txBody>
      </p:sp>
      <p:sp>
        <p:nvSpPr>
          <p:cNvPr id="14" name="Text 12"/>
          <p:cNvSpPr/>
          <p:nvPr/>
        </p:nvSpPr>
        <p:spPr>
          <a:xfrm>
            <a:off x="3319272" y="2313432"/>
            <a:ext cx="2651760" cy="301752"/>
          </a:xfrm>
          <a:prstGeom prst="rect">
            <a:avLst/>
          </a:prstGeom>
          <a:noFill/>
          <a:ln/>
        </p:spPr>
        <p:txBody>
          <a:bodyPr wrap="square" rtlCol="0" anchor="ctr"/>
          <a:lstStyle/>
          <a:p>
            <a:pPr marL="0" indent="0" algn="l">
              <a:buNone/>
            </a:pPr>
            <a:r>
              <a:rPr lang="en-US" sz="1200" b="1" dirty="0">
                <a:solidFill>
                  <a:srgbClr val="1A2B5E"/>
                </a:solidFill>
                <a:latin typeface="Calibri" pitchFamily="34" charset="0"/>
                <a:ea typeface="Calibri" pitchFamily="34" charset="-122"/>
                <a:cs typeface="Calibri" pitchFamily="34" charset="-120"/>
              </a:rPr>
              <a:t>INFORMALITY</a:t>
            </a:r>
            <a:endParaRPr lang="en-US" sz="1200" dirty="0"/>
          </a:p>
        </p:txBody>
      </p:sp>
      <p:sp>
        <p:nvSpPr>
          <p:cNvPr id="15" name="Text 13"/>
          <p:cNvSpPr/>
          <p:nvPr/>
        </p:nvSpPr>
        <p:spPr>
          <a:xfrm>
            <a:off x="3337560" y="2688336"/>
            <a:ext cx="2615184" cy="20391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Summits rely on advance prep but avoid formal votes. Small meetings. Leaders also meet bilaterally over breakfast/coffee.</a:t>
            </a:r>
            <a:endParaRPr lang="en-US" sz="1200" dirty="0"/>
          </a:p>
        </p:txBody>
      </p:sp>
      <p:sp>
        <p:nvSpPr>
          <p:cNvPr id="16" name="Shape 14"/>
          <p:cNvSpPr/>
          <p:nvPr/>
        </p:nvSpPr>
        <p:spPr>
          <a:xfrm>
            <a:off x="6181344" y="2286000"/>
            <a:ext cx="2834640" cy="25146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5"/>
          <p:cNvSpPr/>
          <p:nvPr/>
        </p:nvSpPr>
        <p:spPr>
          <a:xfrm>
            <a:off x="6181344" y="2286000"/>
            <a:ext cx="2834640" cy="347472"/>
          </a:xfrm>
          <a:prstGeom prst="rect">
            <a:avLst/>
          </a:prstGeom>
          <a:solidFill>
            <a:srgbClr val="1A2B5E"/>
          </a:solidFill>
          <a:ln w="12700">
            <a:solidFill>
              <a:srgbClr val="1A2B5E"/>
            </a:solidFill>
            <a:prstDash val="solid"/>
          </a:ln>
        </p:spPr>
        <p:txBody>
          <a:bodyPr/>
          <a:lstStyle/>
          <a:p>
            <a:endParaRPr lang="en-US"/>
          </a:p>
        </p:txBody>
      </p:sp>
      <p:sp>
        <p:nvSpPr>
          <p:cNvPr id="18" name="Text 16"/>
          <p:cNvSpPr/>
          <p:nvPr/>
        </p:nvSpPr>
        <p:spPr>
          <a:xfrm>
            <a:off x="6272784" y="2313432"/>
            <a:ext cx="265176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DELEGATION</a:t>
            </a:r>
            <a:endParaRPr lang="en-US" sz="1200" dirty="0"/>
          </a:p>
        </p:txBody>
      </p:sp>
      <p:sp>
        <p:nvSpPr>
          <p:cNvPr id="19" name="Text 17"/>
          <p:cNvSpPr/>
          <p:nvPr/>
        </p:nvSpPr>
        <p:spPr>
          <a:xfrm>
            <a:off x="6291072" y="2688336"/>
            <a:ext cx="2615184" cy="20391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The Council stays above routine business. It sets the big picture, then leaves details to the Commission and Council of Ministers.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164592"/>
            <a:ext cx="8412480" cy="685800"/>
          </a:xfrm>
          <a:prstGeom prst="rect">
            <a:avLst/>
          </a:prstGeom>
          <a:noFill/>
          <a:ln/>
        </p:spPr>
        <p:txBody>
          <a:bodyPr wrap="square"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EUROPEAN COUNCIL — THE PRESIDENT &amp; KEY POWERS</a:t>
            </a:r>
            <a:endParaRPr lang="en-US" sz="2600" dirty="0"/>
          </a:p>
        </p:txBody>
      </p:sp>
      <p:sp>
        <p:nvSpPr>
          <p:cNvPr id="4" name="Shape 2"/>
          <p:cNvSpPr/>
          <p:nvPr/>
        </p:nvSpPr>
        <p:spPr>
          <a:xfrm>
            <a:off x="274320" y="1051560"/>
            <a:ext cx="4160520" cy="374904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274320" y="1051560"/>
            <a:ext cx="4160520" cy="347472"/>
          </a:xfrm>
          <a:prstGeom prst="rect">
            <a:avLst/>
          </a:prstGeom>
          <a:solidFill>
            <a:srgbClr val="1A2B5E"/>
          </a:solidFill>
          <a:ln w="12700">
            <a:solidFill>
              <a:srgbClr val="1A2B5E"/>
            </a:solidFill>
            <a:prstDash val="solid"/>
          </a:ln>
        </p:spPr>
        <p:txBody>
          <a:bodyPr/>
          <a:lstStyle/>
          <a:p>
            <a:endParaRPr lang="en-US"/>
          </a:p>
        </p:txBody>
      </p:sp>
      <p:sp>
        <p:nvSpPr>
          <p:cNvPr id="6" name="Text 4"/>
          <p:cNvSpPr/>
          <p:nvPr/>
        </p:nvSpPr>
        <p:spPr>
          <a:xfrm>
            <a:off x="365760" y="1078992"/>
            <a:ext cx="3977640" cy="30175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President (Created by Lisbon 2009)</a:t>
            </a:r>
            <a:endParaRPr lang="en-US" sz="1200" dirty="0"/>
          </a:p>
        </p:txBody>
      </p:sp>
      <p:sp>
        <p:nvSpPr>
          <p:cNvPr id="7" name="Text 5"/>
          <p:cNvSpPr/>
          <p:nvPr/>
        </p:nvSpPr>
        <p:spPr>
          <a:xfrm>
            <a:off x="411480" y="1463040"/>
            <a:ext cx="3840480" cy="3200400"/>
          </a:xfrm>
          <a:prstGeom prst="rect">
            <a:avLst/>
          </a:prstGeom>
          <a:noFill/>
          <a:ln/>
        </p:spPr>
        <p:txBody>
          <a:bodyPr wrap="square" rtlCol="0" anchor="t"/>
          <a:lstStyle/>
          <a:p>
            <a:pPr marL="0" indent="0">
              <a:buNone/>
            </a:pPr>
            <a:r>
              <a:rPr lang="en-US" sz="1250" b="1" dirty="0">
                <a:solidFill>
                  <a:srgbClr val="1A2040"/>
                </a:solidFill>
                <a:latin typeface="Calibri" pitchFamily="34" charset="0"/>
                <a:ea typeface="Calibri" pitchFamily="34" charset="-122"/>
                <a:cs typeface="Calibri" pitchFamily="34" charset="-120"/>
              </a:rPr>
              <a:t>Elected by: </a:t>
            </a:r>
            <a:r>
              <a:rPr lang="en-US" sz="1250" dirty="0">
                <a:solidFill>
                  <a:srgbClr val="1A2040"/>
                </a:solidFill>
                <a:latin typeface="Calibri" pitchFamily="34" charset="0"/>
                <a:ea typeface="Calibri" pitchFamily="34" charset="-122"/>
                <a:cs typeface="Calibri" pitchFamily="34" charset="-120"/>
              </a:rPr>
              <a:t>Qualified majority vote
</a:t>
            </a:r>
            <a:endParaRPr lang="en-US" sz="1250" dirty="0"/>
          </a:p>
          <a:p>
            <a:pPr marL="0" indent="0">
              <a:buNone/>
            </a:pPr>
            <a:r>
              <a:rPr lang="en-US" sz="1250" b="1" dirty="0">
                <a:solidFill>
                  <a:srgbClr val="1A2040"/>
                </a:solidFill>
                <a:latin typeface="Calibri" pitchFamily="34" charset="0"/>
                <a:ea typeface="Calibri" pitchFamily="34" charset="-122"/>
                <a:cs typeface="Calibri" pitchFamily="34" charset="-120"/>
              </a:rPr>
              <a:t>Term: </a:t>
            </a:r>
            <a:r>
              <a:rPr lang="en-US" sz="1250" dirty="0">
                <a:solidFill>
                  <a:srgbClr val="1A2040"/>
                </a:solidFill>
                <a:latin typeface="Calibri" pitchFamily="34" charset="0"/>
                <a:ea typeface="Calibri" pitchFamily="34" charset="-122"/>
                <a:cs typeface="Calibri" pitchFamily="34" charset="-120"/>
              </a:rPr>
              <a:t>2.5 years, renewable once
</a:t>
            </a:r>
            <a:endParaRPr lang="en-US" sz="1250" dirty="0"/>
          </a:p>
          <a:p>
            <a:pPr marL="0" indent="0">
              <a:buNone/>
            </a:pPr>
            <a:r>
              <a:rPr lang="en-US" sz="1250" b="1" dirty="0">
                <a:solidFill>
                  <a:srgbClr val="1A2040"/>
                </a:solidFill>
                <a:latin typeface="Calibri" pitchFamily="34" charset="0"/>
                <a:ea typeface="Calibri" pitchFamily="34" charset="-122"/>
                <a:cs typeface="Calibri" pitchFamily="34" charset="-120"/>
              </a:rPr>
              <a:t>Cannot: </a:t>
            </a:r>
            <a:r>
              <a:rPr lang="en-US" sz="1250" dirty="0">
                <a:solidFill>
                  <a:srgbClr val="1A2040"/>
                </a:solidFill>
                <a:latin typeface="Calibri" pitchFamily="34" charset="0"/>
                <a:ea typeface="Calibri" pitchFamily="34" charset="-122"/>
                <a:cs typeface="Calibri" pitchFamily="34" charset="-120"/>
              </a:rPr>
              <a:t>Hold a national leadership role
</a:t>
            </a:r>
            <a:endParaRPr lang="en-US" sz="1250" dirty="0"/>
          </a:p>
          <a:p>
            <a:pPr marL="0" indent="0">
              <a:buNone/>
            </a:pPr>
            <a:r>
              <a:rPr lang="en-US" sz="1250" b="1" dirty="0">
                <a:solidFill>
                  <a:srgbClr val="1A2040"/>
                </a:solidFill>
                <a:latin typeface="Calibri" pitchFamily="34" charset="0"/>
                <a:ea typeface="Calibri" pitchFamily="34" charset="-122"/>
                <a:cs typeface="Calibri" pitchFamily="34" charset="-120"/>
              </a:rPr>
              <a:t>Duties: </a:t>
            </a:r>
            <a:r>
              <a:rPr lang="en-US" sz="1250" dirty="0">
                <a:solidFill>
                  <a:srgbClr val="1A2040"/>
                </a:solidFill>
                <a:latin typeface="Calibri" pitchFamily="34" charset="0"/>
                <a:ea typeface="Calibri" pitchFamily="34" charset="-122"/>
                <a:cs typeface="Calibri" pitchFamily="34" charset="-120"/>
              </a:rPr>
              <a:t>Chair summits, drive agenda, represent EU externally
</a:t>
            </a:r>
            <a:endParaRPr lang="en-US" sz="1250" dirty="0"/>
          </a:p>
          <a:p>
            <a:pPr marL="0" indent="0">
              <a:buNone/>
            </a:pPr>
            <a:r>
              <a:rPr lang="en-US" sz="1250" b="1" dirty="0">
                <a:solidFill>
                  <a:srgbClr val="1A2040"/>
                </a:solidFill>
                <a:latin typeface="Calibri" pitchFamily="34" charset="0"/>
                <a:ea typeface="Calibri" pitchFamily="34" charset="-122"/>
                <a:cs typeface="Calibri" pitchFamily="34" charset="-120"/>
              </a:rPr>
              <a:t>First president: </a:t>
            </a:r>
            <a:r>
              <a:rPr lang="en-US" sz="1250" dirty="0">
                <a:solidFill>
                  <a:srgbClr val="1A2040"/>
                </a:solidFill>
                <a:latin typeface="Calibri" pitchFamily="34" charset="0"/>
                <a:ea typeface="Calibri" pitchFamily="34" charset="-122"/>
                <a:cs typeface="Calibri" pitchFamily="34" charset="-120"/>
              </a:rPr>
              <a:t>Herman van Rompuy (Belgium) — Nov 2009
</a:t>
            </a:r>
            <a:endParaRPr lang="en-US" sz="1250" dirty="0"/>
          </a:p>
          <a:p>
            <a:pPr marL="0" indent="0">
              <a:buNone/>
            </a:pPr>
            <a:r>
              <a:rPr lang="en-US" sz="1250" b="1" dirty="0">
                <a:solidFill>
                  <a:srgbClr val="1A2040"/>
                </a:solidFill>
                <a:latin typeface="Calibri" pitchFamily="34" charset="0"/>
                <a:ea typeface="Calibri" pitchFamily="34" charset="-122"/>
                <a:cs typeface="Calibri" pitchFamily="34" charset="-120"/>
              </a:rPr>
              <a:t>Succeeded by: </a:t>
            </a:r>
            <a:r>
              <a:rPr lang="en-US" sz="1250" dirty="0">
                <a:solidFill>
                  <a:srgbClr val="1A2040"/>
                </a:solidFill>
                <a:latin typeface="Calibri" pitchFamily="34" charset="0"/>
                <a:ea typeface="Calibri" pitchFamily="34" charset="-122"/>
                <a:cs typeface="Calibri" pitchFamily="34" charset="-120"/>
              </a:rPr>
              <a:t>Donald Tusk (Poland) — 2014</a:t>
            </a:r>
            <a:endParaRPr lang="en-US" sz="1250" dirty="0"/>
          </a:p>
        </p:txBody>
      </p:sp>
      <p:sp>
        <p:nvSpPr>
          <p:cNvPr id="8" name="Shape 6"/>
          <p:cNvSpPr/>
          <p:nvPr/>
        </p:nvSpPr>
        <p:spPr>
          <a:xfrm>
            <a:off x="4663440" y="1051560"/>
            <a:ext cx="4160520" cy="374904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4663440" y="1051560"/>
            <a:ext cx="4160520" cy="347472"/>
          </a:xfrm>
          <a:prstGeom prst="rect">
            <a:avLst/>
          </a:prstGeom>
          <a:solidFill>
            <a:srgbClr val="C8A84B"/>
          </a:solidFill>
          <a:ln w="12700">
            <a:solidFill>
              <a:srgbClr val="C8A84B"/>
            </a:solidFill>
            <a:prstDash val="solid"/>
          </a:ln>
        </p:spPr>
        <p:txBody>
          <a:bodyPr/>
          <a:lstStyle/>
          <a:p>
            <a:endParaRPr lang="en-US"/>
          </a:p>
        </p:txBody>
      </p:sp>
      <p:sp>
        <p:nvSpPr>
          <p:cNvPr id="10" name="Text 8"/>
          <p:cNvSpPr/>
          <p:nvPr/>
        </p:nvSpPr>
        <p:spPr>
          <a:xfrm>
            <a:off x="4754880" y="1078992"/>
            <a:ext cx="3977640" cy="301752"/>
          </a:xfrm>
          <a:prstGeom prst="rect">
            <a:avLst/>
          </a:prstGeom>
          <a:noFill/>
          <a:ln/>
        </p:spPr>
        <p:txBody>
          <a:bodyPr wrap="square"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What the Council Decides</a:t>
            </a:r>
            <a:endParaRPr lang="en-US" sz="1200" dirty="0"/>
          </a:p>
        </p:txBody>
      </p:sp>
      <p:sp>
        <p:nvSpPr>
          <p:cNvPr id="11" name="Text 9"/>
          <p:cNvSpPr/>
          <p:nvPr/>
        </p:nvSpPr>
        <p:spPr>
          <a:xfrm>
            <a:off x="4754880" y="1463040"/>
            <a:ext cx="3931920" cy="3200400"/>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 Overall direction of political integration
• Internal economic matters
• Foreign policy positions
• Budget disputes between institutions
• Treaty revisions
• New member state applications
• Institutional reforms
</a:t>
            </a:r>
            <a:r>
              <a:rPr lang="en-US" sz="1200" b="1" dirty="0">
                <a:solidFill>
                  <a:srgbClr val="1A2040"/>
                </a:solidFill>
                <a:latin typeface="Calibri" pitchFamily="34" charset="0"/>
                <a:ea typeface="Calibri" pitchFamily="34" charset="-122"/>
                <a:cs typeface="Calibri" pitchFamily="34" charset="-120"/>
              </a:rPr>
              <a:t>Franco-German Axis: </a:t>
            </a:r>
            <a:r>
              <a:rPr lang="en-US" sz="1200" dirty="0">
                <a:solidFill>
                  <a:srgbClr val="1A2040"/>
                </a:solidFill>
                <a:latin typeface="Calibri" pitchFamily="34" charset="0"/>
                <a:ea typeface="Calibri" pitchFamily="34" charset="-122"/>
                <a:cs typeface="Calibri" pitchFamily="34" charset="-120"/>
              </a:rPr>
              <a:t>The relationship between France and Germany has always been the engine of European Council decisions. Personal chemistry between leaders (Kohl–Mitterrand, Merkel–Sarkozy) matters enormously.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164592"/>
            <a:ext cx="8412480" cy="685800"/>
          </a:xfrm>
          <a:prstGeom prst="rect">
            <a:avLst/>
          </a:prstGeom>
          <a:noFill/>
          <a:ln/>
        </p:spPr>
        <p:txBody>
          <a:bodyPr wrap="square"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EUROPEAN CENTRAL BANK (ECB) — OVERVIEW &amp; STRUCTURE</a:t>
            </a:r>
            <a:endParaRPr lang="en-US" sz="2600" dirty="0"/>
          </a:p>
        </p:txBody>
      </p:sp>
      <p:sp>
        <p:nvSpPr>
          <p:cNvPr id="4" name="Shape 2"/>
          <p:cNvSpPr/>
          <p:nvPr/>
        </p:nvSpPr>
        <p:spPr>
          <a:xfrm>
            <a:off x="274320" y="1051560"/>
            <a:ext cx="1993392" cy="1143000"/>
          </a:xfrm>
          <a:prstGeom prst="rect">
            <a:avLst/>
          </a:prstGeom>
          <a:solidFill>
            <a:srgbClr val="1A2B5E"/>
          </a:solidFill>
          <a:ln w="12700">
            <a:solidFill>
              <a:srgbClr val="1A2B5E"/>
            </a:solidFill>
            <a:prstDash val="solid"/>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274320" y="1097280"/>
            <a:ext cx="1993392" cy="658368"/>
          </a:xfrm>
          <a:prstGeom prst="rect">
            <a:avLst/>
          </a:prstGeom>
          <a:noFill/>
          <a:ln/>
        </p:spPr>
        <p:txBody>
          <a:bodyPr wrap="square" rtlCol="0" anchor="ctr"/>
          <a:lstStyle/>
          <a:p>
            <a:pPr marL="0" indent="0" algn="ctr">
              <a:buNone/>
            </a:pPr>
            <a:r>
              <a:rPr lang="en-US" sz="3400" b="1" dirty="0">
                <a:solidFill>
                  <a:srgbClr val="C8A84B"/>
                </a:solidFill>
                <a:latin typeface="Georgia" pitchFamily="34" charset="0"/>
                <a:ea typeface="Georgia" pitchFamily="34" charset="-122"/>
                <a:cs typeface="Georgia" pitchFamily="34" charset="-120"/>
              </a:rPr>
              <a:t>1998</a:t>
            </a:r>
            <a:endParaRPr lang="en-US" sz="3400" dirty="0"/>
          </a:p>
        </p:txBody>
      </p:sp>
      <p:sp>
        <p:nvSpPr>
          <p:cNvPr id="6" name="Text 4"/>
          <p:cNvSpPr/>
          <p:nvPr/>
        </p:nvSpPr>
        <p:spPr>
          <a:xfrm>
            <a:off x="274320" y="1737360"/>
            <a:ext cx="1993392" cy="384048"/>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Year ECB established</a:t>
            </a:r>
            <a:endParaRPr lang="en-US" sz="1050" dirty="0"/>
          </a:p>
        </p:txBody>
      </p:sp>
      <p:sp>
        <p:nvSpPr>
          <p:cNvPr id="7" name="Shape 5"/>
          <p:cNvSpPr/>
          <p:nvPr/>
        </p:nvSpPr>
        <p:spPr>
          <a:xfrm>
            <a:off x="2450592" y="1051560"/>
            <a:ext cx="1993392" cy="1143000"/>
          </a:xfrm>
          <a:prstGeom prst="rect">
            <a:avLst/>
          </a:prstGeom>
          <a:solidFill>
            <a:srgbClr val="C8A84B"/>
          </a:solidFill>
          <a:ln w="12700">
            <a:solidFill>
              <a:srgbClr val="C8A84B"/>
            </a:solidFill>
            <a:prstDash val="solid"/>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2450592" y="1097280"/>
            <a:ext cx="1993392" cy="658368"/>
          </a:xfrm>
          <a:prstGeom prst="rect">
            <a:avLst/>
          </a:prstGeom>
          <a:noFill/>
          <a:ln/>
        </p:spPr>
        <p:txBody>
          <a:bodyPr wrap="square" rtlCol="0" anchor="ctr"/>
          <a:lstStyle/>
          <a:p>
            <a:pPr marL="0" indent="0" algn="ctr">
              <a:buNone/>
            </a:pPr>
            <a:r>
              <a:rPr lang="en-US" sz="3400" b="1" dirty="0">
                <a:solidFill>
                  <a:srgbClr val="1A2B5E"/>
                </a:solidFill>
                <a:latin typeface="Georgia" pitchFamily="34" charset="0"/>
                <a:ea typeface="Georgia" pitchFamily="34" charset="-122"/>
                <a:cs typeface="Georgia" pitchFamily="34" charset="-120"/>
              </a:rPr>
              <a:t>337M</a:t>
            </a:r>
            <a:endParaRPr lang="en-US" sz="3400" dirty="0"/>
          </a:p>
        </p:txBody>
      </p:sp>
      <p:sp>
        <p:nvSpPr>
          <p:cNvPr id="9" name="Text 7"/>
          <p:cNvSpPr/>
          <p:nvPr/>
        </p:nvSpPr>
        <p:spPr>
          <a:xfrm>
            <a:off x="2450592" y="1737360"/>
            <a:ext cx="1993392" cy="384048"/>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People using the euro</a:t>
            </a:r>
            <a:endParaRPr lang="en-US" sz="1050" dirty="0"/>
          </a:p>
        </p:txBody>
      </p:sp>
      <p:sp>
        <p:nvSpPr>
          <p:cNvPr id="10" name="Shape 8"/>
          <p:cNvSpPr/>
          <p:nvPr/>
        </p:nvSpPr>
        <p:spPr>
          <a:xfrm>
            <a:off x="4626864" y="1051560"/>
            <a:ext cx="1993392" cy="1143000"/>
          </a:xfrm>
          <a:prstGeom prst="rect">
            <a:avLst/>
          </a:prstGeom>
          <a:solidFill>
            <a:srgbClr val="1A2B5E"/>
          </a:solidFill>
          <a:ln w="12700">
            <a:solidFill>
              <a:srgbClr val="1A2B5E"/>
            </a:solidFill>
            <a:prstDash val="solid"/>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4626864" y="1097280"/>
            <a:ext cx="1993392" cy="658368"/>
          </a:xfrm>
          <a:prstGeom prst="rect">
            <a:avLst/>
          </a:prstGeom>
          <a:noFill/>
          <a:ln/>
        </p:spPr>
        <p:txBody>
          <a:bodyPr wrap="square" rtlCol="0" anchor="ctr"/>
          <a:lstStyle/>
          <a:p>
            <a:pPr marL="0" indent="0" algn="ctr">
              <a:buNone/>
            </a:pPr>
            <a:r>
              <a:rPr lang="en-US" sz="3400" b="1" dirty="0">
                <a:solidFill>
                  <a:srgbClr val="C8A84B"/>
                </a:solidFill>
                <a:latin typeface="Georgia" pitchFamily="34" charset="0"/>
                <a:ea typeface="Georgia" pitchFamily="34" charset="-122"/>
                <a:cs typeface="Georgia" pitchFamily="34" charset="-120"/>
              </a:rPr>
              <a:t>19</a:t>
            </a:r>
            <a:endParaRPr lang="en-US" sz="3400" dirty="0"/>
          </a:p>
        </p:txBody>
      </p:sp>
      <p:sp>
        <p:nvSpPr>
          <p:cNvPr id="12" name="Text 10"/>
          <p:cNvSpPr/>
          <p:nvPr/>
        </p:nvSpPr>
        <p:spPr>
          <a:xfrm>
            <a:off x="4626864" y="1737360"/>
            <a:ext cx="1993392" cy="384048"/>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Eurozone countries</a:t>
            </a:r>
            <a:endParaRPr lang="en-US" sz="1050" dirty="0"/>
          </a:p>
        </p:txBody>
      </p:sp>
      <p:sp>
        <p:nvSpPr>
          <p:cNvPr id="13" name="Shape 11"/>
          <p:cNvSpPr/>
          <p:nvPr/>
        </p:nvSpPr>
        <p:spPr>
          <a:xfrm>
            <a:off x="6803136" y="1051560"/>
            <a:ext cx="1993392" cy="1143000"/>
          </a:xfrm>
          <a:prstGeom prst="rect">
            <a:avLst/>
          </a:prstGeom>
          <a:solidFill>
            <a:srgbClr val="C8A84B"/>
          </a:solidFill>
          <a:ln w="12700">
            <a:solidFill>
              <a:srgbClr val="C8A84B"/>
            </a:solidFill>
            <a:prstDash val="solid"/>
          </a:ln>
          <a:effectLst>
            <a:outerShdw blurRad="76200" dist="25400" dir="8100000" algn="bl" rotWithShape="0">
              <a:srgbClr val="000000">
                <a:alpha val="12000"/>
              </a:srgbClr>
            </a:outerShdw>
          </a:effectLst>
        </p:spPr>
        <p:txBody>
          <a:bodyPr/>
          <a:lstStyle/>
          <a:p>
            <a:endParaRPr lang="en-US"/>
          </a:p>
        </p:txBody>
      </p:sp>
      <p:sp>
        <p:nvSpPr>
          <p:cNvPr id="14" name="Text 12"/>
          <p:cNvSpPr/>
          <p:nvPr/>
        </p:nvSpPr>
        <p:spPr>
          <a:xfrm>
            <a:off x="6803136" y="1097280"/>
            <a:ext cx="1993392" cy="658368"/>
          </a:xfrm>
          <a:prstGeom prst="rect">
            <a:avLst/>
          </a:prstGeom>
          <a:noFill/>
          <a:ln/>
        </p:spPr>
        <p:txBody>
          <a:bodyPr wrap="square" rtlCol="0" anchor="ctr"/>
          <a:lstStyle/>
          <a:p>
            <a:pPr marL="0" indent="0" algn="ctr">
              <a:buNone/>
            </a:pPr>
            <a:r>
              <a:rPr lang="en-US" sz="3400" b="1" dirty="0">
                <a:solidFill>
                  <a:srgbClr val="1A2B5E"/>
                </a:solidFill>
                <a:latin typeface="Georgia" pitchFamily="34" charset="0"/>
                <a:ea typeface="Georgia" pitchFamily="34" charset="-122"/>
                <a:cs typeface="Georgia" pitchFamily="34" charset="-120"/>
              </a:rPr>
              <a:t>8 yrs</a:t>
            </a:r>
            <a:endParaRPr lang="en-US" sz="3400" dirty="0"/>
          </a:p>
        </p:txBody>
      </p:sp>
      <p:sp>
        <p:nvSpPr>
          <p:cNvPr id="15" name="Text 13"/>
          <p:cNvSpPr/>
          <p:nvPr/>
        </p:nvSpPr>
        <p:spPr>
          <a:xfrm>
            <a:off x="6803136" y="1737360"/>
            <a:ext cx="1993392" cy="384048"/>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Executive Board term (non-renewable)</a:t>
            </a:r>
            <a:endParaRPr lang="en-US" sz="1050" dirty="0"/>
          </a:p>
        </p:txBody>
      </p:sp>
      <p:sp>
        <p:nvSpPr>
          <p:cNvPr id="16" name="Shape 14"/>
          <p:cNvSpPr/>
          <p:nvPr/>
        </p:nvSpPr>
        <p:spPr>
          <a:xfrm>
            <a:off x="274320" y="2377440"/>
            <a:ext cx="2834640" cy="242316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5"/>
          <p:cNvSpPr/>
          <p:nvPr/>
        </p:nvSpPr>
        <p:spPr>
          <a:xfrm>
            <a:off x="274320" y="2377440"/>
            <a:ext cx="2834640" cy="347472"/>
          </a:xfrm>
          <a:prstGeom prst="rect">
            <a:avLst/>
          </a:prstGeom>
          <a:solidFill>
            <a:srgbClr val="1A2B5E"/>
          </a:solidFill>
          <a:ln w="12700">
            <a:solidFill>
              <a:srgbClr val="1A2B5E"/>
            </a:solidFill>
            <a:prstDash val="solid"/>
          </a:ln>
        </p:spPr>
        <p:txBody>
          <a:bodyPr/>
          <a:lstStyle/>
          <a:p>
            <a:endParaRPr lang="en-US"/>
          </a:p>
        </p:txBody>
      </p:sp>
      <p:sp>
        <p:nvSpPr>
          <p:cNvPr id="18" name="Text 16"/>
          <p:cNvSpPr/>
          <p:nvPr/>
        </p:nvSpPr>
        <p:spPr>
          <a:xfrm>
            <a:off x="365760" y="2404872"/>
            <a:ext cx="265176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Governing Council</a:t>
            </a:r>
            <a:endParaRPr lang="en-US" sz="1200" dirty="0"/>
          </a:p>
        </p:txBody>
      </p:sp>
      <p:sp>
        <p:nvSpPr>
          <p:cNvPr id="19" name="Text 17"/>
          <p:cNvSpPr/>
          <p:nvPr/>
        </p:nvSpPr>
        <p:spPr>
          <a:xfrm>
            <a:off x="384048" y="2779776"/>
            <a:ext cx="2615184" cy="194767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19 central bank governors (one per eurozone country) + Executive Board. Meets twice monthly. Makes monetary policy decisions.</a:t>
            </a:r>
            <a:endParaRPr lang="en-US" sz="1200" dirty="0"/>
          </a:p>
        </p:txBody>
      </p:sp>
      <p:sp>
        <p:nvSpPr>
          <p:cNvPr id="20" name="Shape 18"/>
          <p:cNvSpPr/>
          <p:nvPr/>
        </p:nvSpPr>
        <p:spPr>
          <a:xfrm>
            <a:off x="3227832" y="2377440"/>
            <a:ext cx="2834640" cy="242316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9"/>
          <p:cNvSpPr/>
          <p:nvPr/>
        </p:nvSpPr>
        <p:spPr>
          <a:xfrm>
            <a:off x="3227832" y="2377440"/>
            <a:ext cx="2834640" cy="347472"/>
          </a:xfrm>
          <a:prstGeom prst="rect">
            <a:avLst/>
          </a:prstGeom>
          <a:solidFill>
            <a:srgbClr val="C8A84B"/>
          </a:solidFill>
          <a:ln w="12700">
            <a:solidFill>
              <a:srgbClr val="C8A84B"/>
            </a:solidFill>
            <a:prstDash val="solid"/>
          </a:ln>
        </p:spPr>
        <p:txBody>
          <a:bodyPr/>
          <a:lstStyle/>
          <a:p>
            <a:endParaRPr lang="en-US"/>
          </a:p>
        </p:txBody>
      </p:sp>
      <p:sp>
        <p:nvSpPr>
          <p:cNvPr id="22" name="Text 20"/>
          <p:cNvSpPr/>
          <p:nvPr/>
        </p:nvSpPr>
        <p:spPr>
          <a:xfrm>
            <a:off x="3319272" y="2404872"/>
            <a:ext cx="2651760" cy="301752"/>
          </a:xfrm>
          <a:prstGeom prst="rect">
            <a:avLst/>
          </a:prstGeom>
          <a:noFill/>
          <a:ln/>
        </p:spPr>
        <p:txBody>
          <a:bodyPr wrap="square" rtlCol="0" anchor="ctr"/>
          <a:lstStyle/>
          <a:p>
            <a:pPr marL="0" indent="0" algn="l">
              <a:buNone/>
            </a:pPr>
            <a:r>
              <a:rPr lang="en-US" sz="1200" b="1" dirty="0">
                <a:solidFill>
                  <a:srgbClr val="1A2B5E"/>
                </a:solidFill>
                <a:latin typeface="Calibri" pitchFamily="34" charset="0"/>
                <a:ea typeface="Calibri" pitchFamily="34" charset="-122"/>
                <a:cs typeface="Calibri" pitchFamily="34" charset="-120"/>
              </a:rPr>
              <a:t>Executive Board</a:t>
            </a:r>
            <a:endParaRPr lang="en-US" sz="1200" dirty="0"/>
          </a:p>
        </p:txBody>
      </p:sp>
      <p:sp>
        <p:nvSpPr>
          <p:cNvPr id="23" name="Text 21"/>
          <p:cNvSpPr/>
          <p:nvPr/>
        </p:nvSpPr>
        <p:spPr>
          <a:xfrm>
            <a:off x="3337560" y="2779776"/>
            <a:ext cx="2615184" cy="194767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President + VP + 4 members. Appointed by member governments for non-renewable 8-year terms. Runs day-to-day bank operations.</a:t>
            </a:r>
            <a:endParaRPr lang="en-US" sz="1200" dirty="0"/>
          </a:p>
        </p:txBody>
      </p:sp>
      <p:sp>
        <p:nvSpPr>
          <p:cNvPr id="24" name="Shape 22"/>
          <p:cNvSpPr/>
          <p:nvPr/>
        </p:nvSpPr>
        <p:spPr>
          <a:xfrm>
            <a:off x="6181344" y="2377440"/>
            <a:ext cx="2834640" cy="242316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23"/>
          <p:cNvSpPr/>
          <p:nvPr/>
        </p:nvSpPr>
        <p:spPr>
          <a:xfrm>
            <a:off x="6181344" y="2377440"/>
            <a:ext cx="2834640" cy="347472"/>
          </a:xfrm>
          <a:prstGeom prst="rect">
            <a:avLst/>
          </a:prstGeom>
          <a:solidFill>
            <a:srgbClr val="1A2B5E"/>
          </a:solidFill>
          <a:ln w="12700">
            <a:solidFill>
              <a:srgbClr val="1A2B5E"/>
            </a:solidFill>
            <a:prstDash val="solid"/>
          </a:ln>
        </p:spPr>
        <p:txBody>
          <a:bodyPr/>
          <a:lstStyle/>
          <a:p>
            <a:endParaRPr lang="en-US"/>
          </a:p>
        </p:txBody>
      </p:sp>
      <p:sp>
        <p:nvSpPr>
          <p:cNvPr id="26" name="Text 24"/>
          <p:cNvSpPr/>
          <p:nvPr/>
        </p:nvSpPr>
        <p:spPr>
          <a:xfrm>
            <a:off x="6272784" y="2404872"/>
            <a:ext cx="265176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General Council</a:t>
            </a:r>
            <a:endParaRPr lang="en-US" sz="1200" dirty="0"/>
          </a:p>
        </p:txBody>
      </p:sp>
      <p:sp>
        <p:nvSpPr>
          <p:cNvPr id="27" name="Text 25"/>
          <p:cNvSpPr/>
          <p:nvPr/>
        </p:nvSpPr>
        <p:spPr>
          <a:xfrm>
            <a:off x="6291072" y="2779776"/>
            <a:ext cx="2615184" cy="194767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All EU member state central bank governors (incl. non-euro). Dissolved if/when all EU states adopt the euro.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45720"/>
            <a:ext cx="8412480" cy="502920"/>
          </a:xfrm>
          <a:prstGeom prst="rect">
            <a:avLst/>
          </a:prstGeom>
          <a:noFill/>
          <a:ln/>
        </p:spPr>
        <p:txBody>
          <a:bodyPr wrap="square"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THE ECB — FROM SINGLE MANDATE TO 'WHATEVER IT TAKES'</a:t>
            </a:r>
            <a:endParaRPr lang="en-US" sz="2200" dirty="0"/>
          </a:p>
        </p:txBody>
      </p:sp>
      <p:sp>
        <p:nvSpPr>
          <p:cNvPr id="5" name="Shape 3"/>
          <p:cNvSpPr/>
          <p:nvPr/>
        </p:nvSpPr>
        <p:spPr>
          <a:xfrm>
            <a:off x="274320" y="1051560"/>
            <a:ext cx="4160520" cy="374904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274320" y="1051560"/>
            <a:ext cx="4160520" cy="347472"/>
          </a:xfrm>
          <a:prstGeom prst="rect">
            <a:avLst/>
          </a:prstGeom>
          <a:solidFill>
            <a:srgbClr val="1A2B5E"/>
          </a:solidFill>
          <a:ln w="12700">
            <a:solidFill>
              <a:srgbClr val="1A2B5E"/>
            </a:solidFill>
            <a:prstDash val="solid"/>
          </a:ln>
        </p:spPr>
        <p:txBody>
          <a:bodyPr/>
          <a:lstStyle/>
          <a:p>
            <a:endParaRPr lang="en-US"/>
          </a:p>
        </p:txBody>
      </p:sp>
      <p:sp>
        <p:nvSpPr>
          <p:cNvPr id="7" name="Text 5"/>
          <p:cNvSpPr/>
          <p:nvPr/>
        </p:nvSpPr>
        <p:spPr>
          <a:xfrm>
            <a:off x="365760" y="1078992"/>
            <a:ext cx="397764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The Original Single Mandate</a:t>
            </a:r>
            <a:endParaRPr lang="en-US" sz="1200" dirty="0"/>
          </a:p>
        </p:txBody>
      </p:sp>
      <p:sp>
        <p:nvSpPr>
          <p:cNvPr id="8" name="Text 6"/>
          <p:cNvSpPr/>
          <p:nvPr/>
        </p:nvSpPr>
        <p:spPr>
          <a:xfrm>
            <a:off x="384048" y="1453896"/>
            <a:ext cx="3941064" cy="327355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The ECB was built on ONE job: price stability (controlling inflation). This was modeled on Germany's Bundesbank — the most independent and respected central bank in Europe.</a:t>
            </a:r>
            <a:endParaRPr lang="en-US" sz="1200" dirty="0"/>
          </a:p>
          <a:p>
            <a:pPr marL="0" indent="0">
              <a:buNone/>
            </a:pP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Germany insisted HQ be in Frankfurt because France had a tradition of political interference in monetary policy. The German model was exported across the eurozone.</a:t>
            </a:r>
            <a:endParaRPr lang="en-US" sz="1200" dirty="0"/>
          </a:p>
          <a:p>
            <a:pPr marL="0" indent="0">
              <a:buNone/>
            </a:pP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The ECB had much less power than the US Federal Reserve — it couldn't bail out governments, regulate banks, or stimulate the economy.</a:t>
            </a:r>
            <a:endParaRPr lang="en-US" sz="1200" dirty="0"/>
          </a:p>
        </p:txBody>
      </p:sp>
      <p:sp>
        <p:nvSpPr>
          <p:cNvPr id="9" name="Shape 7"/>
          <p:cNvSpPr/>
          <p:nvPr/>
        </p:nvSpPr>
        <p:spPr>
          <a:xfrm>
            <a:off x="4663440" y="1051560"/>
            <a:ext cx="4160520" cy="374904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4663440" y="1051560"/>
            <a:ext cx="4160520" cy="347472"/>
          </a:xfrm>
          <a:prstGeom prst="rect">
            <a:avLst/>
          </a:prstGeom>
          <a:solidFill>
            <a:srgbClr val="C8A84B"/>
          </a:solidFill>
          <a:ln w="12700">
            <a:solidFill>
              <a:srgbClr val="C8A84B"/>
            </a:solidFill>
            <a:prstDash val="solid"/>
          </a:ln>
        </p:spPr>
        <p:txBody>
          <a:bodyPr/>
          <a:lstStyle/>
          <a:p>
            <a:endParaRPr lang="en-US"/>
          </a:p>
        </p:txBody>
      </p:sp>
      <p:sp>
        <p:nvSpPr>
          <p:cNvPr id="11" name="Text 9"/>
          <p:cNvSpPr/>
          <p:nvPr/>
        </p:nvSpPr>
        <p:spPr>
          <a:xfrm>
            <a:off x="4754880" y="1078992"/>
            <a:ext cx="3977640" cy="301752"/>
          </a:xfrm>
          <a:prstGeom prst="rect">
            <a:avLst/>
          </a:prstGeom>
          <a:noFill/>
          <a:ln/>
        </p:spPr>
        <p:txBody>
          <a:bodyPr wrap="square" rtlCol="0" anchor="ctr"/>
          <a:lstStyle/>
          <a:p>
            <a:pPr marL="0" indent="0" algn="l">
              <a:buNone/>
            </a:pPr>
            <a:r>
              <a:rPr lang="en-US" sz="1200" b="1" dirty="0">
                <a:solidFill>
                  <a:srgbClr val="1A2B5E"/>
                </a:solidFill>
                <a:latin typeface="Calibri" pitchFamily="34" charset="0"/>
                <a:ea typeface="Calibri" pitchFamily="34" charset="-122"/>
                <a:cs typeface="Calibri" pitchFamily="34" charset="-120"/>
              </a:rPr>
              <a:t>Post-Crisis Expansion (2012–2015)</a:t>
            </a:r>
            <a:endParaRPr lang="en-US" sz="1200" dirty="0"/>
          </a:p>
        </p:txBody>
      </p:sp>
      <p:sp>
        <p:nvSpPr>
          <p:cNvPr id="12" name="Text 10"/>
          <p:cNvSpPr/>
          <p:nvPr/>
        </p:nvSpPr>
        <p:spPr>
          <a:xfrm>
            <a:off x="4773168" y="1453896"/>
            <a:ext cx="3941064" cy="327355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The eurozone debt crisis changed everything:</a:t>
            </a:r>
            <a:endParaRPr lang="en-US" sz="1200" dirty="0"/>
          </a:p>
          <a:p>
            <a:pPr marL="0" indent="0">
              <a:buNone/>
            </a:pP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 2012: Mario Draghi's vow to do 'whatever it takes' to save the euro — stopped the crisis.</a:t>
            </a: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 2012: New Single Supervisory Mechanism (SSM) — ECB now supervises all eurozone banks.</a:t>
            </a: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 2015: Quantitative Easing — ECB purchases government debt to stimulate economy (like the US Fed).</a:t>
            </a:r>
            <a:endParaRPr lang="en-US" sz="1200" dirty="0"/>
          </a:p>
          <a:p>
            <a:pPr marL="0" indent="0">
              <a:buNone/>
            </a:pPr>
            <a:endParaRPr lang="en-US" sz="1200" dirty="0"/>
          </a:p>
          <a:p>
            <a:pPr marL="0" indent="0">
              <a:buNone/>
            </a:pPr>
            <a:r>
              <a:rPr lang="en-US" sz="1200" dirty="0">
                <a:solidFill>
                  <a:srgbClr val="1A2040"/>
                </a:solidFill>
                <a:latin typeface="Calibri" pitchFamily="34" charset="0"/>
                <a:ea typeface="Calibri" pitchFamily="34" charset="-122"/>
                <a:cs typeface="Calibri" pitchFamily="34" charset="-120"/>
              </a:rPr>
              <a:t>OECD chief economist Catherine Mann declared: 'The single mandate is dead.' The ECB now resembles the Fed.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164592"/>
            <a:ext cx="8412480" cy="685800"/>
          </a:xfrm>
          <a:prstGeom prst="rect">
            <a:avLst/>
          </a:prstGeom>
          <a:noFill/>
          <a:ln/>
        </p:spPr>
        <p:txBody>
          <a:bodyPr wrap="square"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EUROPOL, EUROJUST &amp; THE EUROPEAN INVESTMENT BANK</a:t>
            </a:r>
            <a:endParaRPr lang="en-US" sz="2600" dirty="0"/>
          </a:p>
        </p:txBody>
      </p:sp>
      <p:sp>
        <p:nvSpPr>
          <p:cNvPr id="4" name="Shape 2"/>
          <p:cNvSpPr/>
          <p:nvPr/>
        </p:nvSpPr>
        <p:spPr>
          <a:xfrm>
            <a:off x="274320" y="1051560"/>
            <a:ext cx="4160520" cy="192024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274320" y="1051560"/>
            <a:ext cx="4160520" cy="347472"/>
          </a:xfrm>
          <a:prstGeom prst="rect">
            <a:avLst/>
          </a:prstGeom>
          <a:solidFill>
            <a:srgbClr val="1A2B5E"/>
          </a:solidFill>
          <a:ln w="12700">
            <a:solidFill>
              <a:srgbClr val="1A2B5E"/>
            </a:solidFill>
            <a:prstDash val="solid"/>
          </a:ln>
        </p:spPr>
        <p:txBody>
          <a:bodyPr/>
          <a:lstStyle/>
          <a:p>
            <a:endParaRPr lang="en-US"/>
          </a:p>
        </p:txBody>
      </p:sp>
      <p:sp>
        <p:nvSpPr>
          <p:cNvPr id="6" name="Text 4"/>
          <p:cNvSpPr/>
          <p:nvPr/>
        </p:nvSpPr>
        <p:spPr>
          <a:xfrm>
            <a:off x="365760" y="1078992"/>
            <a:ext cx="397764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Europol — Criminal Intelligence</a:t>
            </a:r>
            <a:endParaRPr lang="en-US" sz="1200" dirty="0"/>
          </a:p>
        </p:txBody>
      </p:sp>
      <p:sp>
        <p:nvSpPr>
          <p:cNvPr id="7" name="Text 5"/>
          <p:cNvSpPr/>
          <p:nvPr/>
        </p:nvSpPr>
        <p:spPr>
          <a:xfrm>
            <a:off x="384048" y="1453896"/>
            <a:ext cx="3941064" cy="144475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Based in The Hague. NOT a police force like the FBI — it's intelligence-sharing, like Interpol. Coordinates national police forces on: terrorism, drug trafficking, vehicle smuggling, money laundering, illegal nuclear trafficking. Became fully operational July 1999.</a:t>
            </a:r>
            <a:endParaRPr lang="en-US" sz="1200" dirty="0"/>
          </a:p>
        </p:txBody>
      </p:sp>
      <p:sp>
        <p:nvSpPr>
          <p:cNvPr id="8" name="Shape 6"/>
          <p:cNvSpPr/>
          <p:nvPr/>
        </p:nvSpPr>
        <p:spPr>
          <a:xfrm>
            <a:off x="4663440" y="1051560"/>
            <a:ext cx="4160520" cy="192024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4663440" y="1051560"/>
            <a:ext cx="4160520" cy="347472"/>
          </a:xfrm>
          <a:prstGeom prst="rect">
            <a:avLst/>
          </a:prstGeom>
          <a:solidFill>
            <a:srgbClr val="C8A84B"/>
          </a:solidFill>
          <a:ln w="12700">
            <a:solidFill>
              <a:srgbClr val="C8A84B"/>
            </a:solidFill>
            <a:prstDash val="solid"/>
          </a:ln>
        </p:spPr>
        <p:txBody>
          <a:bodyPr/>
          <a:lstStyle/>
          <a:p>
            <a:endParaRPr lang="en-US"/>
          </a:p>
        </p:txBody>
      </p:sp>
      <p:sp>
        <p:nvSpPr>
          <p:cNvPr id="10" name="Text 8"/>
          <p:cNvSpPr/>
          <p:nvPr/>
        </p:nvSpPr>
        <p:spPr>
          <a:xfrm>
            <a:off x="4754880" y="1078992"/>
            <a:ext cx="3977640" cy="301752"/>
          </a:xfrm>
          <a:prstGeom prst="rect">
            <a:avLst/>
          </a:prstGeom>
          <a:noFill/>
          <a:ln/>
        </p:spPr>
        <p:txBody>
          <a:bodyPr wrap="square" rtlCol="0" anchor="ctr"/>
          <a:lstStyle/>
          <a:p>
            <a:pPr marL="0" indent="0" algn="l">
              <a:buNone/>
            </a:pPr>
            <a:r>
              <a:rPr lang="en-US" sz="1200" b="1" dirty="0">
                <a:solidFill>
                  <a:srgbClr val="1A2B5E"/>
                </a:solidFill>
                <a:latin typeface="Calibri" pitchFamily="34" charset="0"/>
                <a:ea typeface="Calibri" pitchFamily="34" charset="-122"/>
                <a:cs typeface="Calibri" pitchFamily="34" charset="-120"/>
              </a:rPr>
              <a:t>Eurojust — Judicial Coordination</a:t>
            </a:r>
            <a:endParaRPr lang="en-US" sz="1200" dirty="0"/>
          </a:p>
        </p:txBody>
      </p:sp>
      <p:sp>
        <p:nvSpPr>
          <p:cNvPr id="11" name="Text 9"/>
          <p:cNvSpPr/>
          <p:nvPr/>
        </p:nvSpPr>
        <p:spPr>
          <a:xfrm>
            <a:off x="4773168" y="1453896"/>
            <a:ext cx="3941064" cy="144475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Also in The Hague. Est. 2002. Coordinates cross-border criminal prosecutions. Can request investigations be opened in member states. 28 members — prosecutors, police, judges. Works alongside Europol.</a:t>
            </a:r>
            <a:endParaRPr lang="en-US" sz="1200" dirty="0"/>
          </a:p>
        </p:txBody>
      </p:sp>
      <p:sp>
        <p:nvSpPr>
          <p:cNvPr id="12" name="Shape 10"/>
          <p:cNvSpPr/>
          <p:nvPr/>
        </p:nvSpPr>
        <p:spPr>
          <a:xfrm>
            <a:off x="274320" y="3154680"/>
            <a:ext cx="8595360" cy="164592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274320" y="3154680"/>
            <a:ext cx="8595360" cy="347472"/>
          </a:xfrm>
          <a:prstGeom prst="rect">
            <a:avLst/>
          </a:prstGeom>
          <a:solidFill>
            <a:srgbClr val="2E4080"/>
          </a:solidFill>
          <a:ln w="12700">
            <a:solidFill>
              <a:srgbClr val="2E4080"/>
            </a:solidFill>
            <a:prstDash val="solid"/>
          </a:ln>
        </p:spPr>
        <p:txBody>
          <a:bodyPr/>
          <a:lstStyle/>
          <a:p>
            <a:endParaRPr lang="en-US"/>
          </a:p>
        </p:txBody>
      </p:sp>
      <p:sp>
        <p:nvSpPr>
          <p:cNvPr id="14" name="Text 12"/>
          <p:cNvSpPr/>
          <p:nvPr/>
        </p:nvSpPr>
        <p:spPr>
          <a:xfrm>
            <a:off x="365760" y="3182112"/>
            <a:ext cx="841248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European Investment Bank (EIB) — Est. 1958 | Based in Luxembourg</a:t>
            </a:r>
            <a:endParaRPr lang="en-US" sz="1200" dirty="0"/>
          </a:p>
        </p:txBody>
      </p:sp>
      <p:sp>
        <p:nvSpPr>
          <p:cNvPr id="15" name="Text 13"/>
          <p:cNvSpPr/>
          <p:nvPr/>
        </p:nvSpPr>
        <p:spPr>
          <a:xfrm>
            <a:off x="384048" y="3557016"/>
            <a:ext cx="8375904" cy="117043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The EU's financing arm for large capital projects. Must prioritize poorer EU regions. Financed: Channel Tunnel, Airbus, France's high-speed rail (TGV), Eastern European infrastructure, and development projects in Africa. Funded by capital markets + member state subscriptions. Only makes large loans, max 50% of a project's cost.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B5E"/>
          </a:solidFill>
          <a:ln w="12700">
            <a:solidFill>
              <a:srgbClr val="1A2B5E"/>
            </a:solidFill>
            <a:prstDash val="solid"/>
          </a:ln>
        </p:spPr>
        <p:txBody>
          <a:bodyPr/>
          <a:lstStyle/>
          <a:p>
            <a:endParaRPr lang="en-US"/>
          </a:p>
        </p:txBody>
      </p:sp>
      <p:sp>
        <p:nvSpPr>
          <p:cNvPr id="3" name="Text 1"/>
          <p:cNvSpPr/>
          <p:nvPr/>
        </p:nvSpPr>
        <p:spPr>
          <a:xfrm>
            <a:off x="365760" y="164592"/>
            <a:ext cx="8412480" cy="685800"/>
          </a:xfrm>
          <a:prstGeom prst="rect">
            <a:avLst/>
          </a:prstGeom>
          <a:noFill/>
          <a:ln/>
        </p:spPr>
        <p:txBody>
          <a:bodyPr wrap="square"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COURT OF AUDITORS, EESC &amp; COMMITTEE OF THE REGIONS</a:t>
            </a:r>
            <a:endParaRPr lang="en-US" sz="2600" dirty="0"/>
          </a:p>
        </p:txBody>
      </p:sp>
      <p:sp>
        <p:nvSpPr>
          <p:cNvPr id="4" name="Shape 2"/>
          <p:cNvSpPr/>
          <p:nvPr/>
        </p:nvSpPr>
        <p:spPr>
          <a:xfrm>
            <a:off x="274320" y="1051560"/>
            <a:ext cx="8595360" cy="150876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274320" y="1051560"/>
            <a:ext cx="8595360" cy="347472"/>
          </a:xfrm>
          <a:prstGeom prst="rect">
            <a:avLst/>
          </a:prstGeom>
          <a:solidFill>
            <a:srgbClr val="1A2B5E"/>
          </a:solidFill>
          <a:ln w="12700">
            <a:solidFill>
              <a:srgbClr val="1A2B5E"/>
            </a:solidFill>
            <a:prstDash val="solid"/>
          </a:ln>
        </p:spPr>
        <p:txBody>
          <a:bodyPr/>
          <a:lstStyle/>
          <a:p>
            <a:endParaRPr lang="en-US"/>
          </a:p>
        </p:txBody>
      </p:sp>
      <p:sp>
        <p:nvSpPr>
          <p:cNvPr id="6" name="Text 4"/>
          <p:cNvSpPr/>
          <p:nvPr/>
        </p:nvSpPr>
        <p:spPr>
          <a:xfrm>
            <a:off x="365760" y="1078992"/>
            <a:ext cx="841248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European Court of Auditors (ECA) — Est. 1977 | Based in Luxembourg</a:t>
            </a:r>
            <a:endParaRPr lang="en-US" sz="1200" dirty="0"/>
          </a:p>
        </p:txBody>
      </p:sp>
      <p:sp>
        <p:nvSpPr>
          <p:cNvPr id="7" name="Text 5"/>
          <p:cNvSpPr/>
          <p:nvPr/>
        </p:nvSpPr>
        <p:spPr>
          <a:xfrm>
            <a:off x="384048" y="1453896"/>
            <a:ext cx="8375904" cy="103327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The EU's 'financial conscience.' Audits ALL EU institutions annually. Reports to Commission, Council, and Parliament by end of November. Has exposed massive fraud in Common Agricultural Policy funds, excessive commissioner expenses, and poor oversight of structural funds. One auditor per member state, 6-year terms. Parliament uses ECA reports to pressure the Commission.</a:t>
            </a:r>
            <a:endParaRPr lang="en-US" sz="1200" dirty="0"/>
          </a:p>
        </p:txBody>
      </p:sp>
      <p:sp>
        <p:nvSpPr>
          <p:cNvPr id="8" name="Shape 6"/>
          <p:cNvSpPr/>
          <p:nvPr/>
        </p:nvSpPr>
        <p:spPr>
          <a:xfrm>
            <a:off x="274320" y="2743200"/>
            <a:ext cx="4160520" cy="20574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274320" y="2743200"/>
            <a:ext cx="4160520" cy="347472"/>
          </a:xfrm>
          <a:prstGeom prst="rect">
            <a:avLst/>
          </a:prstGeom>
          <a:solidFill>
            <a:srgbClr val="C8A84B"/>
          </a:solidFill>
          <a:ln w="12700">
            <a:solidFill>
              <a:srgbClr val="C8A84B"/>
            </a:solidFill>
            <a:prstDash val="solid"/>
          </a:ln>
        </p:spPr>
        <p:txBody>
          <a:bodyPr/>
          <a:lstStyle/>
          <a:p>
            <a:endParaRPr lang="en-US"/>
          </a:p>
        </p:txBody>
      </p:sp>
      <p:sp>
        <p:nvSpPr>
          <p:cNvPr id="10" name="Text 8"/>
          <p:cNvSpPr/>
          <p:nvPr/>
        </p:nvSpPr>
        <p:spPr>
          <a:xfrm>
            <a:off x="365760" y="2770632"/>
            <a:ext cx="3977640" cy="301752"/>
          </a:xfrm>
          <a:prstGeom prst="rect">
            <a:avLst/>
          </a:prstGeom>
          <a:noFill/>
          <a:ln/>
        </p:spPr>
        <p:txBody>
          <a:bodyPr wrap="square" rtlCol="0" anchor="ctr"/>
          <a:lstStyle/>
          <a:p>
            <a:pPr marL="0" indent="0" algn="l">
              <a:buNone/>
            </a:pPr>
            <a:r>
              <a:rPr lang="en-US" sz="1200" b="1" dirty="0">
                <a:solidFill>
                  <a:srgbClr val="1A2B5E"/>
                </a:solidFill>
                <a:latin typeface="Calibri" pitchFamily="34" charset="0"/>
                <a:ea typeface="Calibri" pitchFamily="34" charset="-122"/>
                <a:cs typeface="Calibri" pitchFamily="34" charset="-120"/>
              </a:rPr>
              <a:t>Economic &amp; Social Committee (EESC)</a:t>
            </a:r>
            <a:endParaRPr lang="en-US" sz="1200" dirty="0"/>
          </a:p>
        </p:txBody>
      </p:sp>
      <p:sp>
        <p:nvSpPr>
          <p:cNvPr id="11" name="Text 9"/>
          <p:cNvSpPr/>
          <p:nvPr/>
        </p:nvSpPr>
        <p:spPr>
          <a:xfrm>
            <a:off x="384048" y="3145536"/>
            <a:ext cx="3941064" cy="15819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353 members from industry, labor unions, and civil society (farmers, consumer groups, professions). Advisory body — the Commission MUST consult it on agriculture, social policy, environment, etc. But no obligation to follow its advice. Members are unpaid part-timers. Influence is questionable as the EP grows stronger.</a:t>
            </a:r>
            <a:endParaRPr lang="en-US" sz="1200" dirty="0"/>
          </a:p>
        </p:txBody>
      </p:sp>
      <p:sp>
        <p:nvSpPr>
          <p:cNvPr id="12" name="Shape 10"/>
          <p:cNvSpPr/>
          <p:nvPr/>
        </p:nvSpPr>
        <p:spPr>
          <a:xfrm>
            <a:off x="4663440" y="2743200"/>
            <a:ext cx="4160520" cy="2057400"/>
          </a:xfrm>
          <a:prstGeom prst="rect">
            <a:avLst/>
          </a:prstGeom>
          <a:solidFill>
            <a:srgbClr val="FFFFFF"/>
          </a:solidFill>
          <a:ln w="12700">
            <a:solidFill>
              <a:srgbClr val="D0D8E8"/>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4663440" y="2743200"/>
            <a:ext cx="4160520" cy="347472"/>
          </a:xfrm>
          <a:prstGeom prst="rect">
            <a:avLst/>
          </a:prstGeom>
          <a:solidFill>
            <a:srgbClr val="2E4080"/>
          </a:solidFill>
          <a:ln w="12700">
            <a:solidFill>
              <a:srgbClr val="2E4080"/>
            </a:solidFill>
            <a:prstDash val="solid"/>
          </a:ln>
        </p:spPr>
        <p:txBody>
          <a:bodyPr/>
          <a:lstStyle/>
          <a:p>
            <a:endParaRPr lang="en-US"/>
          </a:p>
        </p:txBody>
      </p:sp>
      <p:sp>
        <p:nvSpPr>
          <p:cNvPr id="14" name="Text 12"/>
          <p:cNvSpPr/>
          <p:nvPr/>
        </p:nvSpPr>
        <p:spPr>
          <a:xfrm>
            <a:off x="4754880" y="2770632"/>
            <a:ext cx="3977640" cy="301752"/>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Committee of the Regions (CoR) — Est. 1994</a:t>
            </a:r>
            <a:endParaRPr lang="en-US" sz="1200" dirty="0"/>
          </a:p>
        </p:txBody>
      </p:sp>
      <p:sp>
        <p:nvSpPr>
          <p:cNvPr id="15" name="Text 13"/>
          <p:cNvSpPr/>
          <p:nvPr/>
        </p:nvSpPr>
        <p:spPr>
          <a:xfrm>
            <a:off x="4773168" y="3145536"/>
            <a:ext cx="3941064" cy="1581912"/>
          </a:xfrm>
          <a:prstGeom prst="rect">
            <a:avLst/>
          </a:prstGeom>
          <a:noFill/>
          <a:ln/>
        </p:spPr>
        <p:txBody>
          <a:bodyPr wrap="square" rtlCol="0" anchor="t"/>
          <a:lstStyle/>
          <a:p>
            <a:pPr marL="0" indent="0">
              <a:buNone/>
            </a:pPr>
            <a:r>
              <a:rPr lang="en-US" sz="1200" dirty="0">
                <a:solidFill>
                  <a:srgbClr val="1A2040"/>
                </a:solidFill>
                <a:latin typeface="Calibri" pitchFamily="34" charset="0"/>
                <a:ea typeface="Calibri" pitchFamily="34" charset="-122"/>
                <a:cs typeface="Calibri" pitchFamily="34" charset="-120"/>
              </a:rPr>
              <a:t>350 elected local officials — mayors, regional councillors. Must be consulted on: cohesion policy, trans-European networks, public health, education, culture. Same advisory weakness as EESC — opinions are non-binding. Exists to give the grassroots a voice in Brussels. Meets 5× per year.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A84B"/>
          </a:solidFill>
          <a:ln w="12700">
            <a:solidFill>
              <a:srgbClr val="C8A84B"/>
            </a:solidFill>
            <a:prstDash val="solid"/>
          </a:ln>
        </p:spPr>
        <p:txBody>
          <a:bodyPr/>
          <a:lstStyle/>
          <a:p>
            <a:endParaRPr lang="en-US"/>
          </a:p>
        </p:txBody>
      </p:sp>
      <p:sp>
        <p:nvSpPr>
          <p:cNvPr id="3" name="Text 1"/>
          <p:cNvSpPr/>
          <p:nvPr/>
        </p:nvSpPr>
        <p:spPr>
          <a:xfrm>
            <a:off x="457200" y="182880"/>
            <a:ext cx="8229600" cy="384048"/>
          </a:xfrm>
          <a:prstGeom prst="rect">
            <a:avLst/>
          </a:prstGeom>
          <a:noFill/>
          <a:ln/>
        </p:spPr>
        <p:txBody>
          <a:bodyPr wrap="square" rtlCol="0" anchor="ctr"/>
          <a:lstStyle/>
          <a:p>
            <a:pPr marL="0" indent="0">
              <a:buNone/>
            </a:pPr>
            <a:r>
              <a:rPr lang="en-US" sz="1300" b="1" kern="0" spc="400" dirty="0">
                <a:solidFill>
                  <a:srgbClr val="C8A84B"/>
                </a:solidFill>
                <a:latin typeface="Calibri" pitchFamily="34" charset="0"/>
                <a:ea typeface="Calibri" pitchFamily="34" charset="-122"/>
                <a:cs typeface="Calibri" pitchFamily="34" charset="-120"/>
              </a:rPr>
              <a:t>WHAT YOU NEED TO KNOW</a:t>
            </a:r>
            <a:endParaRPr lang="en-US" sz="1300" dirty="0"/>
          </a:p>
        </p:txBody>
      </p:sp>
      <p:sp>
        <p:nvSpPr>
          <p:cNvPr id="4" name="Text 2"/>
          <p:cNvSpPr/>
          <p:nvPr/>
        </p:nvSpPr>
        <p:spPr>
          <a:xfrm>
            <a:off x="457200" y="548640"/>
            <a:ext cx="8229600" cy="59436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Key Points</a:t>
            </a:r>
            <a:endParaRPr lang="en-US" sz="2600" dirty="0"/>
          </a:p>
        </p:txBody>
      </p:sp>
      <p:sp>
        <p:nvSpPr>
          <p:cNvPr id="5" name="Shape 3"/>
          <p:cNvSpPr/>
          <p:nvPr/>
        </p:nvSpPr>
        <p:spPr>
          <a:xfrm>
            <a:off x="365760" y="1280160"/>
            <a:ext cx="4114800" cy="1097280"/>
          </a:xfrm>
          <a:prstGeom prst="rect">
            <a:avLst/>
          </a:prstGeom>
          <a:solidFill>
            <a:srgbClr val="FFFFFF">
              <a:alpha val="12000"/>
            </a:srgbClr>
          </a:solidFill>
          <a:ln w="12700">
            <a:solidFill>
              <a:srgbClr val="C8A84B"/>
            </a:solidFill>
            <a:prstDash val="solid"/>
          </a:ln>
        </p:spPr>
        <p:txBody>
          <a:bodyPr/>
          <a:lstStyle/>
          <a:p>
            <a:endParaRPr lang="en-US"/>
          </a:p>
        </p:txBody>
      </p:sp>
      <p:sp>
        <p:nvSpPr>
          <p:cNvPr id="6" name="Text 4"/>
          <p:cNvSpPr/>
          <p:nvPr/>
        </p:nvSpPr>
        <p:spPr>
          <a:xfrm>
            <a:off x="475488" y="1353312"/>
            <a:ext cx="3886200" cy="347472"/>
          </a:xfrm>
          <a:prstGeom prst="rect">
            <a:avLst/>
          </a:prstGeom>
          <a:noFill/>
          <a:ln/>
        </p:spPr>
        <p:txBody>
          <a:bodyPr wrap="square" rtlCol="0" anchor="ctr"/>
          <a:lstStyle/>
          <a:p>
            <a:pPr marL="0" indent="0">
              <a:buNone/>
            </a:pPr>
            <a:r>
              <a:rPr lang="en-US" sz="1600" b="1" dirty="0">
                <a:solidFill>
                  <a:srgbClr val="C8A84B"/>
                </a:solidFill>
                <a:latin typeface="Georgia" pitchFamily="34" charset="0"/>
                <a:ea typeface="Georgia" pitchFamily="34" charset="-122"/>
                <a:cs typeface="Georgia" pitchFamily="34" charset="-120"/>
              </a:rPr>
              <a:t>01  </a:t>
            </a:r>
            <a:r>
              <a:rPr lang="en-US" sz="1200" b="1" dirty="0">
                <a:solidFill>
                  <a:srgbClr val="FFFFFF"/>
                </a:solidFill>
                <a:latin typeface="Calibri" pitchFamily="34" charset="0"/>
                <a:ea typeface="Calibri" pitchFamily="34" charset="-122"/>
                <a:cs typeface="Calibri" pitchFamily="34" charset="-120"/>
              </a:rPr>
              <a:t>Council ≠ EU Council ≠ Council of Europe</a:t>
            </a:r>
            <a:endParaRPr lang="en-US" sz="1600" dirty="0"/>
          </a:p>
        </p:txBody>
      </p:sp>
      <p:sp>
        <p:nvSpPr>
          <p:cNvPr id="7" name="Text 5"/>
          <p:cNvSpPr/>
          <p:nvPr/>
        </p:nvSpPr>
        <p:spPr>
          <a:xfrm>
            <a:off x="475488" y="1737360"/>
            <a:ext cx="3886200" cy="56692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Don't confuse them! European Council = leader summits. Council of the EU = ministers. Council of Europe = separate non-EU body.</a:t>
            </a:r>
            <a:endParaRPr lang="en-US" sz="1050" dirty="0"/>
          </a:p>
        </p:txBody>
      </p:sp>
      <p:sp>
        <p:nvSpPr>
          <p:cNvPr id="8" name="Shape 6"/>
          <p:cNvSpPr/>
          <p:nvPr/>
        </p:nvSpPr>
        <p:spPr>
          <a:xfrm>
            <a:off x="365760" y="2514600"/>
            <a:ext cx="4114800" cy="1097280"/>
          </a:xfrm>
          <a:prstGeom prst="rect">
            <a:avLst/>
          </a:prstGeom>
          <a:solidFill>
            <a:srgbClr val="FFFFFF">
              <a:alpha val="12000"/>
            </a:srgbClr>
          </a:solidFill>
          <a:ln w="12700">
            <a:solidFill>
              <a:srgbClr val="C8A84B"/>
            </a:solidFill>
            <a:prstDash val="solid"/>
          </a:ln>
        </p:spPr>
        <p:txBody>
          <a:bodyPr/>
          <a:lstStyle/>
          <a:p>
            <a:endParaRPr lang="en-US"/>
          </a:p>
        </p:txBody>
      </p:sp>
      <p:sp>
        <p:nvSpPr>
          <p:cNvPr id="9" name="Text 7"/>
          <p:cNvSpPr/>
          <p:nvPr/>
        </p:nvSpPr>
        <p:spPr>
          <a:xfrm>
            <a:off x="475488" y="2587752"/>
            <a:ext cx="3886200" cy="347472"/>
          </a:xfrm>
          <a:prstGeom prst="rect">
            <a:avLst/>
          </a:prstGeom>
          <a:noFill/>
          <a:ln/>
        </p:spPr>
        <p:txBody>
          <a:bodyPr wrap="square" rtlCol="0" anchor="ctr"/>
          <a:lstStyle/>
          <a:p>
            <a:pPr marL="0" indent="0">
              <a:buNone/>
            </a:pPr>
            <a:r>
              <a:rPr lang="en-US" sz="1600" b="1" dirty="0">
                <a:solidFill>
                  <a:srgbClr val="C8A84B"/>
                </a:solidFill>
                <a:latin typeface="Georgia" pitchFamily="34" charset="0"/>
                <a:ea typeface="Georgia" pitchFamily="34" charset="-122"/>
                <a:cs typeface="Georgia" pitchFamily="34" charset="-120"/>
              </a:rPr>
              <a:t>02  </a:t>
            </a:r>
            <a:r>
              <a:rPr lang="en-US" sz="1200" b="1" dirty="0">
                <a:solidFill>
                  <a:srgbClr val="FFFFFF"/>
                </a:solidFill>
                <a:latin typeface="Calibri" pitchFamily="34" charset="0"/>
                <a:ea typeface="Calibri" pitchFamily="34" charset="-122"/>
                <a:cs typeface="Calibri" pitchFamily="34" charset="-120"/>
              </a:rPr>
              <a:t>ECB's mandate evolved dramatically</a:t>
            </a:r>
            <a:endParaRPr lang="en-US" sz="1600" dirty="0"/>
          </a:p>
        </p:txBody>
      </p:sp>
      <p:sp>
        <p:nvSpPr>
          <p:cNvPr id="10" name="Text 8"/>
          <p:cNvSpPr/>
          <p:nvPr/>
        </p:nvSpPr>
        <p:spPr>
          <a:xfrm>
            <a:off x="475488" y="2971800"/>
            <a:ext cx="3886200" cy="56692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Originally just price stability. Post-2012 crisis: banking supervisor, quantitative easer, market stabilizer. Now like the US Fed.</a:t>
            </a:r>
            <a:endParaRPr lang="en-US" sz="1050" dirty="0"/>
          </a:p>
        </p:txBody>
      </p:sp>
      <p:sp>
        <p:nvSpPr>
          <p:cNvPr id="11" name="Shape 9"/>
          <p:cNvSpPr/>
          <p:nvPr/>
        </p:nvSpPr>
        <p:spPr>
          <a:xfrm>
            <a:off x="365760" y="3749040"/>
            <a:ext cx="4114800" cy="1097280"/>
          </a:xfrm>
          <a:prstGeom prst="rect">
            <a:avLst/>
          </a:prstGeom>
          <a:solidFill>
            <a:srgbClr val="FFFFFF">
              <a:alpha val="12000"/>
            </a:srgbClr>
          </a:solidFill>
          <a:ln w="12700">
            <a:solidFill>
              <a:srgbClr val="C8A84B"/>
            </a:solidFill>
            <a:prstDash val="solid"/>
          </a:ln>
        </p:spPr>
        <p:txBody>
          <a:bodyPr/>
          <a:lstStyle/>
          <a:p>
            <a:endParaRPr lang="en-US"/>
          </a:p>
        </p:txBody>
      </p:sp>
      <p:sp>
        <p:nvSpPr>
          <p:cNvPr id="12" name="Text 10"/>
          <p:cNvSpPr/>
          <p:nvPr/>
        </p:nvSpPr>
        <p:spPr>
          <a:xfrm>
            <a:off x="475488" y="3822192"/>
            <a:ext cx="3886200" cy="347472"/>
          </a:xfrm>
          <a:prstGeom prst="rect">
            <a:avLst/>
          </a:prstGeom>
          <a:noFill/>
          <a:ln/>
        </p:spPr>
        <p:txBody>
          <a:bodyPr wrap="square" rtlCol="0" anchor="ctr"/>
          <a:lstStyle/>
          <a:p>
            <a:pPr marL="0" indent="0">
              <a:buNone/>
            </a:pPr>
            <a:r>
              <a:rPr lang="en-US" sz="1600" b="1" dirty="0">
                <a:solidFill>
                  <a:srgbClr val="C8A84B"/>
                </a:solidFill>
                <a:latin typeface="Georgia" pitchFamily="34" charset="0"/>
                <a:ea typeface="Georgia" pitchFamily="34" charset="-122"/>
                <a:cs typeface="Georgia" pitchFamily="34" charset="-120"/>
              </a:rPr>
              <a:t>03  </a:t>
            </a:r>
            <a:r>
              <a:rPr lang="en-US" sz="1200" b="1" dirty="0">
                <a:solidFill>
                  <a:srgbClr val="FFFFFF"/>
                </a:solidFill>
                <a:latin typeface="Calibri" pitchFamily="34" charset="0"/>
                <a:ea typeface="Calibri" pitchFamily="34" charset="-122"/>
                <a:cs typeface="Calibri" pitchFamily="34" charset="-120"/>
              </a:rPr>
              <a:t>Advisory bodies have structural weakness</a:t>
            </a:r>
            <a:endParaRPr lang="en-US" sz="1600" dirty="0"/>
          </a:p>
        </p:txBody>
      </p:sp>
      <p:sp>
        <p:nvSpPr>
          <p:cNvPr id="13" name="Text 11"/>
          <p:cNvSpPr/>
          <p:nvPr/>
        </p:nvSpPr>
        <p:spPr>
          <a:xfrm>
            <a:off x="475488" y="4206240"/>
            <a:ext cx="3886200" cy="56692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EESC and CoR must be consulted but can be ignored. Their influence is limited and declining as Parliament grows stronger.</a:t>
            </a:r>
            <a:endParaRPr lang="en-US" sz="1050" dirty="0"/>
          </a:p>
        </p:txBody>
      </p:sp>
      <p:sp>
        <p:nvSpPr>
          <p:cNvPr id="14" name="Shape 12"/>
          <p:cNvSpPr/>
          <p:nvPr/>
        </p:nvSpPr>
        <p:spPr>
          <a:xfrm>
            <a:off x="4754880" y="1280160"/>
            <a:ext cx="4114800" cy="1097280"/>
          </a:xfrm>
          <a:prstGeom prst="rect">
            <a:avLst/>
          </a:prstGeom>
          <a:solidFill>
            <a:srgbClr val="FFFFFF">
              <a:alpha val="12000"/>
            </a:srgbClr>
          </a:solidFill>
          <a:ln w="12700">
            <a:solidFill>
              <a:srgbClr val="C8A84B"/>
            </a:solidFill>
            <a:prstDash val="solid"/>
          </a:ln>
        </p:spPr>
        <p:txBody>
          <a:bodyPr/>
          <a:lstStyle/>
          <a:p>
            <a:endParaRPr lang="en-US"/>
          </a:p>
        </p:txBody>
      </p:sp>
      <p:sp>
        <p:nvSpPr>
          <p:cNvPr id="15" name="Text 13"/>
          <p:cNvSpPr/>
          <p:nvPr/>
        </p:nvSpPr>
        <p:spPr>
          <a:xfrm>
            <a:off x="4864608" y="1353312"/>
            <a:ext cx="3886200" cy="347472"/>
          </a:xfrm>
          <a:prstGeom prst="rect">
            <a:avLst/>
          </a:prstGeom>
          <a:noFill/>
          <a:ln/>
        </p:spPr>
        <p:txBody>
          <a:bodyPr wrap="square" rtlCol="0" anchor="ctr"/>
          <a:lstStyle/>
          <a:p>
            <a:pPr marL="0" indent="0">
              <a:buNone/>
            </a:pPr>
            <a:r>
              <a:rPr lang="en-US" sz="1600" b="1" dirty="0">
                <a:solidFill>
                  <a:srgbClr val="C8A84B"/>
                </a:solidFill>
                <a:latin typeface="Georgia" pitchFamily="34" charset="0"/>
                <a:ea typeface="Georgia" pitchFamily="34" charset="-122"/>
                <a:cs typeface="Georgia" pitchFamily="34" charset="-120"/>
              </a:rPr>
              <a:t>04  </a:t>
            </a:r>
            <a:r>
              <a:rPr lang="en-US" sz="1200" b="1" dirty="0">
                <a:solidFill>
                  <a:srgbClr val="FFFFFF"/>
                </a:solidFill>
                <a:latin typeface="Calibri" pitchFamily="34" charset="0"/>
                <a:ea typeface="Calibri" pitchFamily="34" charset="-122"/>
                <a:cs typeface="Calibri" pitchFamily="34" charset="-120"/>
              </a:rPr>
              <a:t>EU is becoming a federal administration</a:t>
            </a:r>
            <a:endParaRPr lang="en-US" sz="1600" dirty="0"/>
          </a:p>
        </p:txBody>
      </p:sp>
      <p:sp>
        <p:nvSpPr>
          <p:cNvPr id="16" name="Text 14"/>
          <p:cNvSpPr/>
          <p:nvPr/>
        </p:nvSpPr>
        <p:spPr>
          <a:xfrm>
            <a:off x="4864608" y="1737360"/>
            <a:ext cx="3886200" cy="56692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The growth of agencies (Europol, EIB, ECB, ECA, CoR, EESC) means the EU increasingly governs across all policy areas like a federal state.</a:t>
            </a:r>
            <a:endParaRPr lang="en-US" sz="1050" dirty="0"/>
          </a:p>
        </p:txBody>
      </p:sp>
      <p:sp>
        <p:nvSpPr>
          <p:cNvPr id="17" name="Shape 15"/>
          <p:cNvSpPr/>
          <p:nvPr/>
        </p:nvSpPr>
        <p:spPr>
          <a:xfrm>
            <a:off x="4754880" y="2514600"/>
            <a:ext cx="4114800" cy="1097280"/>
          </a:xfrm>
          <a:prstGeom prst="rect">
            <a:avLst/>
          </a:prstGeom>
          <a:solidFill>
            <a:srgbClr val="FFFFFF">
              <a:alpha val="12000"/>
            </a:srgbClr>
          </a:solidFill>
          <a:ln w="12700">
            <a:solidFill>
              <a:srgbClr val="C8A84B"/>
            </a:solidFill>
            <a:prstDash val="solid"/>
          </a:ln>
        </p:spPr>
        <p:txBody>
          <a:bodyPr/>
          <a:lstStyle/>
          <a:p>
            <a:endParaRPr lang="en-US"/>
          </a:p>
        </p:txBody>
      </p:sp>
      <p:sp>
        <p:nvSpPr>
          <p:cNvPr id="18" name="Text 16"/>
          <p:cNvSpPr/>
          <p:nvPr/>
        </p:nvSpPr>
        <p:spPr>
          <a:xfrm>
            <a:off x="4864608" y="2587752"/>
            <a:ext cx="3886200" cy="347472"/>
          </a:xfrm>
          <a:prstGeom prst="rect">
            <a:avLst/>
          </a:prstGeom>
          <a:noFill/>
          <a:ln/>
        </p:spPr>
        <p:txBody>
          <a:bodyPr wrap="square" rtlCol="0" anchor="ctr"/>
          <a:lstStyle/>
          <a:p>
            <a:pPr marL="0" indent="0">
              <a:buNone/>
            </a:pPr>
            <a:r>
              <a:rPr lang="en-US" sz="1600" b="1" dirty="0">
                <a:solidFill>
                  <a:srgbClr val="C8A84B"/>
                </a:solidFill>
                <a:latin typeface="Georgia" pitchFamily="34" charset="0"/>
                <a:ea typeface="Georgia" pitchFamily="34" charset="-122"/>
                <a:cs typeface="Georgia" pitchFamily="34" charset="-120"/>
              </a:rPr>
              <a:t>05  </a:t>
            </a:r>
            <a:r>
              <a:rPr lang="en-US" sz="1200" b="1" dirty="0">
                <a:solidFill>
                  <a:srgbClr val="FFFFFF"/>
                </a:solidFill>
                <a:latin typeface="Calibri" pitchFamily="34" charset="0"/>
                <a:ea typeface="Calibri" pitchFamily="34" charset="-122"/>
                <a:cs typeface="Calibri" pitchFamily="34" charset="-120"/>
              </a:rPr>
              <a:t>Franco-German axis drives decisions</a:t>
            </a:r>
            <a:endParaRPr lang="en-US" sz="1600" dirty="0"/>
          </a:p>
        </p:txBody>
      </p:sp>
      <p:sp>
        <p:nvSpPr>
          <p:cNvPr id="19" name="Text 17"/>
          <p:cNvSpPr/>
          <p:nvPr/>
        </p:nvSpPr>
        <p:spPr>
          <a:xfrm>
            <a:off x="4864608" y="2971800"/>
            <a:ext cx="3886200" cy="56692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Personal relationships between French and German leaders (Kohl–Mitterrand, Merkel–Sarkozy/Hollande) have been the engine of European Council consensus.</a:t>
            </a:r>
            <a:endParaRPr lang="en-US" sz="1050" dirty="0"/>
          </a:p>
        </p:txBody>
      </p:sp>
      <p:sp>
        <p:nvSpPr>
          <p:cNvPr id="20" name="Shape 18"/>
          <p:cNvSpPr/>
          <p:nvPr/>
        </p:nvSpPr>
        <p:spPr>
          <a:xfrm>
            <a:off x="4754880" y="3749040"/>
            <a:ext cx="4114800" cy="1097280"/>
          </a:xfrm>
          <a:prstGeom prst="rect">
            <a:avLst/>
          </a:prstGeom>
          <a:solidFill>
            <a:srgbClr val="FFFFFF">
              <a:alpha val="12000"/>
            </a:srgbClr>
          </a:solidFill>
          <a:ln w="12700">
            <a:solidFill>
              <a:srgbClr val="C8A84B"/>
            </a:solidFill>
            <a:prstDash val="solid"/>
          </a:ln>
        </p:spPr>
        <p:txBody>
          <a:bodyPr/>
          <a:lstStyle/>
          <a:p>
            <a:endParaRPr lang="en-US"/>
          </a:p>
        </p:txBody>
      </p:sp>
      <p:sp>
        <p:nvSpPr>
          <p:cNvPr id="21" name="Text 19"/>
          <p:cNvSpPr/>
          <p:nvPr/>
        </p:nvSpPr>
        <p:spPr>
          <a:xfrm>
            <a:off x="4864608" y="3822192"/>
            <a:ext cx="3886200" cy="347472"/>
          </a:xfrm>
          <a:prstGeom prst="rect">
            <a:avLst/>
          </a:prstGeom>
          <a:noFill/>
          <a:ln/>
        </p:spPr>
        <p:txBody>
          <a:bodyPr wrap="square" rtlCol="0" anchor="ctr"/>
          <a:lstStyle/>
          <a:p>
            <a:pPr marL="0" indent="0">
              <a:buNone/>
            </a:pPr>
            <a:r>
              <a:rPr lang="en-US" sz="1600" b="1" dirty="0">
                <a:solidFill>
                  <a:srgbClr val="C8A84B"/>
                </a:solidFill>
                <a:latin typeface="Georgia" pitchFamily="34" charset="0"/>
                <a:ea typeface="Georgia" pitchFamily="34" charset="-122"/>
                <a:cs typeface="Georgia" pitchFamily="34" charset="-120"/>
              </a:rPr>
              <a:t>06  </a:t>
            </a:r>
            <a:r>
              <a:rPr lang="en-US" sz="1200" b="1" dirty="0">
                <a:solidFill>
                  <a:srgbClr val="FFFFFF"/>
                </a:solidFill>
                <a:latin typeface="Calibri" pitchFamily="34" charset="0"/>
                <a:ea typeface="Calibri" pitchFamily="34" charset="-122"/>
                <a:cs typeface="Calibri" pitchFamily="34" charset="-120"/>
              </a:rPr>
              <a:t>Lisbon Treaty (2009) was a turning point</a:t>
            </a:r>
            <a:endParaRPr lang="en-US" sz="1600" dirty="0"/>
          </a:p>
        </p:txBody>
      </p:sp>
      <p:sp>
        <p:nvSpPr>
          <p:cNvPr id="22" name="Text 20"/>
          <p:cNvSpPr/>
          <p:nvPr/>
        </p:nvSpPr>
        <p:spPr>
          <a:xfrm>
            <a:off x="4864608" y="4206240"/>
            <a:ext cx="3886200" cy="566928"/>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Created the permanent EC President role, set 4 annual summits in Brussels, and gave the ECB/Council their current formal structures.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1502</Words>
  <Application>Microsoft Office PowerPoint</Application>
  <PresentationFormat>On-screen Show (16:9)</PresentationFormat>
  <Paragraphs>113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Institutions – Full Chapter 9 Guide</dc:title>
  <dc:subject>PptxGenJS Presentation</dc:subject>
  <dc:creator>PptxGenJS</dc:creator>
  <cp:lastModifiedBy>Jacob Peterson</cp:lastModifiedBy>
  <cp:revision>2</cp:revision>
  <dcterms:created xsi:type="dcterms:W3CDTF">2026-04-06T22:19:35Z</dcterms:created>
  <dcterms:modified xsi:type="dcterms:W3CDTF">2026-04-07T11:07:38Z</dcterms:modified>
</cp:coreProperties>
</file>